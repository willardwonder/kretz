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3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347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leadership team. Set expectations: this is a practical, leadership-level session. The goal is not to make everyone technical. The goal is to understand AI tools, business impact, risks, and how Kretz can make responsible decisions about where AI fits.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original outline is still here, but now it is stronger: more sourced examples, cleaner Kretz-specific prototypes, Custom GPT hands-on tools, and downloadable datasets.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we rebuilt the deck and instructions. The previous deck established the basic leadership framing. This version includes the Custom GPTs, datasets, source links, and cleaned-up prototypes.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Why AI matters now. The opportunity and the responsibility arrive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framing point: leadership cannot wait until everything is mature. The job is to shape AI use before informal shadow use becomes normal.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 session thesis: opportunity and responsibility are not separate phases. They arrive together.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the training to the actual planning conversation: AI governance/policy, office staff needs, land/sales/forestry CRM ideas, manufacturing research, and the tool-builder role.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What AI is and is not. A plain-language mental model for leaders.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jargon. The strongest leadership mental model is: it generates plausible language, not guaranteed truth.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AI does not remove the need for human judgment. It increases the need for human judgment because it produces more output faster.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team not to chase every tool. The question is which category fits the problem and the risk.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Real-world AI warnings. Each source is clickable. Each case points to a governance lesson.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News Break: Air Canada: the chatbot became the company voice. Customer-facing AI gave wrong policy guidance. The company could not treat the chatbot as a separate entity. Lesson: Your AI's words are your words. Customer-facing AI needs testing, limits, and review.. Click source link for story: https://www.americanbar.org/groups/business_law/resources/business-law-today/2024-february/bc-tribunal-confirms-companies-remain-liable-information-provided-ai-chatbot/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News Break: Mata v. Avianca: confident output, fake cases. The AI-generated citations sounded real, but the underlying legal cases did not exist. Lesson: Confident language is not verification. High-risk outputs require source checking.. Click source link for story: https://law.justia.com/cases/federal/district-courts/new-york/nysdce/1%3A2022cv01461/575368/54/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News Break: Samsung: good intentions still leaked data. Employees were trying to work faster, but sensitive source code and internal notes were exposed to outside tools. Lesson: Policy must define what cannot be pasted into public AI tools.. Click source link for story: https://techcrunch.com/2023/05/02/samsung-bans-use-of-generative-ai-tools-like-chatgpt-after-april-internal-data-leak/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News Break: DPD: the public chatbot went off-brand. The chatbot failed in a public customer interaction and created brand damage. Lesson: Public-facing AI needs guardrails, monitoring, and a clear fallback to humans.. Click source link for story: https://www.theguardian.com/technology/2024/jan/20/dpd-ai-chatbot-swears-calls-itself-useless-and-criticises-firm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News Break: CNET: AI content needed corrections. AI-assisted content raised accuracy, transparency, and editorial accountability concerns. Lesson: AI-written content still needs human review, fact-checking, and ownership.. Click source link for story: https://www.wired.com/story/cnet-published-ai-generated-stories-then-its-staff-pushed-back/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News Break: iTutorGroup: automated hiring risk. Automated screening created discrimination risk in employment decisions. Lesson: AI and automation in HR can create legal and ethical exposure.. Click source link for story: https://www.eeoc.gov/newsroom/itutorgroup-pay-365000-settle-eeoc-discriminatory-hiring-suit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News Break: Zillow Offers: prediction failed at scale. A model-driven business process struggled when market conditions and operations proved harder than expected. Lesson: Prediction tools can fail when real-world conditions change.. Click source link for story: https://www.wsj.com/economy/housing/zillow-quits-home-flipping-business-cites-inability-to-forecast-prices-11635883500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News Break: McDonald's: drive-thru automation met real-world messiness. A polished automation concept faced customer-facing accuracy and operational challenges. Lesson: Pilot customer-facing automation carefully and keep humans accountable.. Click source link for story: https://apnews.com/article/bebc898363f2d550e1a0cd3c682fa234</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point. Governance is not bureaucracy. It is the intentional closing of these four gaps.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Kretz prototype demos. Show AI as a workflow layer, not just a chatbot.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progression: one-shot coding is impressive, but interactive refinement and governance produce a better business tool.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1: Claude Parcel Finder Example. If someone asks Claude to create a quick county landowner/parcel identification concept in one shot.. Show the page, then ask what data it depends on, where it could be wrong, who reviews it, and what rule would be needed before routine use.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2: Landowner Prospecting Tool. A more developed tool shaped through conversation, questions, refinements, and business context.. Show the page, then ask what data it depends on, where it could be wrong, who reviews it, and what rule would be needed before routine use.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3: Timber Market Intelligence Calculator. A demo based on Troy's timber market thinking: company knowledge turned into an interactive tool.. Show the page, then ask what data it depends on, where it could be wrong, who reviews it, and what rule would be needed before routine use.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4: Kretz Haul Planner. Operational routing concept for pickups, drop-offs, and logistics planning.. Show the page, then ask what data it depends on, where it could be wrong, who reviews it, and what rule would be needed before routine use.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Hands-on practice. Participants try tools, upload synthetic data, and compare outputs.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them to the dataset ZIP on the landing page. Emphasize that all datasets are synthetic and safe for practice.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Kretz DNA Assistant. Participants with access can try it. If they cannot access it, use regular ChatGPT and paste the short instruction profile. Explain that this is a one-purpose GPT: rewrite outgoing messages, preserve facts, flag review items.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frame why the GPT exists. AI should not make Kretz sound generic.</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design the workshop so success depends on every participant having a paid account. Demo from instructor machine. Participants who can access the GPT can try it. Everyone else can use regular ChatGPT with copied instructions.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hands-on leadership activity. Have participants choose a real problem, then use the guide to decide whether it is a GPT, automation, software configuration, vendor system, process problem, or not AI.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Kretz AI Decision Guide in one frame. It is very important: not every problem should become a GPT. Some should be fixed in the tools they already have.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activity is useful because documentation is a low-risk, high-value AI use case, but final SOPs still require human ownership.</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AI is not the source of truth. It is a way to prepare better questions and organize thinking.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activity ties office staff marketing/outreach needs to brand voice and governance.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Governance and adoption. Turn the lessons into operating rules.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governance as practical leadership: the same kind of expectation-setting Kretz already does around quality and safety.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be practical and direct. The Samsung example makes this memorable: good intentions can still create exposure.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it a simple name so people remember it. AI drafts; Kretz signs off.</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No-fault reporting is important because people will experiment. You want them to surface problems instead of hiding them.</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action slide. It gives them a realistic first 90 days without requiring a perfect AI program.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Closing. What leadership should remember.</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discussion. Ask: what is one opportunity that feels useful, and what is one rule Kretz should set before broader use?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in the deck for credibility. The landing page should also make the newsbreak cards clickable.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group to name one opportunity and one risk/rule. Offer to help Kretz translate the discussion into a one-page AI use policy and pilot plan.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ETZ_MASTER">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sp>
      <p:sp>
        <p:nvSpPr>
          <p:cNvPr id="3" name="Shape 1"/>
          <p:cNvSpPr/>
          <p:nvPr/>
        </p:nvSpPr>
        <p:spPr>
          <a:xfrm>
            <a:off x="0" y="0"/>
            <a:ext cx="12191695" cy="73152"/>
          </a:xfrm>
          <a:prstGeom prst="rect">
            <a:avLst/>
          </a:prstGeom>
          <a:solidFill>
            <a:srgbClr val="D49A3D"/>
          </a:solidFill>
          <a:ln w="12700">
            <a:solidFill>
              <a:srgbClr val="D49A3D"/>
            </a:solidFill>
            <a:prstDash val="solid"/>
          </a:ln>
        </p:spPr>
      </p:sp>
      <p:sp>
        <p:nvSpPr>
          <p:cNvPr id="4" name="Text 2"/>
          <p:cNvSpPr/>
          <p:nvPr/>
        </p:nvSpPr>
        <p:spPr>
          <a:xfrm>
            <a:off x="384048" y="6455664"/>
            <a:ext cx="6126480" cy="228600"/>
          </a:xfrm>
          <a:prstGeom prst="rect">
            <a:avLst/>
          </a:prstGeom>
          <a:noFill/>
          <a:ln/>
        </p:spPr>
        <p:txBody>
          <a:bodyPr wrap="square" lIns="0" tIns="0" rIns="0" bIns="0" rtlCol="0" anchor="ctr"/>
          <a:lstStyle/>
          <a:p>
            <a:pPr marL="0" indent="0">
              <a:buNone/>
            </a:pPr>
            <a:r>
              <a:rPr lang="en-US" sz="800" dirty="0">
                <a:solidFill>
                  <a:srgbClr val="CBBFA8"/>
                </a:solidFill>
                <a:latin typeface="Aptos" pitchFamily="34" charset="0"/>
                <a:ea typeface="Aptos" pitchFamily="34" charset="-122"/>
                <a:cs typeface="Aptos" pitchFamily="34" charset="-120"/>
              </a:rPr>
              <a:t>Kretz AI Leadership and Governance</a:t>
            </a:r>
            <a:endParaRPr lang="en-US" sz="800" dirty="0"/>
          </a:p>
        </p:txBody>
      </p:sp>
      <p:sp>
        <p:nvSpPr>
          <p:cNvPr id="5" name="Text 3"/>
          <p:cNvSpPr/>
          <p:nvPr/>
        </p:nvSpPr>
        <p:spPr>
          <a:xfrm>
            <a:off x="9464040" y="6455664"/>
            <a:ext cx="2286000" cy="228600"/>
          </a:xfrm>
          <a:prstGeom prst="rect">
            <a:avLst/>
          </a:prstGeom>
          <a:noFill/>
          <a:ln/>
        </p:spPr>
        <p:txBody>
          <a:bodyPr wrap="square" lIns="0" tIns="0" rIns="0" bIns="0" rtlCol="0" anchor="ctr"/>
          <a:lstStyle/>
          <a:p>
            <a:pPr marL="0" indent="0" algn="r">
              <a:buNone/>
            </a:pPr>
            <a:r>
              <a:rPr lang="en-US" sz="800" dirty="0">
                <a:solidFill>
                  <a:srgbClr val="CBBFA8"/>
                </a:solidFill>
                <a:latin typeface="Aptos" pitchFamily="34" charset="0"/>
                <a:ea typeface="Aptos" pitchFamily="34" charset="-122"/>
                <a:cs typeface="Aptos" pitchFamily="34" charset="-120"/>
              </a:rPr>
              <a:t>Josh Stutting | NTC</a:t>
            </a:r>
            <a:endParaRPr lang="en-US" sz="800" dirty="0"/>
          </a:p>
        </p:txBody>
      </p:sp>
      <p:sp>
        <p:nvSpPr>
          <p:cNvPr id="25" name="Slide Number Placeholder 0"/>
          <p:cNvSpPr>
            <a:spLocks noGrp="1"/>
          </p:cNvSpPr>
          <p:nvPr>
            <p:ph type="sldNum" sz="quarter" idx="4294967295"/>
          </p:nvPr>
        </p:nvSpPr>
        <p:spPr>
          <a:xfrm>
            <a:off x="11686032"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CBBFA8"/>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CBBFA8"/>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americanbar.org/groups/business_law/resources/business-law-today/2024-february/bc-tribunal-confirms-companies-remain-liable-information-provided-ai-chatbo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law.justia.com/cases/federal/district-courts/new-york/nysdce/1%3A2022cv01461/575368/54/"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techcrunch.com/2023/05/02/samsung-bans-use-of-generative-ai-tools-like-chatgpt-after-april-internal-data-leak/"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theguardian.com/technology/2024/jan/20/dpd-ai-chatbot-swears-calls-itself-useless-and-criticises-firm"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wired.com/story/cnet-published-ai-generated-stories-then-its-staff-pushed-back/"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eeoc.gov/newsroom/itutorgroup-pay-365000-settle-eeoc-discriminatory-hiring-suit"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wsj.com/economy/housing/zillow-quits-home-flipping-business-cites-inability-to-forecast-prices-11635883500"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apnews.com/article/bebc898363f2d550e1a0cd3c682fa234"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Claude_Parcel.html"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hyperlink" Target="https://willardwonder.github.io/kretz/Claude_Parcel.htm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kretz-landowner-prospecting.html"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hyperlink" Target="https://willardwonder.github.io/kretz/kretz-landowner-prospecting.html"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kretz-timber-market-calculator.html"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kretz-haul-planner.html"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hyperlink" Target="https://willardwonder.github.io/kretz/kretz-haul-planner.html"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chatgpt.com/g/g-6a427b6a557c8191ab8ef594a604fa58-kretz-dna-assistant"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help.openai.com/en/articles/8554407-gpts-faq"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hyperlink" Target="https://help.openai.com/en/articles/8554397-creating-a-custom-gpt"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chatgpt.com/g/g-6a427f689a888191b03c01b5608f45ec-kretz-ai-guide"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hyperlink" Target="https://www.eeoc.gov/newsroom/itutorgroup-pay-365000-settle-eeoc-discriminatory-hiring-suit" TargetMode="External"/><Relationship Id="rId3" Type="http://schemas.openxmlformats.org/officeDocument/2006/relationships/hyperlink" Target="https://www.americanbar.org/groups/business_law/resources/business-law-today/2024-february/bc-tribunal-confirms-companies-remain-liable-information-provided-ai-chatbot/" TargetMode="External"/><Relationship Id="rId7" Type="http://schemas.openxmlformats.org/officeDocument/2006/relationships/hyperlink" Target="https://www.wired.com/story/cnet-published-ai-generated-stories-then-its-staff-pushed-back/" TargetMode="External"/><Relationship Id="rId12" Type="http://schemas.openxmlformats.org/officeDocument/2006/relationships/hyperlink" Target="https://help.openai.com/en/articles/8554397-creating-a-custom-gpt" TargetMode="External"/><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hyperlink" Target="https://www.theguardian.com/technology/2024/jan/20/dpd-ai-chatbot-swears-calls-itself-useless-and-criticises-firm" TargetMode="External"/><Relationship Id="rId11" Type="http://schemas.openxmlformats.org/officeDocument/2006/relationships/hyperlink" Target="https://help.openai.com/en/articles/8554407-gpts-faq" TargetMode="External"/><Relationship Id="rId5" Type="http://schemas.openxmlformats.org/officeDocument/2006/relationships/hyperlink" Target="https://techcrunch.com/2023/05/02/samsung-bans-use-of-generative-ai-tools-like-chatgpt-after-april-internal-data-leak/" TargetMode="External"/><Relationship Id="rId10" Type="http://schemas.openxmlformats.org/officeDocument/2006/relationships/hyperlink" Target="https://apnews.com/article/bebc898363f2d550e1a0cd3c682fa234" TargetMode="External"/><Relationship Id="rId4" Type="http://schemas.openxmlformats.org/officeDocument/2006/relationships/hyperlink" Target="https://law.justia.com/cases/federal/district-courts/new-york/nysdce/1%3A2022cv01461/575368/54/" TargetMode="External"/><Relationship Id="rId9" Type="http://schemas.openxmlformats.org/officeDocument/2006/relationships/hyperlink" Target="https://www.wsj.com/economy/housing/zillow-quits-home-flipping-business-cites-inability-to-forecast-prices-11635883500"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4846320" cy="274320"/>
          </a:xfrm>
          <a:prstGeom prst="rect">
            <a:avLst/>
          </a:prstGeom>
          <a:noFill/>
          <a:ln/>
        </p:spPr>
        <p:txBody>
          <a:bodyPr wrap="square" lIns="0" tIns="0" rIns="0" bIns="0" rtlCol="0" anchor="ctr"/>
          <a:lstStyle/>
          <a:p>
            <a:pPr marL="0" indent="0">
              <a:buNone/>
            </a:pPr>
            <a:r>
              <a:rPr lang="en-US" sz="1050" b="1" dirty="0">
                <a:solidFill>
                  <a:srgbClr val="F0D49A"/>
                </a:solidFill>
              </a:rPr>
              <a:t>ARTIFICIAL INTELLIGENCE FOR LEADERSHIP</a:t>
            </a:r>
            <a:endParaRPr lang="en-US" sz="1050" dirty="0"/>
          </a:p>
        </p:txBody>
      </p:sp>
      <p:sp>
        <p:nvSpPr>
          <p:cNvPr id="9" name="Text 7"/>
          <p:cNvSpPr/>
          <p:nvPr/>
        </p:nvSpPr>
        <p:spPr>
          <a:xfrm>
            <a:off x="594360" y="1115568"/>
            <a:ext cx="7315200" cy="685800"/>
          </a:xfrm>
          <a:prstGeom prst="rect">
            <a:avLst/>
          </a:prstGeom>
          <a:noFill/>
          <a:ln/>
        </p:spPr>
        <p:txBody>
          <a:bodyPr wrap="square" lIns="0" tIns="0" rIns="0" bIns="0" rtlCol="0" anchor="ctr">
            <a:normAutofit/>
          </a:bodyPr>
          <a:lstStyle/>
          <a:p>
            <a:pPr marL="0" indent="0">
              <a:buNone/>
            </a:pPr>
            <a:r>
              <a:rPr lang="en-US" sz="4000" b="1" dirty="0">
                <a:solidFill>
                  <a:srgbClr val="FFF7E8"/>
                </a:solidFill>
              </a:rPr>
              <a:t>Kretz AI Readiness</a:t>
            </a:r>
            <a:endParaRPr lang="en-US" sz="4000" dirty="0"/>
          </a:p>
        </p:txBody>
      </p:sp>
      <p:sp>
        <p:nvSpPr>
          <p:cNvPr id="10" name="Text 8"/>
          <p:cNvSpPr/>
          <p:nvPr/>
        </p:nvSpPr>
        <p:spPr>
          <a:xfrm>
            <a:off x="621792" y="1874520"/>
            <a:ext cx="7680960" cy="411480"/>
          </a:xfrm>
          <a:prstGeom prst="rect">
            <a:avLst/>
          </a:prstGeom>
          <a:noFill/>
          <a:ln/>
        </p:spPr>
        <p:txBody>
          <a:bodyPr wrap="square" lIns="0" tIns="0" rIns="0" bIns="0" rtlCol="0" anchor="ctr">
            <a:normAutofit/>
          </a:bodyPr>
          <a:lstStyle/>
          <a:p>
            <a:pPr marL="0" indent="0">
              <a:buNone/>
            </a:pPr>
            <a:r>
              <a:rPr lang="en-US" sz="2000" dirty="0">
                <a:solidFill>
                  <a:srgbClr val="CBBFA8"/>
                </a:solidFill>
              </a:rPr>
              <a:t>Tools, risk, governance, and hands-on solution design</a:t>
            </a:r>
            <a:endParaRPr lang="en-US" sz="2000" dirty="0"/>
          </a:p>
        </p:txBody>
      </p:sp>
      <p:sp>
        <p:nvSpPr>
          <p:cNvPr id="11" name="Text 9"/>
          <p:cNvSpPr/>
          <p:nvPr/>
        </p:nvSpPr>
        <p:spPr>
          <a:xfrm>
            <a:off x="621792" y="2395728"/>
            <a:ext cx="5669280" cy="320040"/>
          </a:xfrm>
          <a:prstGeom prst="rect">
            <a:avLst/>
          </a:prstGeom>
          <a:noFill/>
          <a:ln/>
        </p:spPr>
        <p:txBody>
          <a:bodyPr wrap="square" lIns="0" tIns="0" rIns="0" bIns="0" rtlCol="0" anchor="ctr"/>
          <a:lstStyle/>
          <a:p>
            <a:pPr marL="0" indent="0">
              <a:buNone/>
            </a:pPr>
            <a:r>
              <a:rPr lang="en-US" sz="1500" dirty="0">
                <a:solidFill>
                  <a:srgbClr val="F0D49A"/>
                </a:solidFill>
              </a:rPr>
              <a:t>A practical leadership session for Kretz Lumber</a:t>
            </a:r>
            <a:endParaRPr lang="en-US" sz="1500" dirty="0"/>
          </a:p>
        </p:txBody>
      </p:sp>
      <p:sp>
        <p:nvSpPr>
          <p:cNvPr id="12" name="Shape 10"/>
          <p:cNvSpPr/>
          <p:nvPr/>
        </p:nvSpPr>
        <p:spPr>
          <a:xfrm>
            <a:off x="658368" y="4069080"/>
            <a:ext cx="3337560" cy="1143000"/>
          </a:xfrm>
          <a:prstGeom prst="roundRect">
            <a:avLst>
              <a:gd name="adj" fmla="val 10400"/>
            </a:avLst>
          </a:prstGeom>
          <a:solidFill>
            <a:srgbClr val="242B1D"/>
          </a:solidFill>
          <a:ln w="12700">
            <a:solidFill>
              <a:srgbClr val="384231"/>
            </a:solidFill>
            <a:prstDash val="solid"/>
          </a:ln>
        </p:spPr>
        <p:txBody>
          <a:bodyPr/>
          <a:lstStyle/>
          <a:p>
            <a:endParaRPr/>
          </a:p>
        </p:txBody>
      </p:sp>
      <p:sp>
        <p:nvSpPr>
          <p:cNvPr id="13" name="Text 11"/>
          <p:cNvSpPr/>
          <p:nvPr/>
        </p:nvSpPr>
        <p:spPr>
          <a:xfrm>
            <a:off x="886968" y="4288536"/>
            <a:ext cx="288036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Location</a:t>
            </a:r>
            <a:endParaRPr lang="en-US" sz="1500" dirty="0"/>
          </a:p>
        </p:txBody>
      </p:sp>
      <p:sp>
        <p:nvSpPr>
          <p:cNvPr id="14" name="Text 12"/>
          <p:cNvSpPr/>
          <p:nvPr/>
        </p:nvSpPr>
        <p:spPr>
          <a:xfrm>
            <a:off x="886968" y="4690872"/>
            <a:ext cx="2880360" cy="365760"/>
          </a:xfrm>
          <a:prstGeom prst="rect">
            <a:avLst/>
          </a:prstGeom>
          <a:noFill/>
          <a:ln/>
        </p:spPr>
        <p:txBody>
          <a:bodyPr wrap="square" lIns="0" tIns="0" rIns="0" bIns="0" rtlCol="0" anchor="ctr">
            <a:normAutofit/>
          </a:bodyPr>
          <a:lstStyle/>
          <a:p>
            <a:pPr marL="0" indent="0">
              <a:buNone/>
            </a:pPr>
            <a:r>
              <a:rPr lang="en-US" sz="1050" dirty="0">
                <a:solidFill>
                  <a:srgbClr val="CBBFA8"/>
                </a:solidFill>
              </a:rPr>
              <a:t>Kretz Lumber Company</a:t>
            </a:r>
            <a:endParaRPr lang="en-US" sz="1050" dirty="0"/>
          </a:p>
          <a:p>
            <a:pPr marL="0" indent="0">
              <a:buNone/>
            </a:pPr>
            <a:r>
              <a:rPr lang="en-US" sz="1050" dirty="0">
                <a:solidFill>
                  <a:srgbClr val="CBBFA8"/>
                </a:solidFill>
              </a:rPr>
              <a:t>W11143 County Rd G, Antigo, WI</a:t>
            </a:r>
            <a:endParaRPr lang="en-US" sz="1050" dirty="0"/>
          </a:p>
        </p:txBody>
      </p:sp>
      <p:sp>
        <p:nvSpPr>
          <p:cNvPr id="15" name="Shape 13"/>
          <p:cNvSpPr/>
          <p:nvPr/>
        </p:nvSpPr>
        <p:spPr>
          <a:xfrm>
            <a:off x="4251960" y="4069080"/>
            <a:ext cx="3337560" cy="1143000"/>
          </a:xfrm>
          <a:prstGeom prst="roundRect">
            <a:avLst>
              <a:gd name="adj" fmla="val 10400"/>
            </a:avLst>
          </a:prstGeom>
          <a:solidFill>
            <a:srgbClr val="242B1D"/>
          </a:solidFill>
          <a:ln w="12700">
            <a:solidFill>
              <a:srgbClr val="384231"/>
            </a:solidFill>
            <a:prstDash val="solid"/>
          </a:ln>
        </p:spPr>
        <p:txBody>
          <a:bodyPr/>
          <a:lstStyle/>
          <a:p>
            <a:endParaRPr/>
          </a:p>
        </p:txBody>
      </p:sp>
      <p:sp>
        <p:nvSpPr>
          <p:cNvPr id="16" name="Text 14"/>
          <p:cNvSpPr/>
          <p:nvPr/>
        </p:nvSpPr>
        <p:spPr>
          <a:xfrm>
            <a:off x="4480560" y="4288536"/>
            <a:ext cx="288036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Session</a:t>
            </a:r>
            <a:endParaRPr lang="en-US" sz="1500" dirty="0"/>
          </a:p>
        </p:txBody>
      </p:sp>
      <p:sp>
        <p:nvSpPr>
          <p:cNvPr id="17" name="Text 15"/>
          <p:cNvSpPr/>
          <p:nvPr/>
        </p:nvSpPr>
        <p:spPr>
          <a:xfrm>
            <a:off x="4480560" y="4690872"/>
            <a:ext cx="2880360" cy="365760"/>
          </a:xfrm>
          <a:prstGeom prst="rect">
            <a:avLst/>
          </a:prstGeom>
          <a:noFill/>
          <a:ln/>
        </p:spPr>
        <p:txBody>
          <a:bodyPr wrap="square" lIns="0" tIns="0" rIns="0" bIns="0" rtlCol="0" anchor="ctr">
            <a:normAutofit/>
          </a:bodyPr>
          <a:lstStyle/>
          <a:p>
            <a:pPr marL="0" indent="0">
              <a:buNone/>
            </a:pPr>
            <a:r>
              <a:rPr lang="en-US" sz="1050" dirty="0">
                <a:solidFill>
                  <a:srgbClr val="CBBFA8"/>
                </a:solidFill>
              </a:rPr>
              <a:t>2 hours</a:t>
            </a:r>
            <a:endParaRPr lang="en-US" sz="1050" dirty="0"/>
          </a:p>
          <a:p>
            <a:pPr marL="0" indent="0">
              <a:buNone/>
            </a:pPr>
            <a:r>
              <a:rPr lang="en-US" sz="1050" dirty="0">
                <a:solidFill>
                  <a:srgbClr val="CBBFA8"/>
                </a:solidFill>
              </a:rPr>
              <a:t>10:00 AM - 12:00 Noon</a:t>
            </a:r>
            <a:endParaRPr lang="en-US" sz="1050" dirty="0"/>
          </a:p>
        </p:txBody>
      </p:sp>
      <p:sp>
        <p:nvSpPr>
          <p:cNvPr id="18" name="Shape 16"/>
          <p:cNvSpPr/>
          <p:nvPr/>
        </p:nvSpPr>
        <p:spPr>
          <a:xfrm>
            <a:off x="7845552" y="4069080"/>
            <a:ext cx="3337560" cy="1143000"/>
          </a:xfrm>
          <a:prstGeom prst="roundRect">
            <a:avLst>
              <a:gd name="adj" fmla="val 10400"/>
            </a:avLst>
          </a:prstGeom>
          <a:solidFill>
            <a:srgbClr val="242B1D"/>
          </a:solidFill>
          <a:ln w="12700">
            <a:solidFill>
              <a:srgbClr val="384231"/>
            </a:solidFill>
            <a:prstDash val="solid"/>
          </a:ln>
        </p:spPr>
        <p:txBody>
          <a:bodyPr/>
          <a:lstStyle/>
          <a:p>
            <a:endParaRPr/>
          </a:p>
        </p:txBody>
      </p:sp>
      <p:sp>
        <p:nvSpPr>
          <p:cNvPr id="19" name="Text 17"/>
          <p:cNvSpPr/>
          <p:nvPr/>
        </p:nvSpPr>
        <p:spPr>
          <a:xfrm>
            <a:off x="8074152" y="4288536"/>
            <a:ext cx="288036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Presented by</a:t>
            </a:r>
            <a:endParaRPr lang="en-US" sz="1500" dirty="0"/>
          </a:p>
        </p:txBody>
      </p:sp>
      <p:sp>
        <p:nvSpPr>
          <p:cNvPr id="20" name="Text 18"/>
          <p:cNvSpPr/>
          <p:nvPr/>
        </p:nvSpPr>
        <p:spPr>
          <a:xfrm>
            <a:off x="8074152" y="4690872"/>
            <a:ext cx="2880360" cy="365760"/>
          </a:xfrm>
          <a:prstGeom prst="rect">
            <a:avLst/>
          </a:prstGeom>
          <a:noFill/>
          <a:ln/>
        </p:spPr>
        <p:txBody>
          <a:bodyPr wrap="square" lIns="0" tIns="0" rIns="0" bIns="0" rtlCol="0" anchor="ctr">
            <a:normAutofit/>
          </a:bodyPr>
          <a:lstStyle/>
          <a:p>
            <a:pPr marL="0" indent="0">
              <a:buNone/>
            </a:pPr>
            <a:r>
              <a:rPr lang="en-US" sz="1050" dirty="0">
                <a:solidFill>
                  <a:srgbClr val="CBBFA8"/>
                </a:solidFill>
              </a:rPr>
              <a:t>Josh Stutting</a:t>
            </a:r>
            <a:endParaRPr lang="en-US" sz="1050" dirty="0"/>
          </a:p>
          <a:p>
            <a:pPr marL="0" indent="0">
              <a:buNone/>
            </a:pPr>
            <a:r>
              <a:rPr lang="en-US" sz="1050" dirty="0">
                <a:solidFill>
                  <a:srgbClr val="CBBFA8"/>
                </a:solidFill>
              </a:rPr>
              <a:t>IT Faculty - Northcentral Technical College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2834640" cy="274320"/>
          </a:xfrm>
          <a:prstGeom prst="rect">
            <a:avLst/>
          </a:prstGeom>
          <a:noFill/>
          <a:ln/>
        </p:spPr>
        <p:txBody>
          <a:bodyPr wrap="square" lIns="0" tIns="0" rIns="0" bIns="0" rtlCol="0" anchor="ctr"/>
          <a:lstStyle/>
          <a:p>
            <a:pPr marL="0" indent="0">
              <a:buNone/>
            </a:pPr>
            <a:r>
              <a:rPr lang="en-US" sz="1050" b="1" dirty="0">
                <a:solidFill>
                  <a:srgbClr val="F0D49A"/>
                </a:solidFill>
              </a:rPr>
              <a:t>TODAY'S SESSION</a:t>
            </a:r>
            <a:endParaRPr lang="en-US" sz="1050" dirty="0"/>
          </a:p>
        </p:txBody>
      </p:sp>
      <p:sp>
        <p:nvSpPr>
          <p:cNvPr id="9" name="Text 7"/>
          <p:cNvSpPr/>
          <p:nvPr/>
        </p:nvSpPr>
        <p:spPr>
          <a:xfrm>
            <a:off x="594360" y="914400"/>
            <a:ext cx="6035040" cy="594360"/>
          </a:xfrm>
          <a:prstGeom prst="rect">
            <a:avLst/>
          </a:prstGeom>
          <a:noFill/>
          <a:ln/>
        </p:spPr>
        <p:txBody>
          <a:bodyPr wrap="square" lIns="0" tIns="0" rIns="0" bIns="0" rtlCol="0" anchor="ctr"/>
          <a:lstStyle/>
          <a:p>
            <a:pPr marL="0" indent="0">
              <a:buNone/>
            </a:pPr>
            <a:r>
              <a:rPr lang="en-US" sz="3200" b="1" dirty="0">
                <a:solidFill>
                  <a:srgbClr val="FFF7E8"/>
                </a:solidFill>
              </a:rPr>
              <a:t>The updated flow</a:t>
            </a:r>
            <a:endParaRPr lang="en-US" sz="3200" dirty="0"/>
          </a:p>
        </p:txBody>
      </p:sp>
      <p:sp>
        <p:nvSpPr>
          <p:cNvPr id="10" name="Shape 8"/>
          <p:cNvSpPr/>
          <p:nvPr/>
        </p:nvSpPr>
        <p:spPr>
          <a:xfrm>
            <a:off x="685800" y="1783080"/>
            <a:ext cx="5166360" cy="841248"/>
          </a:xfrm>
          <a:prstGeom prst="roundRect">
            <a:avLst>
              <a:gd name="adj" fmla="val 10870"/>
            </a:avLst>
          </a:prstGeom>
          <a:solidFill>
            <a:srgbClr val="1B2116"/>
          </a:solidFill>
          <a:ln w="12700">
            <a:solidFill>
              <a:srgbClr val="384231"/>
            </a:solidFill>
            <a:prstDash val="solid"/>
          </a:ln>
        </p:spPr>
        <p:txBody>
          <a:bodyPr/>
          <a:lstStyle/>
          <a:p>
            <a:endParaRPr/>
          </a:p>
        </p:txBody>
      </p:sp>
      <p:sp>
        <p:nvSpPr>
          <p:cNvPr id="11" name="Text 9"/>
          <p:cNvSpPr/>
          <p:nvPr/>
        </p:nvSpPr>
        <p:spPr>
          <a:xfrm>
            <a:off x="822960" y="1938528"/>
            <a:ext cx="384048" cy="274320"/>
          </a:xfrm>
          <a:prstGeom prst="rect">
            <a:avLst/>
          </a:prstGeom>
          <a:noFill/>
          <a:ln/>
        </p:spPr>
        <p:txBody>
          <a:bodyPr wrap="square" lIns="0" tIns="0" rIns="0" bIns="0" rtlCol="0" anchor="ctr"/>
          <a:lstStyle/>
          <a:p>
            <a:pPr marL="0" indent="0">
              <a:buNone/>
            </a:pPr>
            <a:r>
              <a:rPr lang="en-US" sz="1300" b="1" dirty="0">
                <a:solidFill>
                  <a:srgbClr val="F0D49A"/>
                </a:solidFill>
              </a:rPr>
              <a:t>1</a:t>
            </a:r>
            <a:endParaRPr lang="en-US" sz="1300" dirty="0"/>
          </a:p>
        </p:txBody>
      </p:sp>
      <p:sp>
        <p:nvSpPr>
          <p:cNvPr id="12" name="Text 10"/>
          <p:cNvSpPr/>
          <p:nvPr/>
        </p:nvSpPr>
        <p:spPr>
          <a:xfrm>
            <a:off x="1344168" y="1892808"/>
            <a:ext cx="4160520" cy="228600"/>
          </a:xfrm>
          <a:prstGeom prst="rect">
            <a:avLst/>
          </a:prstGeom>
          <a:noFill/>
          <a:ln/>
        </p:spPr>
        <p:txBody>
          <a:bodyPr wrap="square" lIns="0" tIns="0" rIns="0" bIns="0" rtlCol="0" anchor="ctr">
            <a:normAutofit/>
          </a:bodyPr>
          <a:lstStyle/>
          <a:p>
            <a:pPr marL="0" indent="0">
              <a:buNone/>
            </a:pPr>
            <a:r>
              <a:rPr lang="en-US" sz="1280" b="1" dirty="0">
                <a:solidFill>
                  <a:srgbClr val="FFF7E8"/>
                </a:solidFill>
              </a:rPr>
              <a:t>AI tools and impact</a:t>
            </a:r>
            <a:endParaRPr lang="en-US" sz="1280" dirty="0"/>
          </a:p>
        </p:txBody>
      </p:sp>
      <p:sp>
        <p:nvSpPr>
          <p:cNvPr id="13" name="Text 11"/>
          <p:cNvSpPr/>
          <p:nvPr/>
        </p:nvSpPr>
        <p:spPr>
          <a:xfrm>
            <a:off x="1344168" y="2176272"/>
            <a:ext cx="4343400" cy="228600"/>
          </a:xfrm>
          <a:prstGeom prst="rect">
            <a:avLst/>
          </a:prstGeom>
          <a:noFill/>
          <a:ln/>
        </p:spPr>
        <p:txBody>
          <a:bodyPr wrap="square" lIns="0" tIns="0" rIns="0" bIns="0" rtlCol="0" anchor="ctr">
            <a:normAutofit/>
          </a:bodyPr>
          <a:lstStyle/>
          <a:p>
            <a:pPr marL="0" indent="0">
              <a:buNone/>
            </a:pPr>
            <a:r>
              <a:rPr lang="en-US" sz="860" dirty="0">
                <a:solidFill>
                  <a:srgbClr val="CBBFA8"/>
                </a:solidFill>
              </a:rPr>
              <a:t>What is changing and why leadership should care</a:t>
            </a:r>
            <a:endParaRPr lang="en-US" sz="860" dirty="0"/>
          </a:p>
        </p:txBody>
      </p:sp>
      <p:sp>
        <p:nvSpPr>
          <p:cNvPr id="14" name="Shape 12"/>
          <p:cNvSpPr/>
          <p:nvPr/>
        </p:nvSpPr>
        <p:spPr>
          <a:xfrm>
            <a:off x="685800" y="2807208"/>
            <a:ext cx="5166360" cy="841248"/>
          </a:xfrm>
          <a:prstGeom prst="roundRect">
            <a:avLst>
              <a:gd name="adj" fmla="val 10870"/>
            </a:avLst>
          </a:prstGeom>
          <a:solidFill>
            <a:srgbClr val="1B2116"/>
          </a:solidFill>
          <a:ln w="12700">
            <a:solidFill>
              <a:srgbClr val="384231"/>
            </a:solidFill>
            <a:prstDash val="solid"/>
          </a:ln>
        </p:spPr>
        <p:txBody>
          <a:bodyPr/>
          <a:lstStyle/>
          <a:p>
            <a:endParaRPr/>
          </a:p>
        </p:txBody>
      </p:sp>
      <p:sp>
        <p:nvSpPr>
          <p:cNvPr id="15" name="Text 13"/>
          <p:cNvSpPr/>
          <p:nvPr/>
        </p:nvSpPr>
        <p:spPr>
          <a:xfrm>
            <a:off x="822960" y="2962656"/>
            <a:ext cx="384048" cy="274320"/>
          </a:xfrm>
          <a:prstGeom prst="rect">
            <a:avLst/>
          </a:prstGeom>
          <a:noFill/>
          <a:ln/>
        </p:spPr>
        <p:txBody>
          <a:bodyPr wrap="square" lIns="0" tIns="0" rIns="0" bIns="0" rtlCol="0" anchor="ctr"/>
          <a:lstStyle/>
          <a:p>
            <a:pPr marL="0" indent="0">
              <a:buNone/>
            </a:pPr>
            <a:r>
              <a:rPr lang="en-US" sz="1300" b="1" dirty="0">
                <a:solidFill>
                  <a:srgbClr val="F0D49A"/>
                </a:solidFill>
              </a:rPr>
              <a:t>2</a:t>
            </a:r>
            <a:endParaRPr lang="en-US" sz="1300" dirty="0"/>
          </a:p>
        </p:txBody>
      </p:sp>
      <p:sp>
        <p:nvSpPr>
          <p:cNvPr id="16" name="Text 14"/>
          <p:cNvSpPr/>
          <p:nvPr/>
        </p:nvSpPr>
        <p:spPr>
          <a:xfrm>
            <a:off x="1344168" y="2916936"/>
            <a:ext cx="4160520" cy="228600"/>
          </a:xfrm>
          <a:prstGeom prst="rect">
            <a:avLst/>
          </a:prstGeom>
          <a:noFill/>
          <a:ln/>
        </p:spPr>
        <p:txBody>
          <a:bodyPr wrap="square" lIns="0" tIns="0" rIns="0" bIns="0" rtlCol="0" anchor="ctr">
            <a:normAutofit/>
          </a:bodyPr>
          <a:lstStyle/>
          <a:p>
            <a:pPr marL="0" indent="0">
              <a:buNone/>
            </a:pPr>
            <a:r>
              <a:rPr lang="en-US" sz="1280" b="1" dirty="0">
                <a:solidFill>
                  <a:srgbClr val="FFF7E8"/>
                </a:solidFill>
              </a:rPr>
              <a:t>Real stories and sources</a:t>
            </a:r>
            <a:endParaRPr lang="en-US" sz="1280" dirty="0"/>
          </a:p>
        </p:txBody>
      </p:sp>
      <p:sp>
        <p:nvSpPr>
          <p:cNvPr id="17" name="Text 15"/>
          <p:cNvSpPr/>
          <p:nvPr/>
        </p:nvSpPr>
        <p:spPr>
          <a:xfrm>
            <a:off x="1344168" y="3200400"/>
            <a:ext cx="4343400" cy="228600"/>
          </a:xfrm>
          <a:prstGeom prst="rect">
            <a:avLst/>
          </a:prstGeom>
          <a:noFill/>
          <a:ln/>
        </p:spPr>
        <p:txBody>
          <a:bodyPr wrap="square" lIns="0" tIns="0" rIns="0" bIns="0" rtlCol="0" anchor="ctr">
            <a:normAutofit/>
          </a:bodyPr>
          <a:lstStyle/>
          <a:p>
            <a:pPr marL="0" indent="0">
              <a:buNone/>
            </a:pPr>
            <a:r>
              <a:rPr lang="en-US" sz="860" dirty="0">
                <a:solidFill>
                  <a:srgbClr val="CBBFA8"/>
                </a:solidFill>
              </a:rPr>
              <a:t>Clickable newsbreaks that make governance memorable</a:t>
            </a:r>
            <a:endParaRPr lang="en-US" sz="860" dirty="0"/>
          </a:p>
        </p:txBody>
      </p:sp>
      <p:sp>
        <p:nvSpPr>
          <p:cNvPr id="18" name="Shape 16"/>
          <p:cNvSpPr/>
          <p:nvPr/>
        </p:nvSpPr>
        <p:spPr>
          <a:xfrm>
            <a:off x="685800" y="3831336"/>
            <a:ext cx="5166360" cy="841248"/>
          </a:xfrm>
          <a:prstGeom prst="roundRect">
            <a:avLst>
              <a:gd name="adj" fmla="val 10870"/>
            </a:avLst>
          </a:prstGeom>
          <a:solidFill>
            <a:srgbClr val="1B2116"/>
          </a:solidFill>
          <a:ln w="12700">
            <a:solidFill>
              <a:srgbClr val="384231"/>
            </a:solidFill>
            <a:prstDash val="solid"/>
          </a:ln>
        </p:spPr>
        <p:txBody>
          <a:bodyPr/>
          <a:lstStyle/>
          <a:p>
            <a:endParaRPr/>
          </a:p>
        </p:txBody>
      </p:sp>
      <p:sp>
        <p:nvSpPr>
          <p:cNvPr id="19" name="Text 17"/>
          <p:cNvSpPr/>
          <p:nvPr/>
        </p:nvSpPr>
        <p:spPr>
          <a:xfrm>
            <a:off x="822960" y="3986784"/>
            <a:ext cx="384048" cy="274320"/>
          </a:xfrm>
          <a:prstGeom prst="rect">
            <a:avLst/>
          </a:prstGeom>
          <a:noFill/>
          <a:ln/>
        </p:spPr>
        <p:txBody>
          <a:bodyPr wrap="square" lIns="0" tIns="0" rIns="0" bIns="0" rtlCol="0" anchor="ctr"/>
          <a:lstStyle/>
          <a:p>
            <a:pPr marL="0" indent="0">
              <a:buNone/>
            </a:pPr>
            <a:r>
              <a:rPr lang="en-US" sz="1300" b="1" dirty="0">
                <a:solidFill>
                  <a:srgbClr val="F0D49A"/>
                </a:solidFill>
              </a:rPr>
              <a:t>3</a:t>
            </a:r>
            <a:endParaRPr lang="en-US" sz="1300" dirty="0"/>
          </a:p>
        </p:txBody>
      </p:sp>
      <p:sp>
        <p:nvSpPr>
          <p:cNvPr id="20" name="Text 18"/>
          <p:cNvSpPr/>
          <p:nvPr/>
        </p:nvSpPr>
        <p:spPr>
          <a:xfrm>
            <a:off x="1344168" y="3941064"/>
            <a:ext cx="4160520" cy="228600"/>
          </a:xfrm>
          <a:prstGeom prst="rect">
            <a:avLst/>
          </a:prstGeom>
          <a:noFill/>
          <a:ln/>
        </p:spPr>
        <p:txBody>
          <a:bodyPr wrap="square" lIns="0" tIns="0" rIns="0" bIns="0" rtlCol="0" anchor="ctr">
            <a:normAutofit/>
          </a:bodyPr>
          <a:lstStyle/>
          <a:p>
            <a:pPr marL="0" indent="0">
              <a:buNone/>
            </a:pPr>
            <a:r>
              <a:rPr lang="en-US" sz="1280" b="1" dirty="0">
                <a:solidFill>
                  <a:srgbClr val="FFF7E8"/>
                </a:solidFill>
              </a:rPr>
              <a:t>Kretz prototype demos</a:t>
            </a:r>
            <a:endParaRPr lang="en-US" sz="1280" dirty="0"/>
          </a:p>
        </p:txBody>
      </p:sp>
      <p:sp>
        <p:nvSpPr>
          <p:cNvPr id="21" name="Text 19"/>
          <p:cNvSpPr/>
          <p:nvPr/>
        </p:nvSpPr>
        <p:spPr>
          <a:xfrm>
            <a:off x="1344168" y="4224528"/>
            <a:ext cx="4343400" cy="228600"/>
          </a:xfrm>
          <a:prstGeom prst="rect">
            <a:avLst/>
          </a:prstGeom>
          <a:noFill/>
          <a:ln/>
        </p:spPr>
        <p:txBody>
          <a:bodyPr wrap="square" lIns="0" tIns="0" rIns="0" bIns="0" rtlCol="0" anchor="ctr">
            <a:normAutofit/>
          </a:bodyPr>
          <a:lstStyle/>
          <a:p>
            <a:pPr marL="0" indent="0">
              <a:buNone/>
            </a:pPr>
            <a:r>
              <a:rPr lang="en-US" sz="860" dirty="0">
                <a:solidFill>
                  <a:srgbClr val="CBBFA8"/>
                </a:solidFill>
              </a:rPr>
              <a:t>Parcel, prospecting, timber market, and haul planning examples</a:t>
            </a:r>
            <a:endParaRPr lang="en-US" sz="860" dirty="0"/>
          </a:p>
        </p:txBody>
      </p:sp>
      <p:sp>
        <p:nvSpPr>
          <p:cNvPr id="22" name="Shape 20"/>
          <p:cNvSpPr/>
          <p:nvPr/>
        </p:nvSpPr>
        <p:spPr>
          <a:xfrm>
            <a:off x="685800" y="4855464"/>
            <a:ext cx="5166360" cy="841248"/>
          </a:xfrm>
          <a:prstGeom prst="roundRect">
            <a:avLst>
              <a:gd name="adj" fmla="val 10870"/>
            </a:avLst>
          </a:prstGeom>
          <a:solidFill>
            <a:srgbClr val="1B2116"/>
          </a:solidFill>
          <a:ln w="12700">
            <a:solidFill>
              <a:srgbClr val="384231"/>
            </a:solidFill>
            <a:prstDash val="solid"/>
          </a:ln>
        </p:spPr>
        <p:txBody>
          <a:bodyPr/>
          <a:lstStyle/>
          <a:p>
            <a:endParaRPr/>
          </a:p>
        </p:txBody>
      </p:sp>
      <p:sp>
        <p:nvSpPr>
          <p:cNvPr id="23" name="Text 21"/>
          <p:cNvSpPr/>
          <p:nvPr/>
        </p:nvSpPr>
        <p:spPr>
          <a:xfrm>
            <a:off x="822960" y="5010912"/>
            <a:ext cx="384048" cy="274320"/>
          </a:xfrm>
          <a:prstGeom prst="rect">
            <a:avLst/>
          </a:prstGeom>
          <a:noFill/>
          <a:ln/>
        </p:spPr>
        <p:txBody>
          <a:bodyPr wrap="square" lIns="0" tIns="0" rIns="0" bIns="0" rtlCol="0" anchor="ctr"/>
          <a:lstStyle/>
          <a:p>
            <a:pPr marL="0" indent="0">
              <a:buNone/>
            </a:pPr>
            <a:r>
              <a:rPr lang="en-US" sz="1300" b="1" dirty="0">
                <a:solidFill>
                  <a:srgbClr val="F0D49A"/>
                </a:solidFill>
              </a:rPr>
              <a:t>4</a:t>
            </a:r>
            <a:endParaRPr lang="en-US" sz="1300" dirty="0"/>
          </a:p>
        </p:txBody>
      </p:sp>
      <p:sp>
        <p:nvSpPr>
          <p:cNvPr id="24" name="Text 22"/>
          <p:cNvSpPr/>
          <p:nvPr/>
        </p:nvSpPr>
        <p:spPr>
          <a:xfrm>
            <a:off x="1344168" y="4965192"/>
            <a:ext cx="4160520" cy="228600"/>
          </a:xfrm>
          <a:prstGeom prst="rect">
            <a:avLst/>
          </a:prstGeom>
          <a:noFill/>
          <a:ln/>
        </p:spPr>
        <p:txBody>
          <a:bodyPr wrap="square" lIns="0" tIns="0" rIns="0" bIns="0" rtlCol="0" anchor="ctr">
            <a:normAutofit/>
          </a:bodyPr>
          <a:lstStyle/>
          <a:p>
            <a:pPr marL="0" indent="0">
              <a:buNone/>
            </a:pPr>
            <a:r>
              <a:rPr lang="en-US" sz="1280" b="1" dirty="0">
                <a:solidFill>
                  <a:srgbClr val="FFF7E8"/>
                </a:solidFill>
              </a:rPr>
              <a:t>Practice datasets</a:t>
            </a:r>
            <a:endParaRPr lang="en-US" sz="1280" dirty="0"/>
          </a:p>
        </p:txBody>
      </p:sp>
      <p:sp>
        <p:nvSpPr>
          <p:cNvPr id="25" name="Text 23"/>
          <p:cNvSpPr/>
          <p:nvPr/>
        </p:nvSpPr>
        <p:spPr>
          <a:xfrm>
            <a:off x="1344168" y="5248656"/>
            <a:ext cx="4343400" cy="228600"/>
          </a:xfrm>
          <a:prstGeom prst="rect">
            <a:avLst/>
          </a:prstGeom>
          <a:noFill/>
          <a:ln/>
        </p:spPr>
        <p:txBody>
          <a:bodyPr wrap="square" lIns="0" tIns="0" rIns="0" bIns="0" rtlCol="0" anchor="ctr">
            <a:normAutofit/>
          </a:bodyPr>
          <a:lstStyle/>
          <a:p>
            <a:pPr marL="0" indent="0">
              <a:buNone/>
            </a:pPr>
            <a:r>
              <a:rPr lang="en-US" sz="860" dirty="0">
                <a:solidFill>
                  <a:srgbClr val="CBBFA8"/>
                </a:solidFill>
              </a:rPr>
              <a:t>Synthetic files participants can upload and test</a:t>
            </a:r>
            <a:endParaRPr lang="en-US" sz="860" dirty="0"/>
          </a:p>
        </p:txBody>
      </p:sp>
      <p:sp>
        <p:nvSpPr>
          <p:cNvPr id="26" name="Shape 24"/>
          <p:cNvSpPr/>
          <p:nvPr/>
        </p:nvSpPr>
        <p:spPr>
          <a:xfrm>
            <a:off x="6263640" y="1783080"/>
            <a:ext cx="5166360" cy="841248"/>
          </a:xfrm>
          <a:prstGeom prst="roundRect">
            <a:avLst>
              <a:gd name="adj" fmla="val 10870"/>
            </a:avLst>
          </a:prstGeom>
          <a:solidFill>
            <a:srgbClr val="1B2116"/>
          </a:solidFill>
          <a:ln w="12700">
            <a:solidFill>
              <a:srgbClr val="384231"/>
            </a:solidFill>
            <a:prstDash val="solid"/>
          </a:ln>
        </p:spPr>
        <p:txBody>
          <a:bodyPr/>
          <a:lstStyle/>
          <a:p>
            <a:endParaRPr/>
          </a:p>
        </p:txBody>
      </p:sp>
      <p:sp>
        <p:nvSpPr>
          <p:cNvPr id="27" name="Text 25"/>
          <p:cNvSpPr/>
          <p:nvPr/>
        </p:nvSpPr>
        <p:spPr>
          <a:xfrm>
            <a:off x="6400800" y="1938528"/>
            <a:ext cx="384048" cy="274320"/>
          </a:xfrm>
          <a:prstGeom prst="rect">
            <a:avLst/>
          </a:prstGeom>
          <a:noFill/>
          <a:ln/>
        </p:spPr>
        <p:txBody>
          <a:bodyPr wrap="square" lIns="0" tIns="0" rIns="0" bIns="0" rtlCol="0" anchor="ctr"/>
          <a:lstStyle/>
          <a:p>
            <a:pPr marL="0" indent="0">
              <a:buNone/>
            </a:pPr>
            <a:r>
              <a:rPr lang="en-US" sz="1300" b="1" dirty="0">
                <a:solidFill>
                  <a:srgbClr val="F0D49A"/>
                </a:solidFill>
              </a:rPr>
              <a:t>5</a:t>
            </a:r>
            <a:endParaRPr lang="en-US" sz="1300" dirty="0"/>
          </a:p>
        </p:txBody>
      </p:sp>
      <p:sp>
        <p:nvSpPr>
          <p:cNvPr id="28" name="Text 26"/>
          <p:cNvSpPr/>
          <p:nvPr/>
        </p:nvSpPr>
        <p:spPr>
          <a:xfrm>
            <a:off x="6922008" y="1892808"/>
            <a:ext cx="4160520" cy="228600"/>
          </a:xfrm>
          <a:prstGeom prst="rect">
            <a:avLst/>
          </a:prstGeom>
          <a:noFill/>
          <a:ln/>
        </p:spPr>
        <p:txBody>
          <a:bodyPr wrap="square" lIns="0" tIns="0" rIns="0" bIns="0" rtlCol="0" anchor="ctr">
            <a:normAutofit/>
          </a:bodyPr>
          <a:lstStyle/>
          <a:p>
            <a:pPr marL="0" indent="0">
              <a:buNone/>
            </a:pPr>
            <a:r>
              <a:rPr lang="en-US" sz="1280" b="1" dirty="0">
                <a:solidFill>
                  <a:srgbClr val="FFF7E8"/>
                </a:solidFill>
              </a:rPr>
              <a:t>Kretz DNA Assistant</a:t>
            </a:r>
            <a:endParaRPr lang="en-US" sz="1280" dirty="0"/>
          </a:p>
        </p:txBody>
      </p:sp>
      <p:sp>
        <p:nvSpPr>
          <p:cNvPr id="29" name="Text 27"/>
          <p:cNvSpPr/>
          <p:nvPr/>
        </p:nvSpPr>
        <p:spPr>
          <a:xfrm>
            <a:off x="6922008" y="2176272"/>
            <a:ext cx="4343400" cy="228600"/>
          </a:xfrm>
          <a:prstGeom prst="rect">
            <a:avLst/>
          </a:prstGeom>
          <a:noFill/>
          <a:ln/>
        </p:spPr>
        <p:txBody>
          <a:bodyPr wrap="square" lIns="0" tIns="0" rIns="0" bIns="0" rtlCol="0" anchor="ctr">
            <a:normAutofit/>
          </a:bodyPr>
          <a:lstStyle/>
          <a:p>
            <a:pPr marL="0" indent="0">
              <a:buNone/>
            </a:pPr>
            <a:r>
              <a:rPr lang="en-US" sz="860" dirty="0">
                <a:solidFill>
                  <a:srgbClr val="CBBFA8"/>
                </a:solidFill>
              </a:rPr>
              <a:t>A narrow Custom GPT for outgoing messages</a:t>
            </a:r>
            <a:endParaRPr lang="en-US" sz="860" dirty="0"/>
          </a:p>
        </p:txBody>
      </p:sp>
      <p:sp>
        <p:nvSpPr>
          <p:cNvPr id="30" name="Shape 28"/>
          <p:cNvSpPr/>
          <p:nvPr/>
        </p:nvSpPr>
        <p:spPr>
          <a:xfrm>
            <a:off x="6263640" y="2807208"/>
            <a:ext cx="5166360" cy="841248"/>
          </a:xfrm>
          <a:prstGeom prst="roundRect">
            <a:avLst>
              <a:gd name="adj" fmla="val 10870"/>
            </a:avLst>
          </a:prstGeom>
          <a:solidFill>
            <a:srgbClr val="1B2116"/>
          </a:solidFill>
          <a:ln w="12700">
            <a:solidFill>
              <a:srgbClr val="384231"/>
            </a:solidFill>
            <a:prstDash val="solid"/>
          </a:ln>
        </p:spPr>
        <p:txBody>
          <a:bodyPr/>
          <a:lstStyle/>
          <a:p>
            <a:endParaRPr/>
          </a:p>
        </p:txBody>
      </p:sp>
      <p:sp>
        <p:nvSpPr>
          <p:cNvPr id="31" name="Text 29"/>
          <p:cNvSpPr/>
          <p:nvPr/>
        </p:nvSpPr>
        <p:spPr>
          <a:xfrm>
            <a:off x="6400800" y="2962656"/>
            <a:ext cx="384048" cy="274320"/>
          </a:xfrm>
          <a:prstGeom prst="rect">
            <a:avLst/>
          </a:prstGeom>
          <a:noFill/>
          <a:ln/>
        </p:spPr>
        <p:txBody>
          <a:bodyPr wrap="square" lIns="0" tIns="0" rIns="0" bIns="0" rtlCol="0" anchor="ctr"/>
          <a:lstStyle/>
          <a:p>
            <a:pPr marL="0" indent="0">
              <a:buNone/>
            </a:pPr>
            <a:r>
              <a:rPr lang="en-US" sz="1300" b="1" dirty="0">
                <a:solidFill>
                  <a:srgbClr val="F0D49A"/>
                </a:solidFill>
              </a:rPr>
              <a:t>6</a:t>
            </a:r>
            <a:endParaRPr lang="en-US" sz="1300" dirty="0"/>
          </a:p>
        </p:txBody>
      </p:sp>
      <p:sp>
        <p:nvSpPr>
          <p:cNvPr id="32" name="Text 30"/>
          <p:cNvSpPr/>
          <p:nvPr/>
        </p:nvSpPr>
        <p:spPr>
          <a:xfrm>
            <a:off x="6922008" y="2916936"/>
            <a:ext cx="4160520" cy="228600"/>
          </a:xfrm>
          <a:prstGeom prst="rect">
            <a:avLst/>
          </a:prstGeom>
          <a:noFill/>
          <a:ln/>
        </p:spPr>
        <p:txBody>
          <a:bodyPr wrap="square" lIns="0" tIns="0" rIns="0" bIns="0" rtlCol="0" anchor="ctr">
            <a:normAutofit/>
          </a:bodyPr>
          <a:lstStyle/>
          <a:p>
            <a:pPr marL="0" indent="0">
              <a:buNone/>
            </a:pPr>
            <a:r>
              <a:rPr lang="en-US" sz="1280" b="1" dirty="0">
                <a:solidFill>
                  <a:srgbClr val="FFF7E8"/>
                </a:solidFill>
              </a:rPr>
              <a:t>Kretz AI Decision Guide</a:t>
            </a:r>
            <a:endParaRPr lang="en-US" sz="1280" dirty="0"/>
          </a:p>
        </p:txBody>
      </p:sp>
      <p:sp>
        <p:nvSpPr>
          <p:cNvPr id="33" name="Text 31"/>
          <p:cNvSpPr/>
          <p:nvPr/>
        </p:nvSpPr>
        <p:spPr>
          <a:xfrm>
            <a:off x="6922008" y="3200400"/>
            <a:ext cx="4343400" cy="228600"/>
          </a:xfrm>
          <a:prstGeom prst="rect">
            <a:avLst/>
          </a:prstGeom>
          <a:noFill/>
          <a:ln/>
        </p:spPr>
        <p:txBody>
          <a:bodyPr wrap="square" lIns="0" tIns="0" rIns="0" bIns="0" rtlCol="0" anchor="ctr">
            <a:normAutofit/>
          </a:bodyPr>
          <a:lstStyle/>
          <a:p>
            <a:pPr marL="0" indent="0">
              <a:buNone/>
            </a:pPr>
            <a:r>
              <a:rPr lang="en-US" sz="860" dirty="0">
                <a:solidFill>
                  <a:srgbClr val="CBBFA8"/>
                </a:solidFill>
              </a:rPr>
              <a:t>Decide whether a problem should be AI at all</a:t>
            </a:r>
            <a:endParaRPr lang="en-US" sz="860" dirty="0"/>
          </a:p>
        </p:txBody>
      </p:sp>
      <p:sp>
        <p:nvSpPr>
          <p:cNvPr id="34" name="Shape 32"/>
          <p:cNvSpPr/>
          <p:nvPr/>
        </p:nvSpPr>
        <p:spPr>
          <a:xfrm>
            <a:off x="6263640" y="3831336"/>
            <a:ext cx="5166360" cy="841248"/>
          </a:xfrm>
          <a:prstGeom prst="roundRect">
            <a:avLst>
              <a:gd name="adj" fmla="val 10870"/>
            </a:avLst>
          </a:prstGeom>
          <a:solidFill>
            <a:srgbClr val="1B2116"/>
          </a:solidFill>
          <a:ln w="12700">
            <a:solidFill>
              <a:srgbClr val="384231"/>
            </a:solidFill>
            <a:prstDash val="solid"/>
          </a:ln>
        </p:spPr>
        <p:txBody>
          <a:bodyPr/>
          <a:lstStyle/>
          <a:p>
            <a:endParaRPr/>
          </a:p>
        </p:txBody>
      </p:sp>
      <p:sp>
        <p:nvSpPr>
          <p:cNvPr id="35" name="Text 33"/>
          <p:cNvSpPr/>
          <p:nvPr/>
        </p:nvSpPr>
        <p:spPr>
          <a:xfrm>
            <a:off x="6400800" y="3986784"/>
            <a:ext cx="384048" cy="274320"/>
          </a:xfrm>
          <a:prstGeom prst="rect">
            <a:avLst/>
          </a:prstGeom>
          <a:noFill/>
          <a:ln/>
        </p:spPr>
        <p:txBody>
          <a:bodyPr wrap="square" lIns="0" tIns="0" rIns="0" bIns="0" rtlCol="0" anchor="ctr"/>
          <a:lstStyle/>
          <a:p>
            <a:pPr marL="0" indent="0">
              <a:buNone/>
            </a:pPr>
            <a:r>
              <a:rPr lang="en-US" sz="1300" b="1" dirty="0">
                <a:solidFill>
                  <a:srgbClr val="F0D49A"/>
                </a:solidFill>
              </a:rPr>
              <a:t>7</a:t>
            </a:r>
            <a:endParaRPr lang="en-US" sz="1300" dirty="0"/>
          </a:p>
        </p:txBody>
      </p:sp>
      <p:sp>
        <p:nvSpPr>
          <p:cNvPr id="36" name="Text 34"/>
          <p:cNvSpPr/>
          <p:nvPr/>
        </p:nvSpPr>
        <p:spPr>
          <a:xfrm>
            <a:off x="6922008" y="3941064"/>
            <a:ext cx="4160520" cy="228600"/>
          </a:xfrm>
          <a:prstGeom prst="rect">
            <a:avLst/>
          </a:prstGeom>
          <a:noFill/>
          <a:ln/>
        </p:spPr>
        <p:txBody>
          <a:bodyPr wrap="square" lIns="0" tIns="0" rIns="0" bIns="0" rtlCol="0" anchor="ctr">
            <a:normAutofit/>
          </a:bodyPr>
          <a:lstStyle/>
          <a:p>
            <a:pPr marL="0" indent="0">
              <a:buNone/>
            </a:pPr>
            <a:r>
              <a:rPr lang="en-US" sz="1280" b="1" dirty="0">
                <a:solidFill>
                  <a:srgbClr val="FFF7E8"/>
                </a:solidFill>
              </a:rPr>
              <a:t>Build-or-not-build framework</a:t>
            </a:r>
            <a:endParaRPr lang="en-US" sz="1280" dirty="0"/>
          </a:p>
        </p:txBody>
      </p:sp>
      <p:sp>
        <p:nvSpPr>
          <p:cNvPr id="37" name="Text 35"/>
          <p:cNvSpPr/>
          <p:nvPr/>
        </p:nvSpPr>
        <p:spPr>
          <a:xfrm>
            <a:off x="6922008" y="4224528"/>
            <a:ext cx="4343400" cy="228600"/>
          </a:xfrm>
          <a:prstGeom prst="rect">
            <a:avLst/>
          </a:prstGeom>
          <a:noFill/>
          <a:ln/>
        </p:spPr>
        <p:txBody>
          <a:bodyPr wrap="square" lIns="0" tIns="0" rIns="0" bIns="0" rtlCol="0" anchor="ctr">
            <a:normAutofit/>
          </a:bodyPr>
          <a:lstStyle/>
          <a:p>
            <a:pPr marL="0" indent="0">
              <a:buNone/>
            </a:pPr>
            <a:r>
              <a:rPr lang="en-US" sz="860" dirty="0">
                <a:solidFill>
                  <a:srgbClr val="CBBFA8"/>
                </a:solidFill>
              </a:rPr>
              <a:t>Custom GPT, automation, existing software, vendor, process, or no AI</a:t>
            </a:r>
            <a:endParaRPr lang="en-US" sz="860" dirty="0"/>
          </a:p>
        </p:txBody>
      </p:sp>
      <p:sp>
        <p:nvSpPr>
          <p:cNvPr id="38" name="Shape 36"/>
          <p:cNvSpPr/>
          <p:nvPr/>
        </p:nvSpPr>
        <p:spPr>
          <a:xfrm>
            <a:off x="6263640" y="4855464"/>
            <a:ext cx="5166360" cy="841248"/>
          </a:xfrm>
          <a:prstGeom prst="roundRect">
            <a:avLst>
              <a:gd name="adj" fmla="val 10870"/>
            </a:avLst>
          </a:prstGeom>
          <a:solidFill>
            <a:srgbClr val="1B2116"/>
          </a:solidFill>
          <a:ln w="12700">
            <a:solidFill>
              <a:srgbClr val="384231"/>
            </a:solidFill>
            <a:prstDash val="solid"/>
          </a:ln>
        </p:spPr>
        <p:txBody>
          <a:bodyPr/>
          <a:lstStyle/>
          <a:p>
            <a:endParaRPr/>
          </a:p>
        </p:txBody>
      </p:sp>
      <p:sp>
        <p:nvSpPr>
          <p:cNvPr id="39" name="Text 37"/>
          <p:cNvSpPr/>
          <p:nvPr/>
        </p:nvSpPr>
        <p:spPr>
          <a:xfrm>
            <a:off x="6400800" y="5010912"/>
            <a:ext cx="384048" cy="274320"/>
          </a:xfrm>
          <a:prstGeom prst="rect">
            <a:avLst/>
          </a:prstGeom>
          <a:noFill/>
          <a:ln/>
        </p:spPr>
        <p:txBody>
          <a:bodyPr wrap="square" lIns="0" tIns="0" rIns="0" bIns="0" rtlCol="0" anchor="ctr"/>
          <a:lstStyle/>
          <a:p>
            <a:pPr marL="0" indent="0">
              <a:buNone/>
            </a:pPr>
            <a:r>
              <a:rPr lang="en-US" sz="1300" b="1" dirty="0">
                <a:solidFill>
                  <a:srgbClr val="F0D49A"/>
                </a:solidFill>
              </a:rPr>
              <a:t>8</a:t>
            </a:r>
            <a:endParaRPr lang="en-US" sz="1300" dirty="0"/>
          </a:p>
        </p:txBody>
      </p:sp>
      <p:sp>
        <p:nvSpPr>
          <p:cNvPr id="40" name="Text 38"/>
          <p:cNvSpPr/>
          <p:nvPr/>
        </p:nvSpPr>
        <p:spPr>
          <a:xfrm>
            <a:off x="6922008" y="4965192"/>
            <a:ext cx="4160520" cy="228600"/>
          </a:xfrm>
          <a:prstGeom prst="rect">
            <a:avLst/>
          </a:prstGeom>
          <a:noFill/>
          <a:ln/>
        </p:spPr>
        <p:txBody>
          <a:bodyPr wrap="square" lIns="0" tIns="0" rIns="0" bIns="0" rtlCol="0" anchor="ctr">
            <a:normAutofit/>
          </a:bodyPr>
          <a:lstStyle/>
          <a:p>
            <a:pPr marL="0" indent="0">
              <a:buNone/>
            </a:pPr>
            <a:r>
              <a:rPr lang="en-US" sz="1280" b="1" dirty="0">
                <a:solidFill>
                  <a:srgbClr val="FFF7E8"/>
                </a:solidFill>
              </a:rPr>
              <a:t>Governance and next steps</a:t>
            </a:r>
            <a:endParaRPr lang="en-US" sz="1280" dirty="0"/>
          </a:p>
        </p:txBody>
      </p:sp>
      <p:sp>
        <p:nvSpPr>
          <p:cNvPr id="41" name="Text 39"/>
          <p:cNvSpPr/>
          <p:nvPr/>
        </p:nvSpPr>
        <p:spPr>
          <a:xfrm>
            <a:off x="6922008" y="5248656"/>
            <a:ext cx="4343400" cy="228600"/>
          </a:xfrm>
          <a:prstGeom prst="rect">
            <a:avLst/>
          </a:prstGeom>
          <a:noFill/>
          <a:ln/>
        </p:spPr>
        <p:txBody>
          <a:bodyPr wrap="square" lIns="0" tIns="0" rIns="0" bIns="0" rtlCol="0" anchor="ctr">
            <a:normAutofit/>
          </a:bodyPr>
          <a:lstStyle/>
          <a:p>
            <a:pPr marL="0" indent="0">
              <a:buNone/>
            </a:pPr>
            <a:r>
              <a:rPr lang="en-US" sz="860" dirty="0">
                <a:solidFill>
                  <a:srgbClr val="CBBFA8"/>
                </a:solidFill>
              </a:rPr>
              <a:t>Policy, sign-off, no-fault reporting, ownership, secure tools</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UPDATE FROM THE EARLIER VERSION</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What changed in this revamp</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The training now matches the real Kretz planning context and the tools we built for the session.</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795528" y="4379976"/>
            <a:ext cx="411480" cy="320040"/>
          </a:xfrm>
          <a:prstGeom prst="rect">
            <a:avLst/>
          </a:prstGeom>
          <a:noFill/>
          <a:ln/>
        </p:spPr>
        <p:txBody>
          <a:bodyPr wrap="square" lIns="0" tIns="0" rIns="0" bIns="0" rtlCol="0" anchor="ctr"/>
          <a:lstStyle/>
          <a:p>
            <a:pPr marL="0" indent="0">
              <a:buNone/>
            </a:pPr>
            <a:r>
              <a:rPr lang="en-US" sz="1600" dirty="0">
                <a:solidFill>
                  <a:srgbClr val="F0D49A"/>
                </a:solidFill>
              </a:rPr>
              <a:t>1</a:t>
            </a:r>
            <a:endParaRPr lang="en-US" sz="1600" dirty="0"/>
          </a:p>
        </p:txBody>
      </p:sp>
      <p:sp>
        <p:nvSpPr>
          <p:cNvPr id="13" name="Text 11"/>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More source-backed</a:t>
            </a:r>
            <a:endParaRPr lang="en-US" sz="1500" dirty="0"/>
          </a:p>
        </p:txBody>
      </p:sp>
      <p:sp>
        <p:nvSpPr>
          <p:cNvPr id="14" name="Text 12"/>
          <p:cNvSpPr/>
          <p:nvPr/>
        </p:nvSpPr>
        <p:spPr>
          <a:xfrm>
            <a:off x="868680"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Newsbreak cards link to real stories and primary sources.</a:t>
            </a:r>
            <a:endParaRPr lang="en-US" sz="1050" dirty="0"/>
          </a:p>
        </p:txBody>
      </p:sp>
      <p:sp>
        <p:nvSpPr>
          <p:cNvPr id="15" name="Shape 13"/>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6" name="Text 14"/>
          <p:cNvSpPr/>
          <p:nvPr/>
        </p:nvSpPr>
        <p:spPr>
          <a:xfrm>
            <a:off x="4477512" y="4379976"/>
            <a:ext cx="411480" cy="320040"/>
          </a:xfrm>
          <a:prstGeom prst="rect">
            <a:avLst/>
          </a:prstGeom>
          <a:noFill/>
          <a:ln/>
        </p:spPr>
        <p:txBody>
          <a:bodyPr wrap="square" lIns="0" tIns="0" rIns="0" bIns="0" rtlCol="0" anchor="ctr"/>
          <a:lstStyle/>
          <a:p>
            <a:pPr marL="0" indent="0">
              <a:buNone/>
            </a:pPr>
            <a:r>
              <a:rPr lang="en-US" sz="1600" dirty="0">
                <a:solidFill>
                  <a:srgbClr val="F0D49A"/>
                </a:solidFill>
              </a:rPr>
              <a:t>2</a:t>
            </a:r>
            <a:endParaRPr lang="en-US" sz="1600" dirty="0"/>
          </a:p>
        </p:txBody>
      </p:sp>
      <p:sp>
        <p:nvSpPr>
          <p:cNvPr id="17" name="Text 15"/>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More Kretz-specific</a:t>
            </a:r>
            <a:endParaRPr lang="en-US" sz="1500" dirty="0"/>
          </a:p>
        </p:txBody>
      </p:sp>
      <p:sp>
        <p:nvSpPr>
          <p:cNvPr id="18" name="Text 16"/>
          <p:cNvSpPr/>
          <p:nvPr/>
        </p:nvSpPr>
        <p:spPr>
          <a:xfrm>
            <a:off x="4550664"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Prototype order cleaned up and tied to real Kretz workflows.</a:t>
            </a:r>
            <a:endParaRPr lang="en-US" sz="1050" dirty="0"/>
          </a:p>
        </p:txBody>
      </p:sp>
      <p:sp>
        <p:nvSpPr>
          <p:cNvPr id="19" name="Shape 17"/>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0" name="Text 18"/>
          <p:cNvSpPr/>
          <p:nvPr/>
        </p:nvSpPr>
        <p:spPr>
          <a:xfrm>
            <a:off x="8159496" y="4379976"/>
            <a:ext cx="411480" cy="320040"/>
          </a:xfrm>
          <a:prstGeom prst="rect">
            <a:avLst/>
          </a:prstGeom>
          <a:noFill/>
          <a:ln/>
        </p:spPr>
        <p:txBody>
          <a:bodyPr wrap="square" lIns="0" tIns="0" rIns="0" bIns="0" rtlCol="0" anchor="ctr"/>
          <a:lstStyle/>
          <a:p>
            <a:pPr marL="0" indent="0">
              <a:buNone/>
            </a:pPr>
            <a:r>
              <a:rPr lang="en-US" sz="1600" dirty="0">
                <a:solidFill>
                  <a:srgbClr val="F0D49A"/>
                </a:solidFill>
              </a:rPr>
              <a:t>3</a:t>
            </a:r>
            <a:endParaRPr lang="en-US" sz="1600" dirty="0"/>
          </a:p>
        </p:txBody>
      </p:sp>
      <p:sp>
        <p:nvSpPr>
          <p:cNvPr id="21" name="Text 19"/>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More hands-on</a:t>
            </a:r>
            <a:endParaRPr lang="en-US" sz="1500" dirty="0"/>
          </a:p>
        </p:txBody>
      </p:sp>
      <p:sp>
        <p:nvSpPr>
          <p:cNvPr id="22" name="Text 20"/>
          <p:cNvSpPr/>
          <p:nvPr/>
        </p:nvSpPr>
        <p:spPr>
          <a:xfrm>
            <a:off x="8232648"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Participants use datasets, GPTs, and activities, not just slides.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94360"/>
            <a:ext cx="914400" cy="457200"/>
          </a:xfrm>
          <a:prstGeom prst="rect">
            <a:avLst/>
          </a:prstGeom>
          <a:noFill/>
          <a:ln/>
        </p:spPr>
        <p:txBody>
          <a:bodyPr wrap="square" lIns="0" tIns="0" rIns="0" bIns="0" rtlCol="0" anchor="ctr"/>
          <a:lstStyle/>
          <a:p>
            <a:pPr marL="0" indent="0">
              <a:buNone/>
            </a:pPr>
            <a:r>
              <a:rPr lang="en-US" sz="2000" b="1" dirty="0">
                <a:solidFill>
                  <a:srgbClr val="F0D49A"/>
                </a:solidFill>
              </a:rPr>
              <a:t>01</a:t>
            </a:r>
            <a:endParaRPr lang="en-US" sz="2000" dirty="0"/>
          </a:p>
        </p:txBody>
      </p:sp>
      <p:sp>
        <p:nvSpPr>
          <p:cNvPr id="9" name="Shape 7"/>
          <p:cNvSpPr/>
          <p:nvPr/>
        </p:nvSpPr>
        <p:spPr>
          <a:xfrm>
            <a:off x="594360" y="1078992"/>
            <a:ext cx="10698480" cy="0"/>
          </a:xfrm>
          <a:prstGeom prst="line">
            <a:avLst/>
          </a:prstGeom>
          <a:noFill/>
          <a:ln w="12700">
            <a:solidFill>
              <a:srgbClr val="D49A3D">
                <a:alpha val="82000"/>
              </a:srgbClr>
            </a:solidFill>
            <a:prstDash val="solid"/>
          </a:ln>
        </p:spPr>
        <p:txBody>
          <a:bodyPr/>
          <a:lstStyle/>
          <a:p>
            <a:endParaRPr/>
          </a:p>
        </p:txBody>
      </p:sp>
      <p:sp>
        <p:nvSpPr>
          <p:cNvPr id="10" name="Text 8"/>
          <p:cNvSpPr/>
          <p:nvPr/>
        </p:nvSpPr>
        <p:spPr>
          <a:xfrm>
            <a:off x="594360" y="1645920"/>
            <a:ext cx="8778240" cy="1463040"/>
          </a:xfrm>
          <a:prstGeom prst="rect">
            <a:avLst/>
          </a:prstGeom>
          <a:noFill/>
          <a:ln/>
        </p:spPr>
        <p:txBody>
          <a:bodyPr wrap="square" lIns="0" tIns="0" rIns="0" bIns="0" rtlCol="0" anchor="ctr">
            <a:normAutofit/>
          </a:bodyPr>
          <a:lstStyle/>
          <a:p>
            <a:pPr marL="0" indent="0">
              <a:buNone/>
            </a:pPr>
            <a:r>
              <a:rPr lang="en-US" sz="4300" b="1" dirty="0">
                <a:solidFill>
                  <a:srgbClr val="FFF7E8"/>
                </a:solidFill>
              </a:rPr>
              <a:t>Why AI matters now</a:t>
            </a:r>
            <a:endParaRPr lang="en-US" sz="4300" dirty="0"/>
          </a:p>
        </p:txBody>
      </p:sp>
      <p:sp>
        <p:nvSpPr>
          <p:cNvPr id="11" name="Text 9"/>
          <p:cNvSpPr/>
          <p:nvPr/>
        </p:nvSpPr>
        <p:spPr>
          <a:xfrm>
            <a:off x="621792" y="3246120"/>
            <a:ext cx="7863840" cy="731520"/>
          </a:xfrm>
          <a:prstGeom prst="rect">
            <a:avLst/>
          </a:prstGeom>
          <a:noFill/>
          <a:ln/>
        </p:spPr>
        <p:txBody>
          <a:bodyPr wrap="square" lIns="0" tIns="0" rIns="0" bIns="0" rtlCol="0" anchor="ctr">
            <a:normAutofit/>
          </a:bodyPr>
          <a:lstStyle/>
          <a:p>
            <a:pPr marL="0" indent="0">
              <a:buNone/>
            </a:pPr>
            <a:r>
              <a:rPr lang="en-US" sz="1800" dirty="0">
                <a:solidFill>
                  <a:srgbClr val="CBBFA8"/>
                </a:solidFill>
              </a:rPr>
              <a:t>The opportunity and the responsibility arrive together.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FRAMING</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AI is already a workplace tool</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AI is no longer a future topic. Employees can reach powerful tools from a browser, and AI is being built into software they already use.</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795528" y="4379976"/>
            <a:ext cx="411480" cy="320040"/>
          </a:xfrm>
          <a:prstGeom prst="rect">
            <a:avLst/>
          </a:prstGeom>
          <a:noFill/>
          <a:ln/>
        </p:spPr>
        <p:txBody>
          <a:bodyPr wrap="square" lIns="0" tIns="0" rIns="0" bIns="0" rtlCol="0" anchor="ctr"/>
          <a:lstStyle/>
          <a:p>
            <a:pPr marL="0" indent="0">
              <a:buNone/>
            </a:pPr>
            <a:r>
              <a:rPr lang="en-US" sz="1600" dirty="0">
                <a:solidFill>
                  <a:srgbClr val="F0D49A"/>
                </a:solidFill>
              </a:rPr>
              <a:t>A</a:t>
            </a:r>
            <a:endParaRPr lang="en-US" sz="1600" dirty="0"/>
          </a:p>
        </p:txBody>
      </p:sp>
      <p:sp>
        <p:nvSpPr>
          <p:cNvPr id="13" name="Text 11"/>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Bottom-up adoption</a:t>
            </a:r>
            <a:endParaRPr lang="en-US" sz="1500" dirty="0"/>
          </a:p>
        </p:txBody>
      </p:sp>
      <p:sp>
        <p:nvSpPr>
          <p:cNvPr id="14" name="Text 12"/>
          <p:cNvSpPr/>
          <p:nvPr/>
        </p:nvSpPr>
        <p:spPr>
          <a:xfrm>
            <a:off x="868680"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People will try free tools before policy is ready.</a:t>
            </a:r>
            <a:endParaRPr lang="en-US" sz="1050" dirty="0"/>
          </a:p>
        </p:txBody>
      </p:sp>
      <p:sp>
        <p:nvSpPr>
          <p:cNvPr id="15" name="Shape 13"/>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6" name="Text 14"/>
          <p:cNvSpPr/>
          <p:nvPr/>
        </p:nvSpPr>
        <p:spPr>
          <a:xfrm>
            <a:off x="4477512" y="4379976"/>
            <a:ext cx="411480" cy="320040"/>
          </a:xfrm>
          <a:prstGeom prst="rect">
            <a:avLst/>
          </a:prstGeom>
          <a:noFill/>
          <a:ln/>
        </p:spPr>
        <p:txBody>
          <a:bodyPr wrap="square" lIns="0" tIns="0" rIns="0" bIns="0" rtlCol="0" anchor="ctr"/>
          <a:lstStyle/>
          <a:p>
            <a:pPr marL="0" indent="0">
              <a:buNone/>
            </a:pPr>
            <a:r>
              <a:rPr lang="en-US" sz="1600" dirty="0">
                <a:solidFill>
                  <a:srgbClr val="F0D49A"/>
                </a:solidFill>
              </a:rPr>
              <a:t>B</a:t>
            </a:r>
            <a:endParaRPr lang="en-US" sz="1600" dirty="0"/>
          </a:p>
        </p:txBody>
      </p:sp>
      <p:sp>
        <p:nvSpPr>
          <p:cNvPr id="17" name="Text 15"/>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Real upside</a:t>
            </a:r>
            <a:endParaRPr lang="en-US" sz="1500" dirty="0"/>
          </a:p>
        </p:txBody>
      </p:sp>
      <p:sp>
        <p:nvSpPr>
          <p:cNvPr id="18" name="Text 16"/>
          <p:cNvSpPr/>
          <p:nvPr/>
        </p:nvSpPr>
        <p:spPr>
          <a:xfrm>
            <a:off x="4550664"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Drafting, summarizing, research, and workflow support can save time.</a:t>
            </a:r>
            <a:endParaRPr lang="en-US" sz="1050" dirty="0"/>
          </a:p>
        </p:txBody>
      </p:sp>
      <p:sp>
        <p:nvSpPr>
          <p:cNvPr id="19" name="Shape 17"/>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0" name="Text 18"/>
          <p:cNvSpPr/>
          <p:nvPr/>
        </p:nvSpPr>
        <p:spPr>
          <a:xfrm>
            <a:off x="8159496" y="4379976"/>
            <a:ext cx="411480" cy="320040"/>
          </a:xfrm>
          <a:prstGeom prst="rect">
            <a:avLst/>
          </a:prstGeom>
          <a:noFill/>
          <a:ln/>
        </p:spPr>
        <p:txBody>
          <a:bodyPr wrap="square" lIns="0" tIns="0" rIns="0" bIns="0" rtlCol="0" anchor="ctr"/>
          <a:lstStyle/>
          <a:p>
            <a:pPr marL="0" indent="0">
              <a:buNone/>
            </a:pPr>
            <a:r>
              <a:rPr lang="en-US" sz="1600" dirty="0">
                <a:solidFill>
                  <a:srgbClr val="F0D49A"/>
                </a:solidFill>
              </a:rPr>
              <a:t>C</a:t>
            </a:r>
            <a:endParaRPr lang="en-US" sz="1600" dirty="0"/>
          </a:p>
        </p:txBody>
      </p:sp>
      <p:sp>
        <p:nvSpPr>
          <p:cNvPr id="21" name="Text 19"/>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Real exposure</a:t>
            </a:r>
            <a:endParaRPr lang="en-US" sz="1500" dirty="0"/>
          </a:p>
        </p:txBody>
      </p:sp>
      <p:sp>
        <p:nvSpPr>
          <p:cNvPr id="22" name="Text 20"/>
          <p:cNvSpPr/>
          <p:nvPr/>
        </p:nvSpPr>
        <p:spPr>
          <a:xfrm>
            <a:off x="8232648"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The same tools can leak data, invent facts, or speak for the business.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FRAMING</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Two sides of the same coin</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AI creates value only when Kretz also manages risk, ownership, data, and review.</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789D58"/>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Opportunity</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Faster first drafts, clearer action items, better research, more consistent routine work.</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D49A3D"/>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Responsibility</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Approved tools, protected data, human review, accountability, and clear employee guidance.</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Leadership role</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Set expectations before tool use spreads across departments.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KRETZ CONTEXT</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This session is not generic AI training</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The examples connect to Kretz priorities: governance, communication, sales/forestry workflows, CRM direction, and internal tool-building.</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Governance and policy</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Approved tools, protected data, sign-off, no-fault reporting.</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Kretz DNA</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Voice, values, vocabulary, tone, and owner-thinking.</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Workflow decisions</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When to use AI, existing software, automation, vendor systems, or no AI.</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94360"/>
            <a:ext cx="914400" cy="457200"/>
          </a:xfrm>
          <a:prstGeom prst="rect">
            <a:avLst/>
          </a:prstGeom>
          <a:noFill/>
          <a:ln/>
        </p:spPr>
        <p:txBody>
          <a:bodyPr wrap="square" lIns="0" tIns="0" rIns="0" bIns="0" rtlCol="0" anchor="ctr"/>
          <a:lstStyle/>
          <a:p>
            <a:pPr marL="0" indent="0">
              <a:buNone/>
            </a:pPr>
            <a:r>
              <a:rPr lang="en-US" sz="2000" b="1" dirty="0">
                <a:solidFill>
                  <a:srgbClr val="F0D49A"/>
                </a:solidFill>
              </a:rPr>
              <a:t>02</a:t>
            </a:r>
            <a:endParaRPr lang="en-US" sz="2000" dirty="0"/>
          </a:p>
        </p:txBody>
      </p:sp>
      <p:sp>
        <p:nvSpPr>
          <p:cNvPr id="9" name="Shape 7"/>
          <p:cNvSpPr/>
          <p:nvPr/>
        </p:nvSpPr>
        <p:spPr>
          <a:xfrm>
            <a:off x="594360" y="1078992"/>
            <a:ext cx="10698480" cy="0"/>
          </a:xfrm>
          <a:prstGeom prst="line">
            <a:avLst/>
          </a:prstGeom>
          <a:noFill/>
          <a:ln w="12700">
            <a:solidFill>
              <a:srgbClr val="D49A3D">
                <a:alpha val="82000"/>
              </a:srgbClr>
            </a:solidFill>
            <a:prstDash val="solid"/>
          </a:ln>
        </p:spPr>
        <p:txBody>
          <a:bodyPr/>
          <a:lstStyle/>
          <a:p>
            <a:endParaRPr/>
          </a:p>
        </p:txBody>
      </p:sp>
      <p:sp>
        <p:nvSpPr>
          <p:cNvPr id="10" name="Text 8"/>
          <p:cNvSpPr/>
          <p:nvPr/>
        </p:nvSpPr>
        <p:spPr>
          <a:xfrm>
            <a:off x="594360" y="1645920"/>
            <a:ext cx="8778240" cy="1463040"/>
          </a:xfrm>
          <a:prstGeom prst="rect">
            <a:avLst/>
          </a:prstGeom>
          <a:noFill/>
          <a:ln/>
        </p:spPr>
        <p:txBody>
          <a:bodyPr wrap="square" lIns="0" tIns="0" rIns="0" bIns="0" rtlCol="0" anchor="ctr">
            <a:normAutofit/>
          </a:bodyPr>
          <a:lstStyle/>
          <a:p>
            <a:pPr marL="0" indent="0">
              <a:buNone/>
            </a:pPr>
            <a:r>
              <a:rPr lang="en-US" sz="4300" b="1" dirty="0">
                <a:solidFill>
                  <a:srgbClr val="FFF7E8"/>
                </a:solidFill>
              </a:rPr>
              <a:t>What AI is and is not</a:t>
            </a:r>
            <a:endParaRPr lang="en-US" sz="4300" dirty="0"/>
          </a:p>
        </p:txBody>
      </p:sp>
      <p:sp>
        <p:nvSpPr>
          <p:cNvPr id="11" name="Text 9"/>
          <p:cNvSpPr/>
          <p:nvPr/>
        </p:nvSpPr>
        <p:spPr>
          <a:xfrm>
            <a:off x="621792" y="3246120"/>
            <a:ext cx="7863840" cy="731520"/>
          </a:xfrm>
          <a:prstGeom prst="rect">
            <a:avLst/>
          </a:prstGeom>
          <a:noFill/>
          <a:ln/>
        </p:spPr>
        <p:txBody>
          <a:bodyPr wrap="square" lIns="0" tIns="0" rIns="0" bIns="0" rtlCol="0" anchor="ctr">
            <a:normAutofit/>
          </a:bodyPr>
          <a:lstStyle/>
          <a:p>
            <a:pPr marL="0" indent="0">
              <a:buNone/>
            </a:pPr>
            <a:r>
              <a:rPr lang="en-US" sz="1800" dirty="0">
                <a:solidFill>
                  <a:srgbClr val="CBBFA8"/>
                </a:solidFill>
              </a:rPr>
              <a:t>A plain-language mental model for leaders.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UNDERSTANDING</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What generative AI actually does</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It predicts likely words and patterns. That is why it can be fluent, useful, and confidently wrong at the same time.</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It writes fast</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Summaries, drafts, lists, questions, tables, and code can appear quickly.</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It fills gaps</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92500"/>
          </a:bodyPr>
          <a:lstStyle/>
          <a:p>
            <a:pPr marL="0" indent="0">
              <a:buNone/>
            </a:pPr>
            <a:r>
              <a:rPr lang="en-US" sz="1050" dirty="0">
                <a:solidFill>
                  <a:srgbClr val="CBBFA8"/>
                </a:solidFill>
              </a:rPr>
              <a:t>When it lacks facts, it may produce plausible guesses.</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It needs review</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The person using it must verify anything that matters.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UNDERSTANDING</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What AI is not</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Most AI failures come from expecting the tool to do things it is not built to do safely.</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Not a source of truth</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It may sound certain while being wrong.</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Not a secure default</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92500"/>
          </a:bodyPr>
          <a:lstStyle/>
          <a:p>
            <a:pPr marL="0" indent="0">
              <a:buNone/>
            </a:pPr>
            <a:r>
              <a:rPr lang="en-US" sz="1050" dirty="0">
                <a:solidFill>
                  <a:srgbClr val="CBBFA8"/>
                </a:solidFill>
              </a:rPr>
              <a:t>Public tools may not be appropriate for sensitive data.</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Not accountable</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The business and the person using it own the output.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TOOL LANDSCAPE</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Current AI tool categories</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Leaders do not need every tool. They need to know which category matches which type of problem.</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General assistants</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ChatGPT, Claude, Gemini for writing, analysis, Q&amp;A.</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Workplace copilots</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Microsoft Copilot and similar tools inside email, documents, meetings.</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Custom GPTs</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Narrow assistants with stable instructions, examples, and review rules.</a:t>
            </a:r>
            <a:endParaRPr lang="en-US" sz="1050" dirty="0"/>
          </a:p>
        </p:txBody>
      </p:sp>
      <p:sp>
        <p:nvSpPr>
          <p:cNvPr id="20" name="Shape 18"/>
          <p:cNvSpPr/>
          <p:nvPr/>
        </p:nvSpPr>
        <p:spPr>
          <a:xfrm>
            <a:off x="640080"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1" name="Text 19"/>
          <p:cNvSpPr/>
          <p:nvPr/>
        </p:nvSpPr>
        <p:spPr>
          <a:xfrm>
            <a:off x="868680"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Automation tools</a:t>
            </a:r>
            <a:endParaRPr lang="en-US" sz="1500" dirty="0"/>
          </a:p>
        </p:txBody>
      </p:sp>
      <p:sp>
        <p:nvSpPr>
          <p:cNvPr id="22" name="Text 20"/>
          <p:cNvSpPr/>
          <p:nvPr/>
        </p:nvSpPr>
        <p:spPr>
          <a:xfrm>
            <a:off x="868680" y="5934456"/>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Connect systems, create reminders, route forms, update tasks.</a:t>
            </a:r>
            <a:endParaRPr lang="en-US" sz="1050" dirty="0"/>
          </a:p>
        </p:txBody>
      </p:sp>
      <p:sp>
        <p:nvSpPr>
          <p:cNvPr id="23" name="Shape 21"/>
          <p:cNvSpPr/>
          <p:nvPr/>
        </p:nvSpPr>
        <p:spPr>
          <a:xfrm>
            <a:off x="4322064"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4" name="Text 22"/>
          <p:cNvSpPr/>
          <p:nvPr/>
        </p:nvSpPr>
        <p:spPr>
          <a:xfrm>
            <a:off x="4550664"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Data/research tools</a:t>
            </a:r>
            <a:endParaRPr lang="en-US" sz="1500" dirty="0"/>
          </a:p>
        </p:txBody>
      </p:sp>
      <p:sp>
        <p:nvSpPr>
          <p:cNvPr id="25" name="Text 23"/>
          <p:cNvSpPr/>
          <p:nvPr/>
        </p:nvSpPr>
        <p:spPr>
          <a:xfrm>
            <a:off x="4550664" y="5934456"/>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Organize information, compare options, prepare vendor questions.</a:t>
            </a:r>
            <a:endParaRPr lang="en-US" sz="1050" dirty="0"/>
          </a:p>
        </p:txBody>
      </p:sp>
      <p:sp>
        <p:nvSpPr>
          <p:cNvPr id="26" name="Shape 24"/>
          <p:cNvSpPr/>
          <p:nvPr/>
        </p:nvSpPr>
        <p:spPr>
          <a:xfrm>
            <a:off x="8004048"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7" name="Text 25"/>
          <p:cNvSpPr/>
          <p:nvPr/>
        </p:nvSpPr>
        <p:spPr>
          <a:xfrm>
            <a:off x="8232648"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Vendor/industry systems</a:t>
            </a:r>
            <a:endParaRPr lang="en-US" sz="1500" dirty="0"/>
          </a:p>
        </p:txBody>
      </p:sp>
      <p:sp>
        <p:nvSpPr>
          <p:cNvPr id="28" name="Text 26"/>
          <p:cNvSpPr/>
          <p:nvPr/>
        </p:nvSpPr>
        <p:spPr>
          <a:xfrm>
            <a:off x="8232648" y="5934456"/>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CRM, manufacturing, grading, logistics, safety, and operations platforms.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94360"/>
            <a:ext cx="914400" cy="457200"/>
          </a:xfrm>
          <a:prstGeom prst="rect">
            <a:avLst/>
          </a:prstGeom>
          <a:noFill/>
          <a:ln/>
        </p:spPr>
        <p:txBody>
          <a:bodyPr wrap="square" lIns="0" tIns="0" rIns="0" bIns="0" rtlCol="0" anchor="ctr"/>
          <a:lstStyle/>
          <a:p>
            <a:pPr marL="0" indent="0">
              <a:buNone/>
            </a:pPr>
            <a:r>
              <a:rPr lang="en-US" sz="2000" b="1" dirty="0">
                <a:solidFill>
                  <a:srgbClr val="F0D49A"/>
                </a:solidFill>
              </a:rPr>
              <a:t>03</a:t>
            </a:r>
            <a:endParaRPr lang="en-US" sz="2000" dirty="0"/>
          </a:p>
        </p:txBody>
      </p:sp>
      <p:sp>
        <p:nvSpPr>
          <p:cNvPr id="9" name="Shape 7"/>
          <p:cNvSpPr/>
          <p:nvPr/>
        </p:nvSpPr>
        <p:spPr>
          <a:xfrm>
            <a:off x="594360" y="1078992"/>
            <a:ext cx="10698480" cy="0"/>
          </a:xfrm>
          <a:prstGeom prst="line">
            <a:avLst/>
          </a:prstGeom>
          <a:noFill/>
          <a:ln w="12700">
            <a:solidFill>
              <a:srgbClr val="D49A3D">
                <a:alpha val="82000"/>
              </a:srgbClr>
            </a:solidFill>
            <a:prstDash val="solid"/>
          </a:ln>
        </p:spPr>
        <p:txBody>
          <a:bodyPr/>
          <a:lstStyle/>
          <a:p>
            <a:endParaRPr/>
          </a:p>
        </p:txBody>
      </p:sp>
      <p:sp>
        <p:nvSpPr>
          <p:cNvPr id="10" name="Text 8"/>
          <p:cNvSpPr/>
          <p:nvPr/>
        </p:nvSpPr>
        <p:spPr>
          <a:xfrm>
            <a:off x="594360" y="1645920"/>
            <a:ext cx="8778240" cy="1463040"/>
          </a:xfrm>
          <a:prstGeom prst="rect">
            <a:avLst/>
          </a:prstGeom>
          <a:noFill/>
          <a:ln/>
        </p:spPr>
        <p:txBody>
          <a:bodyPr wrap="square" lIns="0" tIns="0" rIns="0" bIns="0" rtlCol="0" anchor="ctr">
            <a:normAutofit/>
          </a:bodyPr>
          <a:lstStyle/>
          <a:p>
            <a:pPr marL="0" indent="0">
              <a:buNone/>
            </a:pPr>
            <a:r>
              <a:rPr lang="en-US" sz="4300" b="1" dirty="0">
                <a:solidFill>
                  <a:srgbClr val="FFF7E8"/>
                </a:solidFill>
              </a:rPr>
              <a:t>Real-world AI warnings</a:t>
            </a:r>
            <a:endParaRPr lang="en-US" sz="4300" dirty="0"/>
          </a:p>
        </p:txBody>
      </p:sp>
      <p:sp>
        <p:nvSpPr>
          <p:cNvPr id="11" name="Text 9"/>
          <p:cNvSpPr/>
          <p:nvPr/>
        </p:nvSpPr>
        <p:spPr>
          <a:xfrm>
            <a:off x="621792" y="3246120"/>
            <a:ext cx="7863840" cy="731520"/>
          </a:xfrm>
          <a:prstGeom prst="rect">
            <a:avLst/>
          </a:prstGeom>
          <a:noFill/>
          <a:ln/>
        </p:spPr>
        <p:txBody>
          <a:bodyPr wrap="square" lIns="0" tIns="0" rIns="0" bIns="0" rtlCol="0" anchor="ctr">
            <a:normAutofit/>
          </a:bodyPr>
          <a:lstStyle/>
          <a:p>
            <a:pPr marL="0" indent="0">
              <a:buNone/>
            </a:pPr>
            <a:r>
              <a:rPr lang="en-US" sz="1800" dirty="0">
                <a:solidFill>
                  <a:srgbClr val="CBBFA8"/>
                </a:solidFill>
              </a:rPr>
              <a:t>Each source is clickable. Each case points to a governance lesson.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2926080" cy="274320"/>
          </a:xfrm>
          <a:prstGeom prst="rect">
            <a:avLst/>
          </a:prstGeom>
          <a:noFill/>
          <a:ln/>
        </p:spPr>
        <p:txBody>
          <a:bodyPr wrap="square" lIns="0" tIns="0" rIns="0" bIns="0" rtlCol="0" anchor="ctr"/>
          <a:lstStyle/>
          <a:p>
            <a:pPr marL="0" indent="0">
              <a:buNone/>
            </a:pPr>
            <a:r>
              <a:rPr lang="en-US" sz="1050" b="1" dirty="0">
                <a:solidFill>
                  <a:srgbClr val="F0D49A"/>
                </a:solidFill>
              </a:rPr>
              <a:t>AI NEWS BREAK</a:t>
            </a:r>
            <a:endParaRPr lang="en-US" sz="1050" dirty="0"/>
          </a:p>
        </p:txBody>
      </p:sp>
      <p:sp>
        <p:nvSpPr>
          <p:cNvPr id="9" name="Text 7"/>
          <p:cNvSpPr/>
          <p:nvPr/>
        </p:nvSpPr>
        <p:spPr>
          <a:xfrm>
            <a:off x="594360" y="914400"/>
            <a:ext cx="10607040" cy="822960"/>
          </a:xfrm>
          <a:prstGeom prst="rect">
            <a:avLst/>
          </a:prstGeom>
          <a:noFill/>
          <a:ln/>
        </p:spPr>
        <p:txBody>
          <a:bodyPr wrap="square" lIns="0" tIns="0" rIns="0" bIns="0" rtlCol="0" anchor="ctr">
            <a:normAutofit/>
          </a:bodyPr>
          <a:lstStyle/>
          <a:p>
            <a:pPr marL="0" indent="0">
              <a:buNone/>
            </a:pPr>
            <a:r>
              <a:rPr lang="en-US" sz="2700" b="1" dirty="0">
                <a:solidFill>
                  <a:srgbClr val="FFF7E8"/>
                </a:solidFill>
              </a:rPr>
              <a:t>Air Canada: the chatbot became </a:t>
            </a:r>
          </a:p>
          <a:p>
            <a:pPr marL="0" indent="0">
              <a:buNone/>
            </a:pPr>
            <a:r>
              <a:rPr lang="en-US" sz="2700" b="1" dirty="0">
                <a:solidFill>
                  <a:srgbClr val="FFF7E8"/>
                </a:solidFill>
              </a:rPr>
              <a:t>the company voice</a:t>
            </a:r>
            <a:endParaRPr lang="en-US" sz="2700" dirty="0"/>
          </a:p>
        </p:txBody>
      </p:sp>
      <p:sp>
        <p:nvSpPr>
          <p:cNvPr id="10" name="Text 8"/>
          <p:cNvSpPr/>
          <p:nvPr/>
        </p:nvSpPr>
        <p:spPr>
          <a:xfrm>
            <a:off x="640080" y="1965960"/>
            <a:ext cx="5669280" cy="1051560"/>
          </a:xfrm>
          <a:prstGeom prst="rect">
            <a:avLst/>
          </a:prstGeom>
          <a:noFill/>
          <a:ln/>
        </p:spPr>
        <p:txBody>
          <a:bodyPr wrap="square" lIns="0" tIns="0" rIns="0" bIns="0" rtlCol="0" anchor="ctr">
            <a:normAutofit/>
          </a:bodyPr>
          <a:lstStyle/>
          <a:p>
            <a:pPr marL="0" indent="0">
              <a:buNone/>
            </a:pPr>
            <a:r>
              <a:rPr lang="en-US" sz="1600" dirty="0">
                <a:solidFill>
                  <a:srgbClr val="CBBFA8"/>
                </a:solidFill>
              </a:rPr>
              <a:t>A customer relied on incorrect bereavement fare information from Air Canada's chatbot. The tribunal held the company responsible.</a:t>
            </a:r>
            <a:endParaRPr lang="en-US" sz="1600" dirty="0"/>
          </a:p>
        </p:txBody>
      </p:sp>
      <p:sp>
        <p:nvSpPr>
          <p:cNvPr id="11" name="Shape 9"/>
          <p:cNvSpPr/>
          <p:nvPr/>
        </p:nvSpPr>
        <p:spPr>
          <a:xfrm>
            <a:off x="6629400" y="1005840"/>
            <a:ext cx="4892040" cy="1965960"/>
          </a:xfrm>
          <a:prstGeom prst="roundRect">
            <a:avLst>
              <a:gd name="adj" fmla="val 6047"/>
            </a:avLst>
          </a:prstGeom>
          <a:solidFill>
            <a:srgbClr val="5A201D"/>
          </a:solidFill>
          <a:ln w="12700">
            <a:solidFill>
              <a:srgbClr val="C4564B"/>
            </a:solidFill>
            <a:prstDash val="solid"/>
          </a:ln>
        </p:spPr>
        <p:txBody>
          <a:bodyPr/>
          <a:lstStyle/>
          <a:p>
            <a:endParaRPr/>
          </a:p>
        </p:txBody>
      </p:sp>
      <p:sp>
        <p:nvSpPr>
          <p:cNvPr id="12" name="Text 10"/>
          <p:cNvSpPr/>
          <p:nvPr/>
        </p:nvSpPr>
        <p:spPr>
          <a:xfrm>
            <a:off x="6858000" y="1225296"/>
            <a:ext cx="443484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What happened</a:t>
            </a:r>
            <a:endParaRPr lang="en-US" sz="1500" dirty="0"/>
          </a:p>
        </p:txBody>
      </p:sp>
      <p:sp>
        <p:nvSpPr>
          <p:cNvPr id="13" name="Text 11"/>
          <p:cNvSpPr/>
          <p:nvPr/>
        </p:nvSpPr>
        <p:spPr>
          <a:xfrm>
            <a:off x="6858000" y="1627632"/>
            <a:ext cx="4434840" cy="1188720"/>
          </a:xfrm>
          <a:prstGeom prst="rect">
            <a:avLst/>
          </a:prstGeom>
          <a:noFill/>
          <a:ln/>
        </p:spPr>
        <p:txBody>
          <a:bodyPr wrap="square" lIns="0" tIns="0" rIns="0" bIns="0" rtlCol="0" anchor="ctr">
            <a:normAutofit/>
          </a:bodyPr>
          <a:lstStyle/>
          <a:p>
            <a:pPr marL="0" indent="0">
              <a:buNone/>
            </a:pPr>
            <a:r>
              <a:rPr lang="en-US" sz="1050" dirty="0">
                <a:solidFill>
                  <a:srgbClr val="FFE1DC"/>
                </a:solidFill>
              </a:rPr>
              <a:t>Customer-facing AI gave wrong policy guidance. The company could not treat the chatbot as a separate entity.</a:t>
            </a:r>
            <a:endParaRPr lang="en-US" sz="1050" dirty="0"/>
          </a:p>
        </p:txBody>
      </p:sp>
      <p:sp>
        <p:nvSpPr>
          <p:cNvPr id="14" name="Shape 12"/>
          <p:cNvSpPr/>
          <p:nvPr/>
        </p:nvSpPr>
        <p:spPr>
          <a:xfrm>
            <a:off x="640080" y="3886200"/>
            <a:ext cx="5349240" cy="1325880"/>
          </a:xfrm>
          <a:prstGeom prst="roundRect">
            <a:avLst>
              <a:gd name="adj" fmla="val 8966"/>
            </a:avLst>
          </a:prstGeom>
          <a:solidFill>
            <a:srgbClr val="1B2116"/>
          </a:solidFill>
          <a:ln w="12700">
            <a:solidFill>
              <a:srgbClr val="D49A3D"/>
            </a:solidFill>
            <a:prstDash val="solid"/>
          </a:ln>
        </p:spPr>
        <p:txBody>
          <a:bodyPr/>
          <a:lstStyle/>
          <a:p>
            <a:endParaRPr/>
          </a:p>
        </p:txBody>
      </p:sp>
      <p:sp>
        <p:nvSpPr>
          <p:cNvPr id="15" name="Text 13"/>
          <p:cNvSpPr/>
          <p:nvPr/>
        </p:nvSpPr>
        <p:spPr>
          <a:xfrm>
            <a:off x="868680" y="4105656"/>
            <a:ext cx="4892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6" name="Text 14"/>
          <p:cNvSpPr/>
          <p:nvPr/>
        </p:nvSpPr>
        <p:spPr>
          <a:xfrm>
            <a:off x="868680" y="4507992"/>
            <a:ext cx="489204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Your AI's words are your words. Customer-facing AI needs testing, limits, and review.</a:t>
            </a:r>
            <a:endParaRPr lang="en-US" sz="1050" dirty="0"/>
          </a:p>
        </p:txBody>
      </p:sp>
      <p:sp>
        <p:nvSpPr>
          <p:cNvPr id="17" name="Shape 15"/>
          <p:cNvSpPr/>
          <p:nvPr/>
        </p:nvSpPr>
        <p:spPr>
          <a:xfrm>
            <a:off x="6263640" y="3886200"/>
            <a:ext cx="5257800" cy="1325880"/>
          </a:xfrm>
          <a:prstGeom prst="roundRect">
            <a:avLst>
              <a:gd name="adj" fmla="val 8966"/>
            </a:avLst>
          </a:prstGeom>
          <a:solidFill>
            <a:srgbClr val="242B1D"/>
          </a:solidFill>
          <a:ln w="12700">
            <a:solidFill>
              <a:srgbClr val="789D58"/>
            </a:solidFill>
            <a:prstDash val="solid"/>
          </a:ln>
        </p:spPr>
        <p:txBody>
          <a:bodyPr/>
          <a:lstStyle/>
          <a:p>
            <a:endParaRPr/>
          </a:p>
        </p:txBody>
      </p:sp>
      <p:sp>
        <p:nvSpPr>
          <p:cNvPr id="18" name="Text 16"/>
          <p:cNvSpPr/>
          <p:nvPr/>
        </p:nvSpPr>
        <p:spPr>
          <a:xfrm>
            <a:off x="6492240" y="4105656"/>
            <a:ext cx="48006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Kretz question</a:t>
            </a:r>
            <a:endParaRPr lang="en-US" sz="1500" dirty="0"/>
          </a:p>
        </p:txBody>
      </p:sp>
      <p:sp>
        <p:nvSpPr>
          <p:cNvPr id="19" name="Text 17"/>
          <p:cNvSpPr/>
          <p:nvPr/>
        </p:nvSpPr>
        <p:spPr>
          <a:xfrm>
            <a:off x="6492240" y="4507992"/>
            <a:ext cx="480060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Would Kretz allow AI to answer customer or landowner questions without a review path?</a:t>
            </a:r>
            <a:endParaRPr lang="en-US" sz="1050" dirty="0"/>
          </a:p>
        </p:txBody>
      </p:sp>
      <p:sp>
        <p:nvSpPr>
          <p:cNvPr id="20" name="Text 18">
            <a:hlinkClick r:id="rId3"/>
          </p:cNvPr>
          <p:cNvSpPr/>
          <p:nvPr/>
        </p:nvSpPr>
        <p:spPr>
          <a:xfrm>
            <a:off x="640080" y="559612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source</a:t>
            </a:r>
            <a:endParaRPr lang="en-US" sz="850" dirty="0"/>
          </a:p>
        </p:txBody>
      </p:sp>
      <p:sp>
        <p:nvSpPr>
          <p:cNvPr id="21" name="Text 19"/>
          <p:cNvSpPr/>
          <p:nvPr/>
        </p:nvSpPr>
        <p:spPr>
          <a:xfrm>
            <a:off x="1874520" y="5605272"/>
            <a:ext cx="8046720" cy="219456"/>
          </a:xfrm>
          <a:prstGeom prst="rect">
            <a:avLst/>
          </a:prstGeom>
          <a:noFill/>
          <a:ln/>
        </p:spPr>
        <p:txBody>
          <a:bodyPr wrap="square" lIns="0" tIns="0" rIns="0" bIns="0" rtlCol="0" anchor="ctr">
            <a:normAutofit/>
          </a:bodyPr>
          <a:lstStyle/>
          <a:p>
            <a:pPr marL="0" indent="0">
              <a:buNone/>
            </a:pPr>
            <a:r>
              <a:rPr lang="en-US" sz="750" dirty="0">
                <a:solidFill>
                  <a:srgbClr val="CBBFA8"/>
                </a:solidFill>
              </a:rPr>
              <a:t>www.americanbar.org/groups/business_law/resources/business-law-today/2024-february/bc-tribunal-confirms-companies-remain-liable-information-provided-ai-chatbot/</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2926080" cy="274320"/>
          </a:xfrm>
          <a:prstGeom prst="rect">
            <a:avLst/>
          </a:prstGeom>
          <a:noFill/>
          <a:ln/>
        </p:spPr>
        <p:txBody>
          <a:bodyPr wrap="square" lIns="0" tIns="0" rIns="0" bIns="0" rtlCol="0" anchor="ctr"/>
          <a:lstStyle/>
          <a:p>
            <a:pPr marL="0" indent="0">
              <a:buNone/>
            </a:pPr>
            <a:r>
              <a:rPr lang="en-US" sz="1050" b="1" dirty="0">
                <a:solidFill>
                  <a:srgbClr val="F0D49A"/>
                </a:solidFill>
              </a:rPr>
              <a:t>AI NEWS BREAK</a:t>
            </a:r>
            <a:endParaRPr lang="en-US" sz="1050" dirty="0"/>
          </a:p>
        </p:txBody>
      </p:sp>
      <p:sp>
        <p:nvSpPr>
          <p:cNvPr id="9" name="Text 7"/>
          <p:cNvSpPr/>
          <p:nvPr/>
        </p:nvSpPr>
        <p:spPr>
          <a:xfrm>
            <a:off x="594360" y="914400"/>
            <a:ext cx="10607040" cy="822960"/>
          </a:xfrm>
          <a:prstGeom prst="rect">
            <a:avLst/>
          </a:prstGeom>
          <a:noFill/>
          <a:ln/>
        </p:spPr>
        <p:txBody>
          <a:bodyPr wrap="square" lIns="0" tIns="0" rIns="0" bIns="0" rtlCol="0" anchor="ctr">
            <a:normAutofit/>
          </a:bodyPr>
          <a:lstStyle/>
          <a:p>
            <a:pPr marL="0" indent="0">
              <a:buNone/>
            </a:pPr>
            <a:r>
              <a:rPr lang="en-US" sz="2700" b="1" dirty="0">
                <a:solidFill>
                  <a:srgbClr val="FFF7E8"/>
                </a:solidFill>
              </a:rPr>
              <a:t>Mata v. Avianca: confident output, </a:t>
            </a:r>
          </a:p>
          <a:p>
            <a:pPr marL="0" indent="0">
              <a:buNone/>
            </a:pPr>
            <a:r>
              <a:rPr lang="en-US" sz="2700" b="1" dirty="0">
                <a:solidFill>
                  <a:srgbClr val="FFF7E8"/>
                </a:solidFill>
              </a:rPr>
              <a:t>fake cases</a:t>
            </a:r>
            <a:endParaRPr lang="en-US" sz="2700" dirty="0"/>
          </a:p>
        </p:txBody>
      </p:sp>
      <p:sp>
        <p:nvSpPr>
          <p:cNvPr id="10" name="Text 8"/>
          <p:cNvSpPr/>
          <p:nvPr/>
        </p:nvSpPr>
        <p:spPr>
          <a:xfrm>
            <a:off x="640080" y="1965960"/>
            <a:ext cx="5669280" cy="1051560"/>
          </a:xfrm>
          <a:prstGeom prst="rect">
            <a:avLst/>
          </a:prstGeom>
          <a:noFill/>
          <a:ln/>
        </p:spPr>
        <p:txBody>
          <a:bodyPr wrap="square" lIns="0" tIns="0" rIns="0" bIns="0" rtlCol="0" anchor="ctr">
            <a:normAutofit/>
          </a:bodyPr>
          <a:lstStyle/>
          <a:p>
            <a:pPr marL="0" indent="0">
              <a:buNone/>
            </a:pPr>
            <a:r>
              <a:rPr lang="en-US" sz="1600" dirty="0">
                <a:solidFill>
                  <a:srgbClr val="CBBFA8"/>
                </a:solidFill>
              </a:rPr>
              <a:t>Attorneys submitted court filings with fake cases generated by ChatGPT and were sanctioned.</a:t>
            </a:r>
            <a:endParaRPr lang="en-US" sz="1600" dirty="0"/>
          </a:p>
        </p:txBody>
      </p:sp>
      <p:sp>
        <p:nvSpPr>
          <p:cNvPr id="11" name="Shape 9"/>
          <p:cNvSpPr/>
          <p:nvPr/>
        </p:nvSpPr>
        <p:spPr>
          <a:xfrm>
            <a:off x="6629400" y="1005840"/>
            <a:ext cx="4892040" cy="1965960"/>
          </a:xfrm>
          <a:prstGeom prst="roundRect">
            <a:avLst>
              <a:gd name="adj" fmla="val 6047"/>
            </a:avLst>
          </a:prstGeom>
          <a:solidFill>
            <a:srgbClr val="5A201D"/>
          </a:solidFill>
          <a:ln w="12700">
            <a:solidFill>
              <a:srgbClr val="C4564B"/>
            </a:solidFill>
            <a:prstDash val="solid"/>
          </a:ln>
        </p:spPr>
        <p:txBody>
          <a:bodyPr/>
          <a:lstStyle/>
          <a:p>
            <a:endParaRPr/>
          </a:p>
        </p:txBody>
      </p:sp>
      <p:sp>
        <p:nvSpPr>
          <p:cNvPr id="12" name="Text 10"/>
          <p:cNvSpPr/>
          <p:nvPr/>
        </p:nvSpPr>
        <p:spPr>
          <a:xfrm>
            <a:off x="6858000" y="1225296"/>
            <a:ext cx="443484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What happened</a:t>
            </a:r>
            <a:endParaRPr lang="en-US" sz="1500" dirty="0"/>
          </a:p>
        </p:txBody>
      </p:sp>
      <p:sp>
        <p:nvSpPr>
          <p:cNvPr id="13" name="Text 11"/>
          <p:cNvSpPr/>
          <p:nvPr/>
        </p:nvSpPr>
        <p:spPr>
          <a:xfrm>
            <a:off x="6858000" y="1627632"/>
            <a:ext cx="4434840" cy="1188720"/>
          </a:xfrm>
          <a:prstGeom prst="rect">
            <a:avLst/>
          </a:prstGeom>
          <a:noFill/>
          <a:ln/>
        </p:spPr>
        <p:txBody>
          <a:bodyPr wrap="square" lIns="0" tIns="0" rIns="0" bIns="0" rtlCol="0" anchor="ctr">
            <a:normAutofit/>
          </a:bodyPr>
          <a:lstStyle/>
          <a:p>
            <a:pPr marL="0" indent="0">
              <a:buNone/>
            </a:pPr>
            <a:r>
              <a:rPr lang="en-US" sz="1050" dirty="0">
                <a:solidFill>
                  <a:srgbClr val="FFE1DC"/>
                </a:solidFill>
              </a:rPr>
              <a:t>The AI-generated citations sounded real, but the underlying legal cases did not exist.</a:t>
            </a:r>
            <a:endParaRPr lang="en-US" sz="1050" dirty="0"/>
          </a:p>
        </p:txBody>
      </p:sp>
      <p:sp>
        <p:nvSpPr>
          <p:cNvPr id="14" name="Shape 12"/>
          <p:cNvSpPr/>
          <p:nvPr/>
        </p:nvSpPr>
        <p:spPr>
          <a:xfrm>
            <a:off x="640080" y="3886200"/>
            <a:ext cx="5349240" cy="1325880"/>
          </a:xfrm>
          <a:prstGeom prst="roundRect">
            <a:avLst>
              <a:gd name="adj" fmla="val 8966"/>
            </a:avLst>
          </a:prstGeom>
          <a:solidFill>
            <a:srgbClr val="1B2116"/>
          </a:solidFill>
          <a:ln w="12700">
            <a:solidFill>
              <a:srgbClr val="D49A3D"/>
            </a:solidFill>
            <a:prstDash val="solid"/>
          </a:ln>
        </p:spPr>
        <p:txBody>
          <a:bodyPr/>
          <a:lstStyle/>
          <a:p>
            <a:endParaRPr/>
          </a:p>
        </p:txBody>
      </p:sp>
      <p:sp>
        <p:nvSpPr>
          <p:cNvPr id="15" name="Text 13"/>
          <p:cNvSpPr/>
          <p:nvPr/>
        </p:nvSpPr>
        <p:spPr>
          <a:xfrm>
            <a:off x="868680" y="4105656"/>
            <a:ext cx="4892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6" name="Text 14"/>
          <p:cNvSpPr/>
          <p:nvPr/>
        </p:nvSpPr>
        <p:spPr>
          <a:xfrm>
            <a:off x="868680" y="4507992"/>
            <a:ext cx="489204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Confident language is not verification. High-risk outputs require source checking.</a:t>
            </a:r>
            <a:endParaRPr lang="en-US" sz="1050" dirty="0"/>
          </a:p>
        </p:txBody>
      </p:sp>
      <p:sp>
        <p:nvSpPr>
          <p:cNvPr id="17" name="Shape 15"/>
          <p:cNvSpPr/>
          <p:nvPr/>
        </p:nvSpPr>
        <p:spPr>
          <a:xfrm>
            <a:off x="6263640" y="3886200"/>
            <a:ext cx="5257800" cy="1325880"/>
          </a:xfrm>
          <a:prstGeom prst="roundRect">
            <a:avLst>
              <a:gd name="adj" fmla="val 8966"/>
            </a:avLst>
          </a:prstGeom>
          <a:solidFill>
            <a:srgbClr val="242B1D"/>
          </a:solidFill>
          <a:ln w="12700">
            <a:solidFill>
              <a:srgbClr val="789D58"/>
            </a:solidFill>
            <a:prstDash val="solid"/>
          </a:ln>
        </p:spPr>
        <p:txBody>
          <a:bodyPr/>
          <a:lstStyle/>
          <a:p>
            <a:endParaRPr/>
          </a:p>
        </p:txBody>
      </p:sp>
      <p:sp>
        <p:nvSpPr>
          <p:cNvPr id="18" name="Text 16"/>
          <p:cNvSpPr/>
          <p:nvPr/>
        </p:nvSpPr>
        <p:spPr>
          <a:xfrm>
            <a:off x="6492240" y="4105656"/>
            <a:ext cx="48006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Kretz question</a:t>
            </a:r>
            <a:endParaRPr lang="en-US" sz="1500" dirty="0"/>
          </a:p>
        </p:txBody>
      </p:sp>
      <p:sp>
        <p:nvSpPr>
          <p:cNvPr id="19" name="Text 17"/>
          <p:cNvSpPr/>
          <p:nvPr/>
        </p:nvSpPr>
        <p:spPr>
          <a:xfrm>
            <a:off x="6492240" y="4507992"/>
            <a:ext cx="480060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Which Kretz outputs require fact, source, or data verification before use?</a:t>
            </a:r>
            <a:endParaRPr lang="en-US" sz="1050" dirty="0"/>
          </a:p>
        </p:txBody>
      </p:sp>
      <p:sp>
        <p:nvSpPr>
          <p:cNvPr id="20" name="Text 18">
            <a:hlinkClick r:id="rId3"/>
          </p:cNvPr>
          <p:cNvSpPr/>
          <p:nvPr/>
        </p:nvSpPr>
        <p:spPr>
          <a:xfrm>
            <a:off x="640080" y="559612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source</a:t>
            </a:r>
            <a:endParaRPr lang="en-US" sz="850" dirty="0"/>
          </a:p>
        </p:txBody>
      </p:sp>
      <p:sp>
        <p:nvSpPr>
          <p:cNvPr id="21" name="Text 19"/>
          <p:cNvSpPr/>
          <p:nvPr/>
        </p:nvSpPr>
        <p:spPr>
          <a:xfrm>
            <a:off x="1874520" y="5605272"/>
            <a:ext cx="8046720" cy="219456"/>
          </a:xfrm>
          <a:prstGeom prst="rect">
            <a:avLst/>
          </a:prstGeom>
          <a:noFill/>
          <a:ln/>
        </p:spPr>
        <p:txBody>
          <a:bodyPr wrap="square" lIns="0" tIns="0" rIns="0" bIns="0" rtlCol="0" anchor="ctr">
            <a:normAutofit/>
          </a:bodyPr>
          <a:lstStyle/>
          <a:p>
            <a:pPr marL="0" indent="0">
              <a:buNone/>
            </a:pPr>
            <a:r>
              <a:rPr lang="en-US" sz="750" dirty="0">
                <a:solidFill>
                  <a:srgbClr val="CBBFA8"/>
                </a:solidFill>
              </a:rPr>
              <a:t>law.justia.com/cases/federal/district-courts/new-york/nysdce/1%3A2022cv01461/575368/54/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2926080" cy="274320"/>
          </a:xfrm>
          <a:prstGeom prst="rect">
            <a:avLst/>
          </a:prstGeom>
          <a:noFill/>
          <a:ln/>
        </p:spPr>
        <p:txBody>
          <a:bodyPr wrap="square" lIns="0" tIns="0" rIns="0" bIns="0" rtlCol="0" anchor="ctr"/>
          <a:lstStyle/>
          <a:p>
            <a:pPr marL="0" indent="0">
              <a:buNone/>
            </a:pPr>
            <a:r>
              <a:rPr lang="en-US" sz="1050" b="1" dirty="0">
                <a:solidFill>
                  <a:srgbClr val="F0D49A"/>
                </a:solidFill>
              </a:rPr>
              <a:t>AI NEWS BREAK</a:t>
            </a:r>
            <a:endParaRPr lang="en-US" sz="1050" dirty="0"/>
          </a:p>
        </p:txBody>
      </p:sp>
      <p:sp>
        <p:nvSpPr>
          <p:cNvPr id="9" name="Text 7"/>
          <p:cNvSpPr/>
          <p:nvPr/>
        </p:nvSpPr>
        <p:spPr>
          <a:xfrm>
            <a:off x="594360" y="914400"/>
            <a:ext cx="10607040" cy="822960"/>
          </a:xfrm>
          <a:prstGeom prst="rect">
            <a:avLst/>
          </a:prstGeom>
          <a:noFill/>
          <a:ln/>
        </p:spPr>
        <p:txBody>
          <a:bodyPr wrap="square" lIns="0" tIns="0" rIns="0" bIns="0" rtlCol="0" anchor="ctr">
            <a:normAutofit/>
          </a:bodyPr>
          <a:lstStyle/>
          <a:p>
            <a:pPr marL="0" indent="0">
              <a:buNone/>
            </a:pPr>
            <a:r>
              <a:rPr lang="en-US" sz="2700" b="1" dirty="0">
                <a:solidFill>
                  <a:srgbClr val="FFF7E8"/>
                </a:solidFill>
              </a:rPr>
              <a:t>Samsung: good intentions </a:t>
            </a:r>
          </a:p>
          <a:p>
            <a:pPr marL="0" indent="0">
              <a:buNone/>
            </a:pPr>
            <a:r>
              <a:rPr lang="en-US" sz="2700" b="1" dirty="0">
                <a:solidFill>
                  <a:srgbClr val="FFF7E8"/>
                </a:solidFill>
              </a:rPr>
              <a:t>still leaked data</a:t>
            </a:r>
            <a:endParaRPr lang="en-US" sz="2700" dirty="0"/>
          </a:p>
        </p:txBody>
      </p:sp>
      <p:sp>
        <p:nvSpPr>
          <p:cNvPr id="10" name="Text 8"/>
          <p:cNvSpPr/>
          <p:nvPr/>
        </p:nvSpPr>
        <p:spPr>
          <a:xfrm>
            <a:off x="640080" y="1965960"/>
            <a:ext cx="5669280" cy="1051560"/>
          </a:xfrm>
          <a:prstGeom prst="rect">
            <a:avLst/>
          </a:prstGeom>
          <a:noFill/>
          <a:ln/>
        </p:spPr>
        <p:txBody>
          <a:bodyPr wrap="square" lIns="0" tIns="0" rIns="0" bIns="0" rtlCol="0" anchor="ctr">
            <a:normAutofit/>
          </a:bodyPr>
          <a:lstStyle/>
          <a:p>
            <a:pPr marL="0" indent="0">
              <a:buNone/>
            </a:pPr>
            <a:r>
              <a:rPr lang="en-US" sz="1600" dirty="0">
                <a:solidFill>
                  <a:srgbClr val="CBBFA8"/>
                </a:solidFill>
              </a:rPr>
              <a:t>Samsung reportedly restricted generative AI after employees pasted sensitive internal information into ChatGPT.</a:t>
            </a:r>
            <a:endParaRPr lang="en-US" sz="1600" dirty="0"/>
          </a:p>
        </p:txBody>
      </p:sp>
      <p:sp>
        <p:nvSpPr>
          <p:cNvPr id="11" name="Shape 9"/>
          <p:cNvSpPr/>
          <p:nvPr/>
        </p:nvSpPr>
        <p:spPr>
          <a:xfrm>
            <a:off x="6629400" y="1005840"/>
            <a:ext cx="4892040" cy="1965960"/>
          </a:xfrm>
          <a:prstGeom prst="roundRect">
            <a:avLst>
              <a:gd name="adj" fmla="val 6047"/>
            </a:avLst>
          </a:prstGeom>
          <a:solidFill>
            <a:srgbClr val="5A201D"/>
          </a:solidFill>
          <a:ln w="12700">
            <a:solidFill>
              <a:srgbClr val="C4564B"/>
            </a:solidFill>
            <a:prstDash val="solid"/>
          </a:ln>
        </p:spPr>
        <p:txBody>
          <a:bodyPr/>
          <a:lstStyle/>
          <a:p>
            <a:endParaRPr/>
          </a:p>
        </p:txBody>
      </p:sp>
      <p:sp>
        <p:nvSpPr>
          <p:cNvPr id="12" name="Text 10"/>
          <p:cNvSpPr/>
          <p:nvPr/>
        </p:nvSpPr>
        <p:spPr>
          <a:xfrm>
            <a:off x="6858000" y="1225296"/>
            <a:ext cx="443484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What happened</a:t>
            </a:r>
            <a:endParaRPr lang="en-US" sz="1500" dirty="0"/>
          </a:p>
        </p:txBody>
      </p:sp>
      <p:sp>
        <p:nvSpPr>
          <p:cNvPr id="13" name="Text 11"/>
          <p:cNvSpPr/>
          <p:nvPr/>
        </p:nvSpPr>
        <p:spPr>
          <a:xfrm>
            <a:off x="6858000" y="1627632"/>
            <a:ext cx="4434840" cy="1188720"/>
          </a:xfrm>
          <a:prstGeom prst="rect">
            <a:avLst/>
          </a:prstGeom>
          <a:noFill/>
          <a:ln/>
        </p:spPr>
        <p:txBody>
          <a:bodyPr wrap="square" lIns="0" tIns="0" rIns="0" bIns="0" rtlCol="0" anchor="ctr">
            <a:normAutofit/>
          </a:bodyPr>
          <a:lstStyle/>
          <a:p>
            <a:pPr marL="0" indent="0">
              <a:buNone/>
            </a:pPr>
            <a:r>
              <a:rPr lang="en-US" sz="1050" dirty="0">
                <a:solidFill>
                  <a:srgbClr val="FFE1DC"/>
                </a:solidFill>
              </a:rPr>
              <a:t>Employees were trying to work faster, but sensitive source code and internal notes were exposed to outside tools.</a:t>
            </a:r>
            <a:endParaRPr lang="en-US" sz="1050" dirty="0"/>
          </a:p>
        </p:txBody>
      </p:sp>
      <p:sp>
        <p:nvSpPr>
          <p:cNvPr id="14" name="Shape 12"/>
          <p:cNvSpPr/>
          <p:nvPr/>
        </p:nvSpPr>
        <p:spPr>
          <a:xfrm>
            <a:off x="640080" y="3886200"/>
            <a:ext cx="5349240" cy="1325880"/>
          </a:xfrm>
          <a:prstGeom prst="roundRect">
            <a:avLst>
              <a:gd name="adj" fmla="val 8966"/>
            </a:avLst>
          </a:prstGeom>
          <a:solidFill>
            <a:srgbClr val="1B2116"/>
          </a:solidFill>
          <a:ln w="12700">
            <a:solidFill>
              <a:srgbClr val="D49A3D"/>
            </a:solidFill>
            <a:prstDash val="solid"/>
          </a:ln>
        </p:spPr>
        <p:txBody>
          <a:bodyPr/>
          <a:lstStyle/>
          <a:p>
            <a:endParaRPr/>
          </a:p>
        </p:txBody>
      </p:sp>
      <p:sp>
        <p:nvSpPr>
          <p:cNvPr id="15" name="Text 13"/>
          <p:cNvSpPr/>
          <p:nvPr/>
        </p:nvSpPr>
        <p:spPr>
          <a:xfrm>
            <a:off x="868680" y="4105656"/>
            <a:ext cx="4892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6" name="Text 14"/>
          <p:cNvSpPr/>
          <p:nvPr/>
        </p:nvSpPr>
        <p:spPr>
          <a:xfrm>
            <a:off x="868680" y="4507992"/>
            <a:ext cx="489204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Policy must define what cannot be pasted into public AI tools.</a:t>
            </a:r>
            <a:endParaRPr lang="en-US" sz="1050" dirty="0"/>
          </a:p>
        </p:txBody>
      </p:sp>
      <p:sp>
        <p:nvSpPr>
          <p:cNvPr id="17" name="Shape 15"/>
          <p:cNvSpPr/>
          <p:nvPr/>
        </p:nvSpPr>
        <p:spPr>
          <a:xfrm>
            <a:off x="6263640" y="3886200"/>
            <a:ext cx="5257800" cy="1325880"/>
          </a:xfrm>
          <a:prstGeom prst="roundRect">
            <a:avLst>
              <a:gd name="adj" fmla="val 8966"/>
            </a:avLst>
          </a:prstGeom>
          <a:solidFill>
            <a:srgbClr val="242B1D"/>
          </a:solidFill>
          <a:ln w="12700">
            <a:solidFill>
              <a:srgbClr val="789D58"/>
            </a:solidFill>
            <a:prstDash val="solid"/>
          </a:ln>
        </p:spPr>
        <p:txBody>
          <a:bodyPr/>
          <a:lstStyle/>
          <a:p>
            <a:endParaRPr/>
          </a:p>
        </p:txBody>
      </p:sp>
      <p:sp>
        <p:nvSpPr>
          <p:cNvPr id="18" name="Text 16"/>
          <p:cNvSpPr/>
          <p:nvPr/>
        </p:nvSpPr>
        <p:spPr>
          <a:xfrm>
            <a:off x="6492240" y="4105656"/>
            <a:ext cx="48006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Kretz question</a:t>
            </a:r>
            <a:endParaRPr lang="en-US" sz="1500" dirty="0"/>
          </a:p>
        </p:txBody>
      </p:sp>
      <p:sp>
        <p:nvSpPr>
          <p:cNvPr id="19" name="Text 17"/>
          <p:cNvSpPr/>
          <p:nvPr/>
        </p:nvSpPr>
        <p:spPr>
          <a:xfrm>
            <a:off x="6492240" y="4507992"/>
            <a:ext cx="480060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What Kretz data should be on the never-paste list?</a:t>
            </a:r>
            <a:endParaRPr lang="en-US" sz="1050" dirty="0"/>
          </a:p>
        </p:txBody>
      </p:sp>
      <p:sp>
        <p:nvSpPr>
          <p:cNvPr id="20" name="Text 18">
            <a:hlinkClick r:id="rId3"/>
          </p:cNvPr>
          <p:cNvSpPr/>
          <p:nvPr/>
        </p:nvSpPr>
        <p:spPr>
          <a:xfrm>
            <a:off x="640080" y="559612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source</a:t>
            </a:r>
            <a:endParaRPr lang="en-US" sz="850" dirty="0"/>
          </a:p>
        </p:txBody>
      </p:sp>
      <p:sp>
        <p:nvSpPr>
          <p:cNvPr id="21" name="Text 19"/>
          <p:cNvSpPr/>
          <p:nvPr/>
        </p:nvSpPr>
        <p:spPr>
          <a:xfrm>
            <a:off x="1874520" y="5605272"/>
            <a:ext cx="8046720" cy="219456"/>
          </a:xfrm>
          <a:prstGeom prst="rect">
            <a:avLst/>
          </a:prstGeom>
          <a:noFill/>
          <a:ln/>
        </p:spPr>
        <p:txBody>
          <a:bodyPr wrap="square" lIns="0" tIns="0" rIns="0" bIns="0" rtlCol="0" anchor="ctr">
            <a:normAutofit/>
          </a:bodyPr>
          <a:lstStyle/>
          <a:p>
            <a:pPr marL="0" indent="0">
              <a:buNone/>
            </a:pPr>
            <a:r>
              <a:rPr lang="en-US" sz="750" dirty="0">
                <a:solidFill>
                  <a:srgbClr val="CBBFA8"/>
                </a:solidFill>
              </a:rPr>
              <a:t>techcrunch.com/2023/05/02/samsung-bans-use-of-generative-ai-tools-like-chatgpt-after-april-internal-data-leak/</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2926080" cy="274320"/>
          </a:xfrm>
          <a:prstGeom prst="rect">
            <a:avLst/>
          </a:prstGeom>
          <a:noFill/>
          <a:ln/>
        </p:spPr>
        <p:txBody>
          <a:bodyPr wrap="square" lIns="0" tIns="0" rIns="0" bIns="0" rtlCol="0" anchor="ctr"/>
          <a:lstStyle/>
          <a:p>
            <a:pPr marL="0" indent="0">
              <a:buNone/>
            </a:pPr>
            <a:r>
              <a:rPr lang="en-US" sz="1050" b="1" dirty="0">
                <a:solidFill>
                  <a:srgbClr val="F0D49A"/>
                </a:solidFill>
              </a:rPr>
              <a:t>AI NEWS BREAK</a:t>
            </a:r>
            <a:endParaRPr lang="en-US" sz="1050" dirty="0"/>
          </a:p>
        </p:txBody>
      </p:sp>
      <p:sp>
        <p:nvSpPr>
          <p:cNvPr id="9" name="Text 7"/>
          <p:cNvSpPr/>
          <p:nvPr/>
        </p:nvSpPr>
        <p:spPr>
          <a:xfrm>
            <a:off x="594360" y="914400"/>
            <a:ext cx="10607040" cy="822960"/>
          </a:xfrm>
          <a:prstGeom prst="rect">
            <a:avLst/>
          </a:prstGeom>
          <a:noFill/>
          <a:ln/>
        </p:spPr>
        <p:txBody>
          <a:bodyPr wrap="square" lIns="0" tIns="0" rIns="0" bIns="0" rtlCol="0" anchor="ctr">
            <a:normAutofit/>
          </a:bodyPr>
          <a:lstStyle/>
          <a:p>
            <a:pPr marL="0" indent="0">
              <a:buNone/>
            </a:pPr>
            <a:r>
              <a:rPr lang="en-US" sz="2700" b="1" dirty="0">
                <a:solidFill>
                  <a:srgbClr val="FFF7E8"/>
                </a:solidFill>
              </a:rPr>
              <a:t>DPD: the public chatbot </a:t>
            </a:r>
          </a:p>
          <a:p>
            <a:pPr marL="0" indent="0">
              <a:buNone/>
            </a:pPr>
            <a:r>
              <a:rPr lang="en-US" sz="2700" b="1" dirty="0">
                <a:solidFill>
                  <a:srgbClr val="FFF7E8"/>
                </a:solidFill>
              </a:rPr>
              <a:t>went off-brand</a:t>
            </a:r>
            <a:endParaRPr lang="en-US" sz="2700" dirty="0"/>
          </a:p>
        </p:txBody>
      </p:sp>
      <p:sp>
        <p:nvSpPr>
          <p:cNvPr id="10" name="Text 8"/>
          <p:cNvSpPr/>
          <p:nvPr/>
        </p:nvSpPr>
        <p:spPr>
          <a:xfrm>
            <a:off x="640080" y="1965960"/>
            <a:ext cx="5669280" cy="1051560"/>
          </a:xfrm>
          <a:prstGeom prst="rect">
            <a:avLst/>
          </a:prstGeom>
          <a:noFill/>
          <a:ln/>
        </p:spPr>
        <p:txBody>
          <a:bodyPr wrap="square" lIns="0" tIns="0" rIns="0" bIns="0" rtlCol="0" anchor="ctr">
            <a:normAutofit/>
          </a:bodyPr>
          <a:lstStyle/>
          <a:p>
            <a:pPr marL="0" indent="0">
              <a:buNone/>
            </a:pPr>
            <a:r>
              <a:rPr lang="en-US" sz="1600" dirty="0">
                <a:solidFill>
                  <a:srgbClr val="CBBFA8"/>
                </a:solidFill>
              </a:rPr>
              <a:t>DPD disabled part of its chatbot after it swore, joked, and criticized the company when prompted by a customer.</a:t>
            </a:r>
            <a:endParaRPr lang="en-US" sz="1600" dirty="0"/>
          </a:p>
        </p:txBody>
      </p:sp>
      <p:sp>
        <p:nvSpPr>
          <p:cNvPr id="11" name="Shape 9"/>
          <p:cNvSpPr/>
          <p:nvPr/>
        </p:nvSpPr>
        <p:spPr>
          <a:xfrm>
            <a:off x="6629400" y="1005840"/>
            <a:ext cx="4892040" cy="1965960"/>
          </a:xfrm>
          <a:prstGeom prst="roundRect">
            <a:avLst>
              <a:gd name="adj" fmla="val 6047"/>
            </a:avLst>
          </a:prstGeom>
          <a:solidFill>
            <a:srgbClr val="5A201D"/>
          </a:solidFill>
          <a:ln w="12700">
            <a:solidFill>
              <a:srgbClr val="C4564B"/>
            </a:solidFill>
            <a:prstDash val="solid"/>
          </a:ln>
        </p:spPr>
        <p:txBody>
          <a:bodyPr/>
          <a:lstStyle/>
          <a:p>
            <a:endParaRPr/>
          </a:p>
        </p:txBody>
      </p:sp>
      <p:sp>
        <p:nvSpPr>
          <p:cNvPr id="12" name="Text 10"/>
          <p:cNvSpPr/>
          <p:nvPr/>
        </p:nvSpPr>
        <p:spPr>
          <a:xfrm>
            <a:off x="6858000" y="1225296"/>
            <a:ext cx="443484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What happened</a:t>
            </a:r>
            <a:endParaRPr lang="en-US" sz="1500" dirty="0"/>
          </a:p>
        </p:txBody>
      </p:sp>
      <p:sp>
        <p:nvSpPr>
          <p:cNvPr id="13" name="Text 11"/>
          <p:cNvSpPr/>
          <p:nvPr/>
        </p:nvSpPr>
        <p:spPr>
          <a:xfrm>
            <a:off x="6858000" y="1627632"/>
            <a:ext cx="4434840" cy="1188720"/>
          </a:xfrm>
          <a:prstGeom prst="rect">
            <a:avLst/>
          </a:prstGeom>
          <a:noFill/>
          <a:ln/>
        </p:spPr>
        <p:txBody>
          <a:bodyPr wrap="square" lIns="0" tIns="0" rIns="0" bIns="0" rtlCol="0" anchor="ctr">
            <a:normAutofit/>
          </a:bodyPr>
          <a:lstStyle/>
          <a:p>
            <a:pPr marL="0" indent="0">
              <a:buNone/>
            </a:pPr>
            <a:r>
              <a:rPr lang="en-US" sz="1050" dirty="0">
                <a:solidFill>
                  <a:srgbClr val="FFE1DC"/>
                </a:solidFill>
              </a:rPr>
              <a:t>The chatbot failed in a public customer interaction and created brand damage.</a:t>
            </a:r>
            <a:endParaRPr lang="en-US" sz="1050" dirty="0"/>
          </a:p>
        </p:txBody>
      </p:sp>
      <p:sp>
        <p:nvSpPr>
          <p:cNvPr id="14" name="Shape 12"/>
          <p:cNvSpPr/>
          <p:nvPr/>
        </p:nvSpPr>
        <p:spPr>
          <a:xfrm>
            <a:off x="640080" y="3886200"/>
            <a:ext cx="5349240" cy="1325880"/>
          </a:xfrm>
          <a:prstGeom prst="roundRect">
            <a:avLst>
              <a:gd name="adj" fmla="val 8966"/>
            </a:avLst>
          </a:prstGeom>
          <a:solidFill>
            <a:srgbClr val="1B2116"/>
          </a:solidFill>
          <a:ln w="12700">
            <a:solidFill>
              <a:srgbClr val="D49A3D"/>
            </a:solidFill>
            <a:prstDash val="solid"/>
          </a:ln>
        </p:spPr>
        <p:txBody>
          <a:bodyPr/>
          <a:lstStyle/>
          <a:p>
            <a:endParaRPr/>
          </a:p>
        </p:txBody>
      </p:sp>
      <p:sp>
        <p:nvSpPr>
          <p:cNvPr id="15" name="Text 13"/>
          <p:cNvSpPr/>
          <p:nvPr/>
        </p:nvSpPr>
        <p:spPr>
          <a:xfrm>
            <a:off x="868680" y="4105656"/>
            <a:ext cx="4892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6" name="Text 14"/>
          <p:cNvSpPr/>
          <p:nvPr/>
        </p:nvSpPr>
        <p:spPr>
          <a:xfrm>
            <a:off x="868680" y="4507992"/>
            <a:ext cx="489204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Public-facing AI needs guardrails, monitoring, and a clear fallback to humans.</a:t>
            </a:r>
            <a:endParaRPr lang="en-US" sz="1050" dirty="0"/>
          </a:p>
        </p:txBody>
      </p:sp>
      <p:sp>
        <p:nvSpPr>
          <p:cNvPr id="17" name="Shape 15"/>
          <p:cNvSpPr/>
          <p:nvPr/>
        </p:nvSpPr>
        <p:spPr>
          <a:xfrm>
            <a:off x="6263640" y="3886200"/>
            <a:ext cx="5257800" cy="1325880"/>
          </a:xfrm>
          <a:prstGeom prst="roundRect">
            <a:avLst>
              <a:gd name="adj" fmla="val 8966"/>
            </a:avLst>
          </a:prstGeom>
          <a:solidFill>
            <a:srgbClr val="242B1D"/>
          </a:solidFill>
          <a:ln w="12700">
            <a:solidFill>
              <a:srgbClr val="789D58"/>
            </a:solidFill>
            <a:prstDash val="solid"/>
          </a:ln>
        </p:spPr>
        <p:txBody>
          <a:bodyPr/>
          <a:lstStyle/>
          <a:p>
            <a:endParaRPr/>
          </a:p>
        </p:txBody>
      </p:sp>
      <p:sp>
        <p:nvSpPr>
          <p:cNvPr id="18" name="Text 16"/>
          <p:cNvSpPr/>
          <p:nvPr/>
        </p:nvSpPr>
        <p:spPr>
          <a:xfrm>
            <a:off x="6492240" y="4105656"/>
            <a:ext cx="48006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Kretz question</a:t>
            </a:r>
            <a:endParaRPr lang="en-US" sz="1500" dirty="0"/>
          </a:p>
        </p:txBody>
      </p:sp>
      <p:sp>
        <p:nvSpPr>
          <p:cNvPr id="19" name="Text 17"/>
          <p:cNvSpPr/>
          <p:nvPr/>
        </p:nvSpPr>
        <p:spPr>
          <a:xfrm>
            <a:off x="6492240" y="4507992"/>
            <a:ext cx="480060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Would Kretz want a chatbot speaking publicly without brand and escalation controls?</a:t>
            </a:r>
            <a:endParaRPr lang="en-US" sz="1050" dirty="0"/>
          </a:p>
        </p:txBody>
      </p:sp>
      <p:sp>
        <p:nvSpPr>
          <p:cNvPr id="20" name="Text 18">
            <a:hlinkClick r:id="rId3"/>
          </p:cNvPr>
          <p:cNvSpPr/>
          <p:nvPr/>
        </p:nvSpPr>
        <p:spPr>
          <a:xfrm>
            <a:off x="640080" y="559612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source</a:t>
            </a:r>
            <a:endParaRPr lang="en-US" sz="850" dirty="0"/>
          </a:p>
        </p:txBody>
      </p:sp>
      <p:sp>
        <p:nvSpPr>
          <p:cNvPr id="21" name="Text 19"/>
          <p:cNvSpPr/>
          <p:nvPr/>
        </p:nvSpPr>
        <p:spPr>
          <a:xfrm>
            <a:off x="1874520" y="5605272"/>
            <a:ext cx="8046720" cy="219456"/>
          </a:xfrm>
          <a:prstGeom prst="rect">
            <a:avLst/>
          </a:prstGeom>
          <a:noFill/>
          <a:ln/>
        </p:spPr>
        <p:txBody>
          <a:bodyPr wrap="square" lIns="0" tIns="0" rIns="0" bIns="0" rtlCol="0" anchor="ctr">
            <a:normAutofit/>
          </a:bodyPr>
          <a:lstStyle/>
          <a:p>
            <a:pPr marL="0" indent="0">
              <a:buNone/>
            </a:pPr>
            <a:r>
              <a:rPr lang="en-US" sz="750" dirty="0">
                <a:solidFill>
                  <a:srgbClr val="CBBFA8"/>
                </a:solidFill>
              </a:rPr>
              <a:t>www.theguardian.com/technology/2024/jan/20/dpd-ai-chatbot-swears-calls-itself-useless-and-criticises-firm</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2926080" cy="274320"/>
          </a:xfrm>
          <a:prstGeom prst="rect">
            <a:avLst/>
          </a:prstGeom>
          <a:noFill/>
          <a:ln/>
        </p:spPr>
        <p:txBody>
          <a:bodyPr wrap="square" lIns="0" tIns="0" rIns="0" bIns="0" rtlCol="0" anchor="ctr"/>
          <a:lstStyle/>
          <a:p>
            <a:pPr marL="0" indent="0">
              <a:buNone/>
            </a:pPr>
            <a:r>
              <a:rPr lang="en-US" sz="1050" b="1" dirty="0">
                <a:solidFill>
                  <a:srgbClr val="F0D49A"/>
                </a:solidFill>
              </a:rPr>
              <a:t>AI NEWS BREAK</a:t>
            </a:r>
            <a:endParaRPr lang="en-US" sz="1050" dirty="0"/>
          </a:p>
        </p:txBody>
      </p:sp>
      <p:sp>
        <p:nvSpPr>
          <p:cNvPr id="9" name="Text 7"/>
          <p:cNvSpPr/>
          <p:nvPr/>
        </p:nvSpPr>
        <p:spPr>
          <a:xfrm>
            <a:off x="594360" y="914400"/>
            <a:ext cx="10607040" cy="822960"/>
          </a:xfrm>
          <a:prstGeom prst="rect">
            <a:avLst/>
          </a:prstGeom>
          <a:noFill/>
          <a:ln/>
        </p:spPr>
        <p:txBody>
          <a:bodyPr wrap="square" lIns="0" tIns="0" rIns="0" bIns="0" rtlCol="0" anchor="ctr">
            <a:normAutofit/>
          </a:bodyPr>
          <a:lstStyle/>
          <a:p>
            <a:pPr marL="0" indent="0">
              <a:buNone/>
            </a:pPr>
            <a:r>
              <a:rPr lang="en-US" sz="2700" b="1" dirty="0">
                <a:solidFill>
                  <a:srgbClr val="FFF7E8"/>
                </a:solidFill>
              </a:rPr>
              <a:t>CNET: AI content </a:t>
            </a:r>
          </a:p>
          <a:p>
            <a:pPr marL="0" indent="0">
              <a:buNone/>
            </a:pPr>
            <a:r>
              <a:rPr lang="en-US" sz="2700" b="1" dirty="0">
                <a:solidFill>
                  <a:srgbClr val="FFF7E8"/>
                </a:solidFill>
              </a:rPr>
              <a:t>needed corrections</a:t>
            </a:r>
            <a:endParaRPr lang="en-US" sz="2700" dirty="0"/>
          </a:p>
        </p:txBody>
      </p:sp>
      <p:sp>
        <p:nvSpPr>
          <p:cNvPr id="10" name="Text 8"/>
          <p:cNvSpPr/>
          <p:nvPr/>
        </p:nvSpPr>
        <p:spPr>
          <a:xfrm>
            <a:off x="640080" y="1965960"/>
            <a:ext cx="5669280" cy="1051560"/>
          </a:xfrm>
          <a:prstGeom prst="rect">
            <a:avLst/>
          </a:prstGeom>
          <a:noFill/>
          <a:ln/>
        </p:spPr>
        <p:txBody>
          <a:bodyPr wrap="square" lIns="0" tIns="0" rIns="0" bIns="0" rtlCol="0" anchor="ctr">
            <a:normAutofit/>
          </a:bodyPr>
          <a:lstStyle/>
          <a:p>
            <a:pPr marL="0" indent="0">
              <a:buNone/>
            </a:pPr>
            <a:r>
              <a:rPr lang="en-US" sz="1600" dirty="0">
                <a:solidFill>
                  <a:srgbClr val="CBBFA8"/>
                </a:solidFill>
              </a:rPr>
              <a:t>CNET published AI-generated articles that later required significant corrections and drew scrutiny.</a:t>
            </a:r>
            <a:endParaRPr lang="en-US" sz="1600" dirty="0"/>
          </a:p>
        </p:txBody>
      </p:sp>
      <p:sp>
        <p:nvSpPr>
          <p:cNvPr id="11" name="Shape 9"/>
          <p:cNvSpPr/>
          <p:nvPr/>
        </p:nvSpPr>
        <p:spPr>
          <a:xfrm>
            <a:off x="6629400" y="1005840"/>
            <a:ext cx="4892040" cy="1965960"/>
          </a:xfrm>
          <a:prstGeom prst="roundRect">
            <a:avLst>
              <a:gd name="adj" fmla="val 6047"/>
            </a:avLst>
          </a:prstGeom>
          <a:solidFill>
            <a:srgbClr val="5A201D"/>
          </a:solidFill>
          <a:ln w="12700">
            <a:solidFill>
              <a:srgbClr val="C4564B"/>
            </a:solidFill>
            <a:prstDash val="solid"/>
          </a:ln>
        </p:spPr>
        <p:txBody>
          <a:bodyPr/>
          <a:lstStyle/>
          <a:p>
            <a:endParaRPr/>
          </a:p>
        </p:txBody>
      </p:sp>
      <p:sp>
        <p:nvSpPr>
          <p:cNvPr id="12" name="Text 10"/>
          <p:cNvSpPr/>
          <p:nvPr/>
        </p:nvSpPr>
        <p:spPr>
          <a:xfrm>
            <a:off x="6858000" y="1225296"/>
            <a:ext cx="443484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What happened</a:t>
            </a:r>
            <a:endParaRPr lang="en-US" sz="1500" dirty="0"/>
          </a:p>
        </p:txBody>
      </p:sp>
      <p:sp>
        <p:nvSpPr>
          <p:cNvPr id="13" name="Text 11"/>
          <p:cNvSpPr/>
          <p:nvPr/>
        </p:nvSpPr>
        <p:spPr>
          <a:xfrm>
            <a:off x="6858000" y="1627632"/>
            <a:ext cx="4434840" cy="1188720"/>
          </a:xfrm>
          <a:prstGeom prst="rect">
            <a:avLst/>
          </a:prstGeom>
          <a:noFill/>
          <a:ln/>
        </p:spPr>
        <p:txBody>
          <a:bodyPr wrap="square" lIns="0" tIns="0" rIns="0" bIns="0" rtlCol="0" anchor="ctr">
            <a:normAutofit/>
          </a:bodyPr>
          <a:lstStyle/>
          <a:p>
            <a:pPr marL="0" indent="0">
              <a:buNone/>
            </a:pPr>
            <a:r>
              <a:rPr lang="en-US" sz="1050" dirty="0">
                <a:solidFill>
                  <a:srgbClr val="FFE1DC"/>
                </a:solidFill>
              </a:rPr>
              <a:t>AI-assisted content raised accuracy, transparency, and editorial accountability concerns.</a:t>
            </a:r>
            <a:endParaRPr lang="en-US" sz="1050" dirty="0"/>
          </a:p>
        </p:txBody>
      </p:sp>
      <p:sp>
        <p:nvSpPr>
          <p:cNvPr id="14" name="Shape 12"/>
          <p:cNvSpPr/>
          <p:nvPr/>
        </p:nvSpPr>
        <p:spPr>
          <a:xfrm>
            <a:off x="640080" y="3886200"/>
            <a:ext cx="5349240" cy="1325880"/>
          </a:xfrm>
          <a:prstGeom prst="roundRect">
            <a:avLst>
              <a:gd name="adj" fmla="val 8966"/>
            </a:avLst>
          </a:prstGeom>
          <a:solidFill>
            <a:srgbClr val="1B2116"/>
          </a:solidFill>
          <a:ln w="12700">
            <a:solidFill>
              <a:srgbClr val="D49A3D"/>
            </a:solidFill>
            <a:prstDash val="solid"/>
          </a:ln>
        </p:spPr>
        <p:txBody>
          <a:bodyPr/>
          <a:lstStyle/>
          <a:p>
            <a:endParaRPr/>
          </a:p>
        </p:txBody>
      </p:sp>
      <p:sp>
        <p:nvSpPr>
          <p:cNvPr id="15" name="Text 13"/>
          <p:cNvSpPr/>
          <p:nvPr/>
        </p:nvSpPr>
        <p:spPr>
          <a:xfrm>
            <a:off x="868680" y="4105656"/>
            <a:ext cx="4892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6" name="Text 14"/>
          <p:cNvSpPr/>
          <p:nvPr/>
        </p:nvSpPr>
        <p:spPr>
          <a:xfrm>
            <a:off x="868680" y="4507992"/>
            <a:ext cx="489204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AI-written content still needs human review, fact-checking, and ownership.</a:t>
            </a:r>
            <a:endParaRPr lang="en-US" sz="1050" dirty="0"/>
          </a:p>
        </p:txBody>
      </p:sp>
      <p:sp>
        <p:nvSpPr>
          <p:cNvPr id="17" name="Shape 15"/>
          <p:cNvSpPr/>
          <p:nvPr/>
        </p:nvSpPr>
        <p:spPr>
          <a:xfrm>
            <a:off x="6263640" y="3886200"/>
            <a:ext cx="5257800" cy="1325880"/>
          </a:xfrm>
          <a:prstGeom prst="roundRect">
            <a:avLst>
              <a:gd name="adj" fmla="val 8966"/>
            </a:avLst>
          </a:prstGeom>
          <a:solidFill>
            <a:srgbClr val="242B1D"/>
          </a:solidFill>
          <a:ln w="12700">
            <a:solidFill>
              <a:srgbClr val="789D58"/>
            </a:solidFill>
            <a:prstDash val="solid"/>
          </a:ln>
        </p:spPr>
        <p:txBody>
          <a:bodyPr/>
          <a:lstStyle/>
          <a:p>
            <a:endParaRPr/>
          </a:p>
        </p:txBody>
      </p:sp>
      <p:sp>
        <p:nvSpPr>
          <p:cNvPr id="18" name="Text 16"/>
          <p:cNvSpPr/>
          <p:nvPr/>
        </p:nvSpPr>
        <p:spPr>
          <a:xfrm>
            <a:off x="6492240" y="4105656"/>
            <a:ext cx="48006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Kretz question</a:t>
            </a:r>
            <a:endParaRPr lang="en-US" sz="1500" dirty="0"/>
          </a:p>
        </p:txBody>
      </p:sp>
      <p:sp>
        <p:nvSpPr>
          <p:cNvPr id="19" name="Text 17"/>
          <p:cNvSpPr/>
          <p:nvPr/>
        </p:nvSpPr>
        <p:spPr>
          <a:xfrm>
            <a:off x="6492240" y="4507992"/>
            <a:ext cx="480060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Who approves AI-assisted public content before Kretz posts it?</a:t>
            </a:r>
            <a:endParaRPr lang="en-US" sz="1050" dirty="0"/>
          </a:p>
        </p:txBody>
      </p:sp>
      <p:sp>
        <p:nvSpPr>
          <p:cNvPr id="20" name="Text 18">
            <a:hlinkClick r:id="rId3"/>
          </p:cNvPr>
          <p:cNvSpPr/>
          <p:nvPr/>
        </p:nvSpPr>
        <p:spPr>
          <a:xfrm>
            <a:off x="640080" y="559612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source</a:t>
            </a:r>
            <a:endParaRPr lang="en-US" sz="850" dirty="0"/>
          </a:p>
        </p:txBody>
      </p:sp>
      <p:sp>
        <p:nvSpPr>
          <p:cNvPr id="21" name="Text 19"/>
          <p:cNvSpPr/>
          <p:nvPr/>
        </p:nvSpPr>
        <p:spPr>
          <a:xfrm>
            <a:off x="1874520" y="5605272"/>
            <a:ext cx="8046720" cy="219456"/>
          </a:xfrm>
          <a:prstGeom prst="rect">
            <a:avLst/>
          </a:prstGeom>
          <a:noFill/>
          <a:ln/>
        </p:spPr>
        <p:txBody>
          <a:bodyPr wrap="square" lIns="0" tIns="0" rIns="0" bIns="0" rtlCol="0" anchor="ctr">
            <a:normAutofit/>
          </a:bodyPr>
          <a:lstStyle/>
          <a:p>
            <a:pPr marL="0" indent="0">
              <a:buNone/>
            </a:pPr>
            <a:r>
              <a:rPr lang="en-US" sz="750" dirty="0">
                <a:solidFill>
                  <a:srgbClr val="CBBFA8"/>
                </a:solidFill>
              </a:rPr>
              <a:t>www.wired.com/story/cnet-published-ai-generated-stories-then-its-staff-pushed-back/</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2926080" cy="274320"/>
          </a:xfrm>
          <a:prstGeom prst="rect">
            <a:avLst/>
          </a:prstGeom>
          <a:noFill/>
          <a:ln/>
        </p:spPr>
        <p:txBody>
          <a:bodyPr wrap="square" lIns="0" tIns="0" rIns="0" bIns="0" rtlCol="0" anchor="ctr"/>
          <a:lstStyle/>
          <a:p>
            <a:pPr marL="0" indent="0">
              <a:buNone/>
            </a:pPr>
            <a:r>
              <a:rPr lang="en-US" sz="1050" b="1" dirty="0">
                <a:solidFill>
                  <a:srgbClr val="F0D49A"/>
                </a:solidFill>
              </a:rPr>
              <a:t>AI NEWS BREAK</a:t>
            </a:r>
            <a:endParaRPr lang="en-US" sz="1050" dirty="0"/>
          </a:p>
        </p:txBody>
      </p:sp>
      <p:sp>
        <p:nvSpPr>
          <p:cNvPr id="9" name="Text 7"/>
          <p:cNvSpPr/>
          <p:nvPr/>
        </p:nvSpPr>
        <p:spPr>
          <a:xfrm>
            <a:off x="594360" y="914400"/>
            <a:ext cx="10607040" cy="822960"/>
          </a:xfrm>
          <a:prstGeom prst="rect">
            <a:avLst/>
          </a:prstGeom>
          <a:noFill/>
          <a:ln/>
        </p:spPr>
        <p:txBody>
          <a:bodyPr wrap="square" lIns="0" tIns="0" rIns="0" bIns="0" rtlCol="0" anchor="ctr">
            <a:normAutofit/>
          </a:bodyPr>
          <a:lstStyle/>
          <a:p>
            <a:pPr marL="0" indent="0">
              <a:buNone/>
            </a:pPr>
            <a:r>
              <a:rPr lang="en-US" sz="2700" b="1" dirty="0">
                <a:solidFill>
                  <a:srgbClr val="FFF7E8"/>
                </a:solidFill>
              </a:rPr>
              <a:t>iTutorGroup: automated hiring risk</a:t>
            </a:r>
            <a:endParaRPr lang="en-US" sz="2700" dirty="0"/>
          </a:p>
        </p:txBody>
      </p:sp>
      <p:sp>
        <p:nvSpPr>
          <p:cNvPr id="10" name="Text 8"/>
          <p:cNvSpPr/>
          <p:nvPr/>
        </p:nvSpPr>
        <p:spPr>
          <a:xfrm>
            <a:off x="640080" y="1965960"/>
            <a:ext cx="5669280" cy="1051560"/>
          </a:xfrm>
          <a:prstGeom prst="rect">
            <a:avLst/>
          </a:prstGeom>
          <a:noFill/>
          <a:ln/>
        </p:spPr>
        <p:txBody>
          <a:bodyPr wrap="square" lIns="0" tIns="0" rIns="0" bIns="0" rtlCol="0" anchor="ctr">
            <a:normAutofit/>
          </a:bodyPr>
          <a:lstStyle/>
          <a:p>
            <a:pPr marL="0" indent="0">
              <a:buNone/>
            </a:pPr>
            <a:r>
              <a:rPr lang="en-US" sz="1600" dirty="0">
                <a:solidFill>
                  <a:srgbClr val="CBBFA8"/>
                </a:solidFill>
              </a:rPr>
              <a:t>The EEOC said iTutorGroup's software automatically rejected more than 200 older applicants. The company settled for $365,000.</a:t>
            </a:r>
            <a:endParaRPr lang="en-US" sz="1600" dirty="0"/>
          </a:p>
        </p:txBody>
      </p:sp>
      <p:sp>
        <p:nvSpPr>
          <p:cNvPr id="11" name="Shape 9"/>
          <p:cNvSpPr/>
          <p:nvPr/>
        </p:nvSpPr>
        <p:spPr>
          <a:xfrm>
            <a:off x="6629400" y="1005840"/>
            <a:ext cx="4892040" cy="1965960"/>
          </a:xfrm>
          <a:prstGeom prst="roundRect">
            <a:avLst>
              <a:gd name="adj" fmla="val 6047"/>
            </a:avLst>
          </a:prstGeom>
          <a:solidFill>
            <a:srgbClr val="5A201D"/>
          </a:solidFill>
          <a:ln w="12700">
            <a:solidFill>
              <a:srgbClr val="C4564B"/>
            </a:solidFill>
            <a:prstDash val="solid"/>
          </a:ln>
        </p:spPr>
        <p:txBody>
          <a:bodyPr/>
          <a:lstStyle/>
          <a:p>
            <a:endParaRPr/>
          </a:p>
        </p:txBody>
      </p:sp>
      <p:sp>
        <p:nvSpPr>
          <p:cNvPr id="12" name="Text 10"/>
          <p:cNvSpPr/>
          <p:nvPr/>
        </p:nvSpPr>
        <p:spPr>
          <a:xfrm>
            <a:off x="6858000" y="1225296"/>
            <a:ext cx="443484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What happened</a:t>
            </a:r>
            <a:endParaRPr lang="en-US" sz="1500" dirty="0"/>
          </a:p>
        </p:txBody>
      </p:sp>
      <p:sp>
        <p:nvSpPr>
          <p:cNvPr id="13" name="Text 11"/>
          <p:cNvSpPr/>
          <p:nvPr/>
        </p:nvSpPr>
        <p:spPr>
          <a:xfrm>
            <a:off x="6858000" y="1627632"/>
            <a:ext cx="4434840" cy="1188720"/>
          </a:xfrm>
          <a:prstGeom prst="rect">
            <a:avLst/>
          </a:prstGeom>
          <a:noFill/>
          <a:ln/>
        </p:spPr>
        <p:txBody>
          <a:bodyPr wrap="square" lIns="0" tIns="0" rIns="0" bIns="0" rtlCol="0" anchor="ctr">
            <a:normAutofit/>
          </a:bodyPr>
          <a:lstStyle/>
          <a:p>
            <a:pPr marL="0" indent="0">
              <a:buNone/>
            </a:pPr>
            <a:r>
              <a:rPr lang="en-US" sz="1050" dirty="0">
                <a:solidFill>
                  <a:srgbClr val="FFE1DC"/>
                </a:solidFill>
              </a:rPr>
              <a:t>Automated screening created discrimination risk in employment decisions.</a:t>
            </a:r>
            <a:endParaRPr lang="en-US" sz="1050" dirty="0"/>
          </a:p>
        </p:txBody>
      </p:sp>
      <p:sp>
        <p:nvSpPr>
          <p:cNvPr id="14" name="Shape 12"/>
          <p:cNvSpPr/>
          <p:nvPr/>
        </p:nvSpPr>
        <p:spPr>
          <a:xfrm>
            <a:off x="640080" y="3886200"/>
            <a:ext cx="5349240" cy="1325880"/>
          </a:xfrm>
          <a:prstGeom prst="roundRect">
            <a:avLst>
              <a:gd name="adj" fmla="val 8966"/>
            </a:avLst>
          </a:prstGeom>
          <a:solidFill>
            <a:srgbClr val="1B2116"/>
          </a:solidFill>
          <a:ln w="12700">
            <a:solidFill>
              <a:srgbClr val="D49A3D"/>
            </a:solidFill>
            <a:prstDash val="solid"/>
          </a:ln>
        </p:spPr>
        <p:txBody>
          <a:bodyPr/>
          <a:lstStyle/>
          <a:p>
            <a:endParaRPr/>
          </a:p>
        </p:txBody>
      </p:sp>
      <p:sp>
        <p:nvSpPr>
          <p:cNvPr id="15" name="Text 13"/>
          <p:cNvSpPr/>
          <p:nvPr/>
        </p:nvSpPr>
        <p:spPr>
          <a:xfrm>
            <a:off x="868680" y="4105656"/>
            <a:ext cx="4892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6" name="Text 14"/>
          <p:cNvSpPr/>
          <p:nvPr/>
        </p:nvSpPr>
        <p:spPr>
          <a:xfrm>
            <a:off x="868680" y="4507992"/>
            <a:ext cx="489204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AI and automation in HR can create legal and ethical exposure.</a:t>
            </a:r>
            <a:endParaRPr lang="en-US" sz="1050" dirty="0"/>
          </a:p>
        </p:txBody>
      </p:sp>
      <p:sp>
        <p:nvSpPr>
          <p:cNvPr id="17" name="Shape 15"/>
          <p:cNvSpPr/>
          <p:nvPr/>
        </p:nvSpPr>
        <p:spPr>
          <a:xfrm>
            <a:off x="6263640" y="3886200"/>
            <a:ext cx="5257800" cy="1325880"/>
          </a:xfrm>
          <a:prstGeom prst="roundRect">
            <a:avLst>
              <a:gd name="adj" fmla="val 8966"/>
            </a:avLst>
          </a:prstGeom>
          <a:solidFill>
            <a:srgbClr val="242B1D"/>
          </a:solidFill>
          <a:ln w="12700">
            <a:solidFill>
              <a:srgbClr val="789D58"/>
            </a:solidFill>
            <a:prstDash val="solid"/>
          </a:ln>
        </p:spPr>
        <p:txBody>
          <a:bodyPr/>
          <a:lstStyle/>
          <a:p>
            <a:endParaRPr/>
          </a:p>
        </p:txBody>
      </p:sp>
      <p:sp>
        <p:nvSpPr>
          <p:cNvPr id="18" name="Text 16"/>
          <p:cNvSpPr/>
          <p:nvPr/>
        </p:nvSpPr>
        <p:spPr>
          <a:xfrm>
            <a:off x="6492240" y="4105656"/>
            <a:ext cx="48006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Kretz question</a:t>
            </a:r>
            <a:endParaRPr lang="en-US" sz="1500" dirty="0"/>
          </a:p>
        </p:txBody>
      </p:sp>
      <p:sp>
        <p:nvSpPr>
          <p:cNvPr id="19" name="Text 17"/>
          <p:cNvSpPr/>
          <p:nvPr/>
        </p:nvSpPr>
        <p:spPr>
          <a:xfrm>
            <a:off x="6492240" y="4507992"/>
            <a:ext cx="480060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Which decisions should never be automated without governance and review?</a:t>
            </a:r>
            <a:endParaRPr lang="en-US" sz="1050" dirty="0"/>
          </a:p>
        </p:txBody>
      </p:sp>
      <p:sp>
        <p:nvSpPr>
          <p:cNvPr id="20" name="Text 18">
            <a:hlinkClick r:id="rId3"/>
          </p:cNvPr>
          <p:cNvSpPr/>
          <p:nvPr/>
        </p:nvSpPr>
        <p:spPr>
          <a:xfrm>
            <a:off x="640080" y="559612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source</a:t>
            </a:r>
            <a:endParaRPr lang="en-US" sz="850" dirty="0"/>
          </a:p>
        </p:txBody>
      </p:sp>
      <p:sp>
        <p:nvSpPr>
          <p:cNvPr id="21" name="Text 19"/>
          <p:cNvSpPr/>
          <p:nvPr/>
        </p:nvSpPr>
        <p:spPr>
          <a:xfrm>
            <a:off x="1874520" y="5605272"/>
            <a:ext cx="8046720" cy="219456"/>
          </a:xfrm>
          <a:prstGeom prst="rect">
            <a:avLst/>
          </a:prstGeom>
          <a:noFill/>
          <a:ln/>
        </p:spPr>
        <p:txBody>
          <a:bodyPr wrap="square" lIns="0" tIns="0" rIns="0" bIns="0" rtlCol="0" anchor="ctr">
            <a:normAutofit/>
          </a:bodyPr>
          <a:lstStyle/>
          <a:p>
            <a:pPr marL="0" indent="0">
              <a:buNone/>
            </a:pPr>
            <a:r>
              <a:rPr lang="en-US" sz="750" dirty="0">
                <a:solidFill>
                  <a:srgbClr val="CBBFA8"/>
                </a:solidFill>
              </a:rPr>
              <a:t>www.eeoc.gov/newsroom/itutorgroup-pay-365000-settle-eeoc-discriminatory-hiring-suit</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2926080" cy="274320"/>
          </a:xfrm>
          <a:prstGeom prst="rect">
            <a:avLst/>
          </a:prstGeom>
          <a:noFill/>
          <a:ln/>
        </p:spPr>
        <p:txBody>
          <a:bodyPr wrap="square" lIns="0" tIns="0" rIns="0" bIns="0" rtlCol="0" anchor="ctr"/>
          <a:lstStyle/>
          <a:p>
            <a:pPr marL="0" indent="0">
              <a:buNone/>
            </a:pPr>
            <a:r>
              <a:rPr lang="en-US" sz="1050" b="1" dirty="0">
                <a:solidFill>
                  <a:srgbClr val="F0D49A"/>
                </a:solidFill>
              </a:rPr>
              <a:t>AI NEWS BREAK</a:t>
            </a:r>
            <a:endParaRPr lang="en-US" sz="1050" dirty="0"/>
          </a:p>
        </p:txBody>
      </p:sp>
      <p:sp>
        <p:nvSpPr>
          <p:cNvPr id="9" name="Text 7"/>
          <p:cNvSpPr/>
          <p:nvPr/>
        </p:nvSpPr>
        <p:spPr>
          <a:xfrm>
            <a:off x="594360" y="914400"/>
            <a:ext cx="10607040" cy="822960"/>
          </a:xfrm>
          <a:prstGeom prst="rect">
            <a:avLst/>
          </a:prstGeom>
          <a:noFill/>
          <a:ln/>
        </p:spPr>
        <p:txBody>
          <a:bodyPr wrap="square" lIns="0" tIns="0" rIns="0" bIns="0" rtlCol="0" anchor="ctr">
            <a:normAutofit/>
          </a:bodyPr>
          <a:lstStyle/>
          <a:p>
            <a:pPr marL="0" indent="0">
              <a:buNone/>
            </a:pPr>
            <a:r>
              <a:rPr lang="en-US" sz="2700" b="1" dirty="0">
                <a:solidFill>
                  <a:srgbClr val="FFF7E8"/>
                </a:solidFill>
              </a:rPr>
              <a:t>Zillow Offers: </a:t>
            </a:r>
          </a:p>
          <a:p>
            <a:pPr marL="0" indent="0">
              <a:buNone/>
            </a:pPr>
            <a:r>
              <a:rPr lang="en-US" sz="2700" b="1" dirty="0">
                <a:solidFill>
                  <a:srgbClr val="FFF7E8"/>
                </a:solidFill>
              </a:rPr>
              <a:t>prediction failed at scale</a:t>
            </a:r>
            <a:endParaRPr lang="en-US" sz="2700" dirty="0"/>
          </a:p>
        </p:txBody>
      </p:sp>
      <p:sp>
        <p:nvSpPr>
          <p:cNvPr id="10" name="Text 8"/>
          <p:cNvSpPr/>
          <p:nvPr/>
        </p:nvSpPr>
        <p:spPr>
          <a:xfrm>
            <a:off x="640080" y="1965960"/>
            <a:ext cx="5669280" cy="1051560"/>
          </a:xfrm>
          <a:prstGeom prst="rect">
            <a:avLst/>
          </a:prstGeom>
          <a:noFill/>
          <a:ln/>
        </p:spPr>
        <p:txBody>
          <a:bodyPr wrap="square" lIns="0" tIns="0" rIns="0" bIns="0" rtlCol="0" anchor="ctr">
            <a:normAutofit/>
          </a:bodyPr>
          <a:lstStyle/>
          <a:p>
            <a:pPr marL="0" indent="0">
              <a:buNone/>
            </a:pPr>
            <a:r>
              <a:rPr lang="en-US" sz="1600" dirty="0">
                <a:solidFill>
                  <a:srgbClr val="CBBFA8"/>
                </a:solidFill>
              </a:rPr>
              <a:t>Zillow shut down its home-flipping operation after the company cited forecasting challenges.</a:t>
            </a:r>
            <a:endParaRPr lang="en-US" sz="1600" dirty="0"/>
          </a:p>
        </p:txBody>
      </p:sp>
      <p:sp>
        <p:nvSpPr>
          <p:cNvPr id="11" name="Shape 9"/>
          <p:cNvSpPr/>
          <p:nvPr/>
        </p:nvSpPr>
        <p:spPr>
          <a:xfrm>
            <a:off x="6629400" y="1005840"/>
            <a:ext cx="4892040" cy="1965960"/>
          </a:xfrm>
          <a:prstGeom prst="roundRect">
            <a:avLst>
              <a:gd name="adj" fmla="val 6047"/>
            </a:avLst>
          </a:prstGeom>
          <a:solidFill>
            <a:srgbClr val="5A201D"/>
          </a:solidFill>
          <a:ln w="12700">
            <a:solidFill>
              <a:srgbClr val="C4564B"/>
            </a:solidFill>
            <a:prstDash val="solid"/>
          </a:ln>
        </p:spPr>
        <p:txBody>
          <a:bodyPr/>
          <a:lstStyle/>
          <a:p>
            <a:endParaRPr/>
          </a:p>
        </p:txBody>
      </p:sp>
      <p:sp>
        <p:nvSpPr>
          <p:cNvPr id="12" name="Text 10"/>
          <p:cNvSpPr/>
          <p:nvPr/>
        </p:nvSpPr>
        <p:spPr>
          <a:xfrm>
            <a:off x="6858000" y="1225296"/>
            <a:ext cx="443484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What happened</a:t>
            </a:r>
            <a:endParaRPr lang="en-US" sz="1500" dirty="0"/>
          </a:p>
        </p:txBody>
      </p:sp>
      <p:sp>
        <p:nvSpPr>
          <p:cNvPr id="13" name="Text 11"/>
          <p:cNvSpPr/>
          <p:nvPr/>
        </p:nvSpPr>
        <p:spPr>
          <a:xfrm>
            <a:off x="6858000" y="1627632"/>
            <a:ext cx="4434840" cy="1188720"/>
          </a:xfrm>
          <a:prstGeom prst="rect">
            <a:avLst/>
          </a:prstGeom>
          <a:noFill/>
          <a:ln/>
        </p:spPr>
        <p:txBody>
          <a:bodyPr wrap="square" lIns="0" tIns="0" rIns="0" bIns="0" rtlCol="0" anchor="ctr">
            <a:normAutofit/>
          </a:bodyPr>
          <a:lstStyle/>
          <a:p>
            <a:pPr marL="0" indent="0">
              <a:buNone/>
            </a:pPr>
            <a:r>
              <a:rPr lang="en-US" sz="1050" dirty="0">
                <a:solidFill>
                  <a:srgbClr val="FFE1DC"/>
                </a:solidFill>
              </a:rPr>
              <a:t>A model-driven business process struggled when market conditions and operations proved harder than expected.</a:t>
            </a:r>
            <a:endParaRPr lang="en-US" sz="1050" dirty="0"/>
          </a:p>
        </p:txBody>
      </p:sp>
      <p:sp>
        <p:nvSpPr>
          <p:cNvPr id="14" name="Shape 12"/>
          <p:cNvSpPr/>
          <p:nvPr/>
        </p:nvSpPr>
        <p:spPr>
          <a:xfrm>
            <a:off x="640080" y="3886200"/>
            <a:ext cx="5349240" cy="1325880"/>
          </a:xfrm>
          <a:prstGeom prst="roundRect">
            <a:avLst>
              <a:gd name="adj" fmla="val 8966"/>
            </a:avLst>
          </a:prstGeom>
          <a:solidFill>
            <a:srgbClr val="1B2116"/>
          </a:solidFill>
          <a:ln w="12700">
            <a:solidFill>
              <a:srgbClr val="D49A3D"/>
            </a:solidFill>
            <a:prstDash val="solid"/>
          </a:ln>
        </p:spPr>
        <p:txBody>
          <a:bodyPr/>
          <a:lstStyle/>
          <a:p>
            <a:endParaRPr/>
          </a:p>
        </p:txBody>
      </p:sp>
      <p:sp>
        <p:nvSpPr>
          <p:cNvPr id="15" name="Text 13"/>
          <p:cNvSpPr/>
          <p:nvPr/>
        </p:nvSpPr>
        <p:spPr>
          <a:xfrm>
            <a:off x="868680" y="4105656"/>
            <a:ext cx="4892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6" name="Text 14"/>
          <p:cNvSpPr/>
          <p:nvPr/>
        </p:nvSpPr>
        <p:spPr>
          <a:xfrm>
            <a:off x="868680" y="4507992"/>
            <a:ext cx="489204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Prediction tools can fail when real-world conditions change.</a:t>
            </a:r>
            <a:endParaRPr lang="en-US" sz="1050" dirty="0"/>
          </a:p>
        </p:txBody>
      </p:sp>
      <p:sp>
        <p:nvSpPr>
          <p:cNvPr id="17" name="Shape 15"/>
          <p:cNvSpPr/>
          <p:nvPr/>
        </p:nvSpPr>
        <p:spPr>
          <a:xfrm>
            <a:off x="6263640" y="3886200"/>
            <a:ext cx="5257800" cy="1325880"/>
          </a:xfrm>
          <a:prstGeom prst="roundRect">
            <a:avLst>
              <a:gd name="adj" fmla="val 8966"/>
            </a:avLst>
          </a:prstGeom>
          <a:solidFill>
            <a:srgbClr val="242B1D"/>
          </a:solidFill>
          <a:ln w="12700">
            <a:solidFill>
              <a:srgbClr val="789D58"/>
            </a:solidFill>
            <a:prstDash val="solid"/>
          </a:ln>
        </p:spPr>
        <p:txBody>
          <a:bodyPr/>
          <a:lstStyle/>
          <a:p>
            <a:endParaRPr/>
          </a:p>
        </p:txBody>
      </p:sp>
      <p:sp>
        <p:nvSpPr>
          <p:cNvPr id="18" name="Text 16"/>
          <p:cNvSpPr/>
          <p:nvPr/>
        </p:nvSpPr>
        <p:spPr>
          <a:xfrm>
            <a:off x="6492240" y="4105656"/>
            <a:ext cx="48006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Kretz question</a:t>
            </a:r>
            <a:endParaRPr lang="en-US" sz="1500" dirty="0"/>
          </a:p>
        </p:txBody>
      </p:sp>
      <p:sp>
        <p:nvSpPr>
          <p:cNvPr id="19" name="Text 17"/>
          <p:cNvSpPr/>
          <p:nvPr/>
        </p:nvSpPr>
        <p:spPr>
          <a:xfrm>
            <a:off x="6492240" y="4507992"/>
            <a:ext cx="480060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Where would Kretz need local expertise, not just model output?</a:t>
            </a:r>
            <a:endParaRPr lang="en-US" sz="1050" dirty="0"/>
          </a:p>
        </p:txBody>
      </p:sp>
      <p:sp>
        <p:nvSpPr>
          <p:cNvPr id="20" name="Text 18">
            <a:hlinkClick r:id="rId3"/>
          </p:cNvPr>
          <p:cNvSpPr/>
          <p:nvPr/>
        </p:nvSpPr>
        <p:spPr>
          <a:xfrm>
            <a:off x="640080" y="559612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source</a:t>
            </a:r>
            <a:endParaRPr lang="en-US" sz="850" dirty="0"/>
          </a:p>
        </p:txBody>
      </p:sp>
      <p:sp>
        <p:nvSpPr>
          <p:cNvPr id="21" name="Text 19"/>
          <p:cNvSpPr/>
          <p:nvPr/>
        </p:nvSpPr>
        <p:spPr>
          <a:xfrm>
            <a:off x="1874520" y="5605272"/>
            <a:ext cx="8046720" cy="219456"/>
          </a:xfrm>
          <a:prstGeom prst="rect">
            <a:avLst/>
          </a:prstGeom>
          <a:noFill/>
          <a:ln/>
        </p:spPr>
        <p:txBody>
          <a:bodyPr wrap="square" lIns="0" tIns="0" rIns="0" bIns="0" rtlCol="0" anchor="ctr">
            <a:normAutofit/>
          </a:bodyPr>
          <a:lstStyle/>
          <a:p>
            <a:pPr marL="0" indent="0">
              <a:buNone/>
            </a:pPr>
            <a:r>
              <a:rPr lang="en-US" sz="750" dirty="0">
                <a:solidFill>
                  <a:srgbClr val="CBBFA8"/>
                </a:solidFill>
              </a:rPr>
              <a:t>www.wsj.com/economy/housing/zillow-quits-home-flipping-business-cites-inability-to-forecast-prices-11635883500</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2926080" cy="274320"/>
          </a:xfrm>
          <a:prstGeom prst="rect">
            <a:avLst/>
          </a:prstGeom>
          <a:noFill/>
          <a:ln/>
        </p:spPr>
        <p:txBody>
          <a:bodyPr wrap="square" lIns="0" tIns="0" rIns="0" bIns="0" rtlCol="0" anchor="ctr"/>
          <a:lstStyle/>
          <a:p>
            <a:pPr marL="0" indent="0">
              <a:buNone/>
            </a:pPr>
            <a:r>
              <a:rPr lang="en-US" sz="1050" b="1" dirty="0">
                <a:solidFill>
                  <a:srgbClr val="F0D49A"/>
                </a:solidFill>
              </a:rPr>
              <a:t>AI NEWS BREAK</a:t>
            </a:r>
            <a:endParaRPr lang="en-US" sz="1050" dirty="0"/>
          </a:p>
        </p:txBody>
      </p:sp>
      <p:sp>
        <p:nvSpPr>
          <p:cNvPr id="9" name="Text 7"/>
          <p:cNvSpPr/>
          <p:nvPr/>
        </p:nvSpPr>
        <p:spPr>
          <a:xfrm>
            <a:off x="594360" y="914400"/>
            <a:ext cx="10607040" cy="822960"/>
          </a:xfrm>
          <a:prstGeom prst="rect">
            <a:avLst/>
          </a:prstGeom>
          <a:noFill/>
          <a:ln/>
        </p:spPr>
        <p:txBody>
          <a:bodyPr wrap="square" lIns="0" tIns="0" rIns="0" bIns="0" rtlCol="0" anchor="ctr">
            <a:normAutofit fontScale="77500" lnSpcReduction="20000"/>
          </a:bodyPr>
          <a:lstStyle/>
          <a:p>
            <a:pPr marL="0" indent="0">
              <a:buNone/>
            </a:pPr>
            <a:r>
              <a:rPr lang="en-US" sz="2700" b="1" dirty="0">
                <a:solidFill>
                  <a:srgbClr val="FFF7E8"/>
                </a:solidFill>
              </a:rPr>
              <a:t>McDonald's: drive-thru </a:t>
            </a:r>
          </a:p>
          <a:p>
            <a:pPr marL="0" indent="0">
              <a:buNone/>
            </a:pPr>
            <a:r>
              <a:rPr lang="en-US" sz="2700" b="1" dirty="0">
                <a:solidFill>
                  <a:srgbClr val="FFF7E8"/>
                </a:solidFill>
              </a:rPr>
              <a:t>automation met </a:t>
            </a:r>
          </a:p>
          <a:p>
            <a:pPr marL="0" indent="0">
              <a:buNone/>
            </a:pPr>
            <a:r>
              <a:rPr lang="en-US" sz="2700" b="1" dirty="0">
                <a:solidFill>
                  <a:srgbClr val="FFF7E8"/>
                </a:solidFill>
              </a:rPr>
              <a:t>real-world messiness</a:t>
            </a:r>
            <a:endParaRPr lang="en-US" sz="2700" dirty="0"/>
          </a:p>
        </p:txBody>
      </p:sp>
      <p:sp>
        <p:nvSpPr>
          <p:cNvPr id="10" name="Text 8"/>
          <p:cNvSpPr/>
          <p:nvPr/>
        </p:nvSpPr>
        <p:spPr>
          <a:xfrm>
            <a:off x="640080" y="1965960"/>
            <a:ext cx="5669280" cy="1051560"/>
          </a:xfrm>
          <a:prstGeom prst="rect">
            <a:avLst/>
          </a:prstGeom>
          <a:noFill/>
          <a:ln/>
        </p:spPr>
        <p:txBody>
          <a:bodyPr wrap="square" lIns="0" tIns="0" rIns="0" bIns="0" rtlCol="0" anchor="ctr">
            <a:normAutofit/>
          </a:bodyPr>
          <a:lstStyle/>
          <a:p>
            <a:pPr marL="0" indent="0">
              <a:buNone/>
            </a:pPr>
            <a:r>
              <a:rPr lang="en-US" sz="1600" dirty="0">
                <a:solidFill>
                  <a:srgbClr val="CBBFA8"/>
                </a:solidFill>
              </a:rPr>
              <a:t>McDonald's ended its IBM drive-thru voice ordering test at more than 100 locations.</a:t>
            </a:r>
            <a:endParaRPr lang="en-US" sz="1600" dirty="0"/>
          </a:p>
        </p:txBody>
      </p:sp>
      <p:sp>
        <p:nvSpPr>
          <p:cNvPr id="11" name="Shape 9"/>
          <p:cNvSpPr/>
          <p:nvPr/>
        </p:nvSpPr>
        <p:spPr>
          <a:xfrm>
            <a:off x="6629400" y="1005840"/>
            <a:ext cx="4892040" cy="1965960"/>
          </a:xfrm>
          <a:prstGeom prst="roundRect">
            <a:avLst>
              <a:gd name="adj" fmla="val 6047"/>
            </a:avLst>
          </a:prstGeom>
          <a:solidFill>
            <a:srgbClr val="5A201D"/>
          </a:solidFill>
          <a:ln w="12700">
            <a:solidFill>
              <a:srgbClr val="C4564B"/>
            </a:solidFill>
            <a:prstDash val="solid"/>
          </a:ln>
        </p:spPr>
        <p:txBody>
          <a:bodyPr/>
          <a:lstStyle/>
          <a:p>
            <a:endParaRPr/>
          </a:p>
        </p:txBody>
      </p:sp>
      <p:sp>
        <p:nvSpPr>
          <p:cNvPr id="12" name="Text 10"/>
          <p:cNvSpPr/>
          <p:nvPr/>
        </p:nvSpPr>
        <p:spPr>
          <a:xfrm>
            <a:off x="6858000" y="1225296"/>
            <a:ext cx="4434840"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What happened</a:t>
            </a:r>
            <a:endParaRPr lang="en-US" sz="1500" dirty="0"/>
          </a:p>
        </p:txBody>
      </p:sp>
      <p:sp>
        <p:nvSpPr>
          <p:cNvPr id="13" name="Text 11"/>
          <p:cNvSpPr/>
          <p:nvPr/>
        </p:nvSpPr>
        <p:spPr>
          <a:xfrm>
            <a:off x="6858000" y="1627632"/>
            <a:ext cx="4434840" cy="1188720"/>
          </a:xfrm>
          <a:prstGeom prst="rect">
            <a:avLst/>
          </a:prstGeom>
          <a:noFill/>
          <a:ln/>
        </p:spPr>
        <p:txBody>
          <a:bodyPr wrap="square" lIns="0" tIns="0" rIns="0" bIns="0" rtlCol="0" anchor="ctr">
            <a:normAutofit/>
          </a:bodyPr>
          <a:lstStyle/>
          <a:p>
            <a:pPr marL="0" indent="0">
              <a:buNone/>
            </a:pPr>
            <a:r>
              <a:rPr lang="en-US" sz="1050" dirty="0">
                <a:solidFill>
                  <a:srgbClr val="FFE1DC"/>
                </a:solidFill>
              </a:rPr>
              <a:t>A polished automation concept faced customer-facing accuracy and operational challenges.</a:t>
            </a:r>
            <a:endParaRPr lang="en-US" sz="1050" dirty="0"/>
          </a:p>
        </p:txBody>
      </p:sp>
      <p:sp>
        <p:nvSpPr>
          <p:cNvPr id="14" name="Shape 12"/>
          <p:cNvSpPr/>
          <p:nvPr/>
        </p:nvSpPr>
        <p:spPr>
          <a:xfrm>
            <a:off x="640080" y="3886200"/>
            <a:ext cx="5349240" cy="1325880"/>
          </a:xfrm>
          <a:prstGeom prst="roundRect">
            <a:avLst>
              <a:gd name="adj" fmla="val 8966"/>
            </a:avLst>
          </a:prstGeom>
          <a:solidFill>
            <a:srgbClr val="1B2116"/>
          </a:solidFill>
          <a:ln w="12700">
            <a:solidFill>
              <a:srgbClr val="D49A3D"/>
            </a:solidFill>
            <a:prstDash val="solid"/>
          </a:ln>
        </p:spPr>
        <p:txBody>
          <a:bodyPr/>
          <a:lstStyle/>
          <a:p>
            <a:endParaRPr/>
          </a:p>
        </p:txBody>
      </p:sp>
      <p:sp>
        <p:nvSpPr>
          <p:cNvPr id="15" name="Text 13"/>
          <p:cNvSpPr/>
          <p:nvPr/>
        </p:nvSpPr>
        <p:spPr>
          <a:xfrm>
            <a:off x="868680" y="4105656"/>
            <a:ext cx="4892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6" name="Text 14"/>
          <p:cNvSpPr/>
          <p:nvPr/>
        </p:nvSpPr>
        <p:spPr>
          <a:xfrm>
            <a:off x="868680" y="4507992"/>
            <a:ext cx="489204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Pilot customer-facing automation carefully and keep humans accountable.</a:t>
            </a:r>
            <a:endParaRPr lang="en-US" sz="1050" dirty="0"/>
          </a:p>
        </p:txBody>
      </p:sp>
      <p:sp>
        <p:nvSpPr>
          <p:cNvPr id="17" name="Shape 15"/>
          <p:cNvSpPr/>
          <p:nvPr/>
        </p:nvSpPr>
        <p:spPr>
          <a:xfrm>
            <a:off x="6263640" y="3886200"/>
            <a:ext cx="5257800" cy="1325880"/>
          </a:xfrm>
          <a:prstGeom prst="roundRect">
            <a:avLst>
              <a:gd name="adj" fmla="val 8966"/>
            </a:avLst>
          </a:prstGeom>
          <a:solidFill>
            <a:srgbClr val="242B1D"/>
          </a:solidFill>
          <a:ln w="12700">
            <a:solidFill>
              <a:srgbClr val="789D58"/>
            </a:solidFill>
            <a:prstDash val="solid"/>
          </a:ln>
        </p:spPr>
        <p:txBody>
          <a:bodyPr/>
          <a:lstStyle/>
          <a:p>
            <a:endParaRPr/>
          </a:p>
        </p:txBody>
      </p:sp>
      <p:sp>
        <p:nvSpPr>
          <p:cNvPr id="18" name="Text 16"/>
          <p:cNvSpPr/>
          <p:nvPr/>
        </p:nvSpPr>
        <p:spPr>
          <a:xfrm>
            <a:off x="6492240" y="4105656"/>
            <a:ext cx="48006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Kretz question</a:t>
            </a:r>
            <a:endParaRPr lang="en-US" sz="1500" dirty="0"/>
          </a:p>
        </p:txBody>
      </p:sp>
      <p:sp>
        <p:nvSpPr>
          <p:cNvPr id="19" name="Text 17"/>
          <p:cNvSpPr/>
          <p:nvPr/>
        </p:nvSpPr>
        <p:spPr>
          <a:xfrm>
            <a:off x="6492240" y="4507992"/>
            <a:ext cx="4800600" cy="548640"/>
          </a:xfrm>
          <a:prstGeom prst="rect">
            <a:avLst/>
          </a:prstGeom>
          <a:noFill/>
          <a:ln/>
        </p:spPr>
        <p:txBody>
          <a:bodyPr wrap="square" lIns="0" tIns="0" rIns="0" bIns="0" rtlCol="0" anchor="ctr">
            <a:normAutofit/>
          </a:bodyPr>
          <a:lstStyle/>
          <a:p>
            <a:pPr marL="0" indent="0">
              <a:buNone/>
            </a:pPr>
            <a:r>
              <a:rPr lang="en-US" sz="1050" dirty="0">
                <a:solidFill>
                  <a:srgbClr val="FFF7E8"/>
                </a:solidFill>
              </a:rPr>
              <a:t>Which Kretz workflows are too messy for full automation right now?</a:t>
            </a:r>
            <a:endParaRPr lang="en-US" sz="1050" dirty="0"/>
          </a:p>
        </p:txBody>
      </p:sp>
      <p:sp>
        <p:nvSpPr>
          <p:cNvPr id="20" name="Text 18">
            <a:hlinkClick r:id="rId3"/>
          </p:cNvPr>
          <p:cNvSpPr/>
          <p:nvPr/>
        </p:nvSpPr>
        <p:spPr>
          <a:xfrm>
            <a:off x="640080" y="559612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source</a:t>
            </a:r>
            <a:endParaRPr lang="en-US" sz="850" dirty="0"/>
          </a:p>
        </p:txBody>
      </p:sp>
      <p:sp>
        <p:nvSpPr>
          <p:cNvPr id="21" name="Text 19"/>
          <p:cNvSpPr/>
          <p:nvPr/>
        </p:nvSpPr>
        <p:spPr>
          <a:xfrm>
            <a:off x="1874520" y="5605272"/>
            <a:ext cx="8046720" cy="219456"/>
          </a:xfrm>
          <a:prstGeom prst="rect">
            <a:avLst/>
          </a:prstGeom>
          <a:noFill/>
          <a:ln/>
        </p:spPr>
        <p:txBody>
          <a:bodyPr wrap="square" lIns="0" tIns="0" rIns="0" bIns="0" rtlCol="0" anchor="ctr">
            <a:normAutofit/>
          </a:bodyPr>
          <a:lstStyle/>
          <a:p>
            <a:pPr marL="0" indent="0">
              <a:buNone/>
            </a:pPr>
            <a:r>
              <a:rPr lang="en-US" sz="750" dirty="0">
                <a:solidFill>
                  <a:srgbClr val="CBBFA8"/>
                </a:solidFill>
              </a:rPr>
              <a:t>apnews.com/article/bebc898363f2d550e1a0cd3c682fa234</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PATTERN</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Every failure had familiar gaps</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The wins and failures often used similar technology. The difference was governance.</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No human review</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Output went straight to a customer, court, or public setting unchecked.</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Sensitive data exposed</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People pasted information into tools without clear data rules.</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Trusted without verifying</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Plausible answers were treated as true.</a:t>
            </a:r>
            <a:endParaRPr lang="en-US" sz="1050" dirty="0"/>
          </a:p>
        </p:txBody>
      </p:sp>
      <p:sp>
        <p:nvSpPr>
          <p:cNvPr id="20" name="Shape 18"/>
          <p:cNvSpPr/>
          <p:nvPr/>
        </p:nvSpPr>
        <p:spPr>
          <a:xfrm>
            <a:off x="640080"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1" name="Text 19"/>
          <p:cNvSpPr/>
          <p:nvPr/>
        </p:nvSpPr>
        <p:spPr>
          <a:xfrm>
            <a:off x="868680"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No guardrails</a:t>
            </a:r>
            <a:endParaRPr lang="en-US" sz="1500" dirty="0"/>
          </a:p>
        </p:txBody>
      </p:sp>
      <p:sp>
        <p:nvSpPr>
          <p:cNvPr id="22" name="Text 20"/>
          <p:cNvSpPr/>
          <p:nvPr/>
        </p:nvSpPr>
        <p:spPr>
          <a:xfrm>
            <a:off x="868680"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Tools were allowed to do more than they should.</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94360"/>
            <a:ext cx="914400" cy="457200"/>
          </a:xfrm>
          <a:prstGeom prst="rect">
            <a:avLst/>
          </a:prstGeom>
          <a:noFill/>
          <a:ln/>
        </p:spPr>
        <p:txBody>
          <a:bodyPr wrap="square" lIns="0" tIns="0" rIns="0" bIns="0" rtlCol="0" anchor="ctr"/>
          <a:lstStyle/>
          <a:p>
            <a:pPr marL="0" indent="0">
              <a:buNone/>
            </a:pPr>
            <a:r>
              <a:rPr lang="en-US" sz="2000" b="1" dirty="0">
                <a:solidFill>
                  <a:srgbClr val="F0D49A"/>
                </a:solidFill>
              </a:rPr>
              <a:t>04</a:t>
            </a:r>
            <a:endParaRPr lang="en-US" sz="2000" dirty="0"/>
          </a:p>
        </p:txBody>
      </p:sp>
      <p:sp>
        <p:nvSpPr>
          <p:cNvPr id="9" name="Shape 7"/>
          <p:cNvSpPr/>
          <p:nvPr/>
        </p:nvSpPr>
        <p:spPr>
          <a:xfrm>
            <a:off x="594360" y="1078992"/>
            <a:ext cx="10698480" cy="0"/>
          </a:xfrm>
          <a:prstGeom prst="line">
            <a:avLst/>
          </a:prstGeom>
          <a:noFill/>
          <a:ln w="12700">
            <a:solidFill>
              <a:srgbClr val="D49A3D">
                <a:alpha val="82000"/>
              </a:srgbClr>
            </a:solidFill>
            <a:prstDash val="solid"/>
          </a:ln>
        </p:spPr>
        <p:txBody>
          <a:bodyPr/>
          <a:lstStyle/>
          <a:p>
            <a:endParaRPr/>
          </a:p>
        </p:txBody>
      </p:sp>
      <p:sp>
        <p:nvSpPr>
          <p:cNvPr id="10" name="Text 8"/>
          <p:cNvSpPr/>
          <p:nvPr/>
        </p:nvSpPr>
        <p:spPr>
          <a:xfrm>
            <a:off x="594360" y="1645920"/>
            <a:ext cx="8778240" cy="1463040"/>
          </a:xfrm>
          <a:prstGeom prst="rect">
            <a:avLst/>
          </a:prstGeom>
          <a:noFill/>
          <a:ln/>
        </p:spPr>
        <p:txBody>
          <a:bodyPr wrap="square" lIns="0" tIns="0" rIns="0" bIns="0" rtlCol="0" anchor="ctr">
            <a:normAutofit/>
          </a:bodyPr>
          <a:lstStyle/>
          <a:p>
            <a:pPr marL="0" indent="0">
              <a:buNone/>
            </a:pPr>
            <a:r>
              <a:rPr lang="en-US" sz="4300" b="1" dirty="0">
                <a:solidFill>
                  <a:srgbClr val="FFF7E8"/>
                </a:solidFill>
              </a:rPr>
              <a:t>Kretz prototype demos</a:t>
            </a:r>
            <a:endParaRPr lang="en-US" sz="4300" dirty="0"/>
          </a:p>
        </p:txBody>
      </p:sp>
      <p:sp>
        <p:nvSpPr>
          <p:cNvPr id="11" name="Text 9"/>
          <p:cNvSpPr/>
          <p:nvPr/>
        </p:nvSpPr>
        <p:spPr>
          <a:xfrm>
            <a:off x="621792" y="3246120"/>
            <a:ext cx="7863840" cy="731520"/>
          </a:xfrm>
          <a:prstGeom prst="rect">
            <a:avLst/>
          </a:prstGeom>
          <a:noFill/>
          <a:ln/>
        </p:spPr>
        <p:txBody>
          <a:bodyPr wrap="square" lIns="0" tIns="0" rIns="0" bIns="0" rtlCol="0" anchor="ctr">
            <a:normAutofit/>
          </a:bodyPr>
          <a:lstStyle/>
          <a:p>
            <a:pPr marL="0" indent="0">
              <a:buNone/>
            </a:pPr>
            <a:r>
              <a:rPr lang="en-US" sz="1800" dirty="0">
                <a:solidFill>
                  <a:srgbClr val="CBBFA8"/>
                </a:solidFill>
              </a:rPr>
              <a:t>Show AI as a workflow layer, not just a chatbot.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PROTOTYPE FLOW</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The cleaned-up demo sequence</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Each prototype has a different lesson. Do not show duplicate parcel pages. Use one parcel example first, then the more refined tools.</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1. Claude Parcel Finder</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One-shot coding example: fast but needs review.</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2. Landowner Prospecting</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Better tool shaped through conversation and refinement.</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3. Timber Market Calculator</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Kretz knowledge made interactive.</a:t>
            </a:r>
            <a:endParaRPr lang="en-US" sz="1050" dirty="0"/>
          </a:p>
        </p:txBody>
      </p:sp>
      <p:sp>
        <p:nvSpPr>
          <p:cNvPr id="20" name="Shape 18"/>
          <p:cNvSpPr/>
          <p:nvPr/>
        </p:nvSpPr>
        <p:spPr>
          <a:xfrm>
            <a:off x="640080"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1" name="Text 19"/>
          <p:cNvSpPr/>
          <p:nvPr/>
        </p:nvSpPr>
        <p:spPr>
          <a:xfrm>
            <a:off x="868680"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4. Haul Planner</a:t>
            </a:r>
            <a:endParaRPr lang="en-US" sz="1500" dirty="0"/>
          </a:p>
        </p:txBody>
      </p:sp>
      <p:sp>
        <p:nvSpPr>
          <p:cNvPr id="22" name="Text 20"/>
          <p:cNvSpPr/>
          <p:nvPr/>
        </p:nvSpPr>
        <p:spPr>
          <a:xfrm>
            <a:off x="868680"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Operational workflow and logistics discussion.</a:t>
            </a:r>
            <a:endParaRPr lang="en-US" sz="1050" dirty="0"/>
          </a:p>
        </p:txBody>
      </p:sp>
      <p:sp>
        <p:nvSpPr>
          <p:cNvPr id="23" name="Shape 21"/>
          <p:cNvSpPr/>
          <p:nvPr/>
        </p:nvSpPr>
        <p:spPr>
          <a:xfrm>
            <a:off x="4322064"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4" name="Text 22"/>
          <p:cNvSpPr/>
          <p:nvPr/>
        </p:nvSpPr>
        <p:spPr>
          <a:xfrm>
            <a:off x="4550664"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Review questions</a:t>
            </a:r>
            <a:endParaRPr lang="en-US" sz="1500" dirty="0"/>
          </a:p>
        </p:txBody>
      </p:sp>
      <p:sp>
        <p:nvSpPr>
          <p:cNvPr id="25" name="Text 23"/>
          <p:cNvSpPr/>
          <p:nvPr/>
        </p:nvSpPr>
        <p:spPr>
          <a:xfrm>
            <a:off x="4550664" y="5934456"/>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What data? What can be wrong? Who reviews? What policy rule?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3200400" cy="274320"/>
          </a:xfrm>
          <a:prstGeom prst="rect">
            <a:avLst/>
          </a:prstGeom>
          <a:noFill/>
          <a:ln/>
        </p:spPr>
        <p:txBody>
          <a:bodyPr wrap="square" lIns="0" tIns="0" rIns="0" bIns="0" rtlCol="0" anchor="ctr"/>
          <a:lstStyle/>
          <a:p>
            <a:pPr marL="0" indent="0">
              <a:buNone/>
            </a:pPr>
            <a:r>
              <a:rPr lang="en-US" sz="1050" b="1" dirty="0">
                <a:solidFill>
                  <a:srgbClr val="F0D49A"/>
                </a:solidFill>
              </a:rPr>
              <a:t>PROTOTYPE DEMO 1</a:t>
            </a:r>
            <a:endParaRPr lang="en-US" sz="1050" dirty="0"/>
          </a:p>
        </p:txBody>
      </p:sp>
      <p:sp>
        <p:nvSpPr>
          <p:cNvPr id="9" name="Text 7"/>
          <p:cNvSpPr/>
          <p:nvPr/>
        </p:nvSpPr>
        <p:spPr>
          <a:xfrm>
            <a:off x="594360" y="914400"/>
            <a:ext cx="7863840" cy="694944"/>
          </a:xfrm>
          <a:prstGeom prst="rect">
            <a:avLst/>
          </a:prstGeom>
          <a:noFill/>
          <a:ln/>
        </p:spPr>
        <p:txBody>
          <a:bodyPr wrap="square" lIns="0" tIns="0" rIns="0" bIns="0" rtlCol="0" anchor="ctr">
            <a:normAutofit/>
          </a:bodyPr>
          <a:lstStyle/>
          <a:p>
            <a:pPr marL="0" indent="0">
              <a:buNone/>
            </a:pPr>
            <a:r>
              <a:rPr lang="en-US" sz="3000" b="1" dirty="0">
                <a:solidFill>
                  <a:srgbClr val="FFF7E8"/>
                </a:solidFill>
              </a:rPr>
              <a:t>Claude Parcel Finder Example</a:t>
            </a:r>
            <a:endParaRPr lang="en-US" sz="3000" dirty="0"/>
          </a:p>
        </p:txBody>
      </p:sp>
      <p:sp>
        <p:nvSpPr>
          <p:cNvPr id="10" name="Text 8"/>
          <p:cNvSpPr/>
          <p:nvPr/>
        </p:nvSpPr>
        <p:spPr>
          <a:xfrm>
            <a:off x="640080" y="1709928"/>
            <a:ext cx="6949440" cy="411480"/>
          </a:xfrm>
          <a:prstGeom prst="rect">
            <a:avLst/>
          </a:prstGeom>
          <a:noFill/>
          <a:ln/>
        </p:spPr>
        <p:txBody>
          <a:bodyPr wrap="square" lIns="0" tIns="0" rIns="0" bIns="0" rtlCol="0" anchor="ctr">
            <a:normAutofit fontScale="92500" lnSpcReduction="10000"/>
          </a:bodyPr>
          <a:lstStyle/>
          <a:p>
            <a:pPr marL="0" indent="0">
              <a:buNone/>
            </a:pPr>
            <a:r>
              <a:rPr lang="en-US" sz="1550" dirty="0">
                <a:solidFill>
                  <a:srgbClr val="CBBFA8"/>
                </a:solidFill>
              </a:rPr>
              <a:t>If someone asks Claude to create a quick county landowner/parcel identification concept in one shot.</a:t>
            </a:r>
            <a:endParaRPr lang="en-US" sz="1550" dirty="0"/>
          </a:p>
        </p:txBody>
      </p:sp>
      <p:sp>
        <p:nvSpPr>
          <p:cNvPr id="11" name="Shape 9"/>
          <p:cNvSpPr/>
          <p:nvPr/>
        </p:nvSpPr>
        <p:spPr>
          <a:xfrm>
            <a:off x="640080" y="2423160"/>
            <a:ext cx="3611880" cy="1828800"/>
          </a:xfrm>
          <a:prstGeom prst="roundRect">
            <a:avLst>
              <a:gd name="adj" fmla="val 6500"/>
            </a:avLst>
          </a:prstGeom>
          <a:solidFill>
            <a:srgbClr val="1B2116"/>
          </a:solidFill>
          <a:ln w="12700">
            <a:solidFill>
              <a:srgbClr val="D49A3D"/>
            </a:solidFill>
            <a:prstDash val="solid"/>
          </a:ln>
        </p:spPr>
        <p:txBody>
          <a:bodyPr/>
          <a:lstStyle/>
          <a:p>
            <a:endParaRPr/>
          </a:p>
        </p:txBody>
      </p:sp>
      <p:sp>
        <p:nvSpPr>
          <p:cNvPr id="12" name="Text 10"/>
          <p:cNvSpPr/>
          <p:nvPr/>
        </p:nvSpPr>
        <p:spPr>
          <a:xfrm>
            <a:off x="868680" y="2642616"/>
            <a:ext cx="31546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What it shows</a:t>
            </a:r>
            <a:endParaRPr lang="en-US" sz="1500" dirty="0"/>
          </a:p>
        </p:txBody>
      </p:sp>
      <p:sp>
        <p:nvSpPr>
          <p:cNvPr id="13" name="Text 11"/>
          <p:cNvSpPr/>
          <p:nvPr/>
        </p:nvSpPr>
        <p:spPr>
          <a:xfrm>
            <a:off x="868680" y="3044952"/>
            <a:ext cx="31546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AI can create a working prototype quickly, even for a data-heavy workflow idea.</a:t>
            </a:r>
            <a:endParaRPr lang="en-US" sz="1050" dirty="0"/>
          </a:p>
        </p:txBody>
      </p:sp>
      <p:sp>
        <p:nvSpPr>
          <p:cNvPr id="14" name="Shape 12"/>
          <p:cNvSpPr/>
          <p:nvPr/>
        </p:nvSpPr>
        <p:spPr>
          <a:xfrm>
            <a:off x="4480560" y="2423160"/>
            <a:ext cx="3611880" cy="1828800"/>
          </a:xfrm>
          <a:prstGeom prst="roundRect">
            <a:avLst>
              <a:gd name="adj" fmla="val 6500"/>
            </a:avLst>
          </a:prstGeom>
          <a:solidFill>
            <a:srgbClr val="1B2116"/>
          </a:solidFill>
          <a:ln w="12700">
            <a:solidFill>
              <a:srgbClr val="C4564B"/>
            </a:solidFill>
            <a:prstDash val="solid"/>
          </a:ln>
        </p:spPr>
        <p:txBody>
          <a:bodyPr/>
          <a:lstStyle/>
          <a:p>
            <a:endParaRPr/>
          </a:p>
        </p:txBody>
      </p:sp>
      <p:sp>
        <p:nvSpPr>
          <p:cNvPr id="15" name="Text 13"/>
          <p:cNvSpPr/>
          <p:nvPr/>
        </p:nvSpPr>
        <p:spPr>
          <a:xfrm>
            <a:off x="4709160" y="2642616"/>
            <a:ext cx="31546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Risk to discuss</a:t>
            </a:r>
            <a:endParaRPr lang="en-US" sz="1500" dirty="0"/>
          </a:p>
        </p:txBody>
      </p:sp>
      <p:sp>
        <p:nvSpPr>
          <p:cNvPr id="16" name="Text 14"/>
          <p:cNvSpPr/>
          <p:nvPr/>
        </p:nvSpPr>
        <p:spPr>
          <a:xfrm>
            <a:off x="4709160" y="3044952"/>
            <a:ext cx="31546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One-shot tools may look more finished than they are. Data quality, source accuracy, privacy, and review still matter.</a:t>
            </a:r>
            <a:endParaRPr lang="en-US" sz="1050" dirty="0"/>
          </a:p>
        </p:txBody>
      </p:sp>
      <p:sp>
        <p:nvSpPr>
          <p:cNvPr id="17" name="Shape 15"/>
          <p:cNvSpPr/>
          <p:nvPr/>
        </p:nvSpPr>
        <p:spPr>
          <a:xfrm>
            <a:off x="8321040" y="2423160"/>
            <a:ext cx="2926080" cy="1828800"/>
          </a:xfrm>
          <a:prstGeom prst="roundRect">
            <a:avLst>
              <a:gd name="adj" fmla="val 6500"/>
            </a:avLst>
          </a:prstGeom>
          <a:solidFill>
            <a:srgbClr val="1B2116"/>
          </a:solidFill>
          <a:ln w="12700">
            <a:solidFill>
              <a:srgbClr val="789D58"/>
            </a:solidFill>
            <a:prstDash val="solid"/>
          </a:ln>
        </p:spPr>
        <p:txBody>
          <a:bodyPr/>
          <a:lstStyle/>
          <a:p>
            <a:endParaRPr/>
          </a:p>
        </p:txBody>
      </p:sp>
      <p:sp>
        <p:nvSpPr>
          <p:cNvPr id="18" name="Text 16"/>
          <p:cNvSpPr/>
          <p:nvPr/>
        </p:nvSpPr>
        <p:spPr>
          <a:xfrm>
            <a:off x="8549640" y="2642616"/>
            <a:ext cx="24688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Facilitator prompt</a:t>
            </a:r>
            <a:endParaRPr lang="en-US" sz="1500" dirty="0"/>
          </a:p>
        </p:txBody>
      </p:sp>
      <p:sp>
        <p:nvSpPr>
          <p:cNvPr id="19" name="Text 17"/>
          <p:cNvSpPr/>
          <p:nvPr/>
        </p:nvSpPr>
        <p:spPr>
          <a:xfrm>
            <a:off x="8549640" y="3044952"/>
            <a:ext cx="24688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Ask: What would make this safe enough to use beyond a demo?</a:t>
            </a:r>
            <a:endParaRPr lang="en-US" sz="1050" dirty="0"/>
          </a:p>
        </p:txBody>
      </p:sp>
      <p:sp>
        <p:nvSpPr>
          <p:cNvPr id="20" name="Text 18">
            <a:hlinkClick r:id="rId3"/>
          </p:cNvPr>
          <p:cNvSpPr/>
          <p:nvPr/>
        </p:nvSpPr>
        <p:spPr>
          <a:xfrm>
            <a:off x="640080" y="4800600"/>
            <a:ext cx="1554480" cy="292608"/>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950" b="1" u="sng" dirty="0">
                <a:solidFill>
                  <a:srgbClr val="151008"/>
                </a:solidFill>
                <a:hlinkClick r:id="rId4">
                  <a:extLst>
                    <a:ext uri="{A12FA001-AC4F-418D-AE19-62706E023703}">
                      <ahyp:hlinkClr xmlns:ahyp="http://schemas.microsoft.com/office/drawing/2018/hyperlinkcolor" val="tx"/>
                    </a:ext>
                  </a:extLst>
                </a:hlinkClick>
              </a:rPr>
              <a:t>Open demo page</a:t>
            </a:r>
            <a:endParaRPr lang="en-US" sz="950" dirty="0"/>
          </a:p>
        </p:txBody>
      </p:sp>
      <p:sp>
        <p:nvSpPr>
          <p:cNvPr id="21" name="Text 19"/>
          <p:cNvSpPr/>
          <p:nvPr/>
        </p:nvSpPr>
        <p:spPr>
          <a:xfrm>
            <a:off x="2331720" y="4837176"/>
            <a:ext cx="7498080" cy="182880"/>
          </a:xfrm>
          <a:prstGeom prst="rect">
            <a:avLst/>
          </a:prstGeom>
          <a:noFill/>
          <a:ln/>
        </p:spPr>
        <p:txBody>
          <a:bodyPr wrap="square" lIns="0" tIns="0" rIns="0" bIns="0" rtlCol="0" anchor="ctr">
            <a:normAutofit/>
          </a:bodyPr>
          <a:lstStyle/>
          <a:p>
            <a:pPr marL="0" indent="0">
              <a:buNone/>
            </a:pPr>
            <a:r>
              <a:rPr lang="en-US" sz="800" dirty="0">
                <a:solidFill>
                  <a:srgbClr val="CBBFA8"/>
                </a:solidFill>
              </a:rPr>
              <a:t>Claude_Parcel.html</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3200400" cy="274320"/>
          </a:xfrm>
          <a:prstGeom prst="rect">
            <a:avLst/>
          </a:prstGeom>
          <a:noFill/>
          <a:ln/>
        </p:spPr>
        <p:txBody>
          <a:bodyPr wrap="square" lIns="0" tIns="0" rIns="0" bIns="0" rtlCol="0" anchor="ctr"/>
          <a:lstStyle/>
          <a:p>
            <a:pPr marL="0" indent="0">
              <a:buNone/>
            </a:pPr>
            <a:r>
              <a:rPr lang="en-US" sz="1050" b="1" dirty="0">
                <a:solidFill>
                  <a:srgbClr val="F0D49A"/>
                </a:solidFill>
              </a:rPr>
              <a:t>PROTOTYPE DEMO 2</a:t>
            </a:r>
            <a:endParaRPr lang="en-US" sz="1050" dirty="0"/>
          </a:p>
        </p:txBody>
      </p:sp>
      <p:sp>
        <p:nvSpPr>
          <p:cNvPr id="9" name="Text 7"/>
          <p:cNvSpPr/>
          <p:nvPr/>
        </p:nvSpPr>
        <p:spPr>
          <a:xfrm>
            <a:off x="594360" y="914400"/>
            <a:ext cx="7863840" cy="694944"/>
          </a:xfrm>
          <a:prstGeom prst="rect">
            <a:avLst/>
          </a:prstGeom>
          <a:noFill/>
          <a:ln/>
        </p:spPr>
        <p:txBody>
          <a:bodyPr wrap="square" lIns="0" tIns="0" rIns="0" bIns="0" rtlCol="0" anchor="ctr">
            <a:normAutofit/>
          </a:bodyPr>
          <a:lstStyle/>
          <a:p>
            <a:pPr marL="0" indent="0">
              <a:buNone/>
            </a:pPr>
            <a:r>
              <a:rPr lang="en-US" sz="3000" b="1" dirty="0">
                <a:solidFill>
                  <a:srgbClr val="FFF7E8"/>
                </a:solidFill>
              </a:rPr>
              <a:t>Landowner Prospecting Tool</a:t>
            </a:r>
            <a:endParaRPr lang="en-US" sz="3000" dirty="0"/>
          </a:p>
        </p:txBody>
      </p:sp>
      <p:sp>
        <p:nvSpPr>
          <p:cNvPr id="10" name="Text 8"/>
          <p:cNvSpPr/>
          <p:nvPr/>
        </p:nvSpPr>
        <p:spPr>
          <a:xfrm>
            <a:off x="640080" y="1709928"/>
            <a:ext cx="6949440" cy="411480"/>
          </a:xfrm>
          <a:prstGeom prst="rect">
            <a:avLst/>
          </a:prstGeom>
          <a:noFill/>
          <a:ln/>
        </p:spPr>
        <p:txBody>
          <a:bodyPr wrap="square" lIns="0" tIns="0" rIns="0" bIns="0" rtlCol="0" anchor="ctr">
            <a:normAutofit fontScale="92500" lnSpcReduction="10000"/>
          </a:bodyPr>
          <a:lstStyle/>
          <a:p>
            <a:pPr marL="0" indent="0">
              <a:buNone/>
            </a:pPr>
            <a:r>
              <a:rPr lang="en-US" sz="1550" dirty="0">
                <a:solidFill>
                  <a:srgbClr val="CBBFA8"/>
                </a:solidFill>
              </a:rPr>
              <a:t>A more developed tool shaped through conversation, questions, refinements, and business context.</a:t>
            </a:r>
            <a:endParaRPr lang="en-US" sz="1550" dirty="0"/>
          </a:p>
        </p:txBody>
      </p:sp>
      <p:sp>
        <p:nvSpPr>
          <p:cNvPr id="11" name="Shape 9"/>
          <p:cNvSpPr/>
          <p:nvPr/>
        </p:nvSpPr>
        <p:spPr>
          <a:xfrm>
            <a:off x="640080" y="2423160"/>
            <a:ext cx="3611880" cy="1828800"/>
          </a:xfrm>
          <a:prstGeom prst="roundRect">
            <a:avLst>
              <a:gd name="adj" fmla="val 6500"/>
            </a:avLst>
          </a:prstGeom>
          <a:solidFill>
            <a:srgbClr val="1B2116"/>
          </a:solidFill>
          <a:ln w="12700">
            <a:solidFill>
              <a:srgbClr val="D49A3D"/>
            </a:solidFill>
            <a:prstDash val="solid"/>
          </a:ln>
        </p:spPr>
        <p:txBody>
          <a:bodyPr/>
          <a:lstStyle/>
          <a:p>
            <a:endParaRPr/>
          </a:p>
        </p:txBody>
      </p:sp>
      <p:sp>
        <p:nvSpPr>
          <p:cNvPr id="12" name="Text 10"/>
          <p:cNvSpPr/>
          <p:nvPr/>
        </p:nvSpPr>
        <p:spPr>
          <a:xfrm>
            <a:off x="868680" y="2642616"/>
            <a:ext cx="31546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What it shows</a:t>
            </a:r>
            <a:endParaRPr lang="en-US" sz="1500" dirty="0"/>
          </a:p>
        </p:txBody>
      </p:sp>
      <p:sp>
        <p:nvSpPr>
          <p:cNvPr id="13" name="Text 11"/>
          <p:cNvSpPr/>
          <p:nvPr/>
        </p:nvSpPr>
        <p:spPr>
          <a:xfrm>
            <a:off x="868680" y="3044952"/>
            <a:ext cx="31546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AI gets better when the human keeps steering the tool toward the actual business process.</a:t>
            </a:r>
            <a:endParaRPr lang="en-US" sz="1050" dirty="0"/>
          </a:p>
        </p:txBody>
      </p:sp>
      <p:sp>
        <p:nvSpPr>
          <p:cNvPr id="14" name="Shape 12"/>
          <p:cNvSpPr/>
          <p:nvPr/>
        </p:nvSpPr>
        <p:spPr>
          <a:xfrm>
            <a:off x="4480560" y="2423160"/>
            <a:ext cx="3611880" cy="1828800"/>
          </a:xfrm>
          <a:prstGeom prst="roundRect">
            <a:avLst>
              <a:gd name="adj" fmla="val 6500"/>
            </a:avLst>
          </a:prstGeom>
          <a:solidFill>
            <a:srgbClr val="1B2116"/>
          </a:solidFill>
          <a:ln w="12700">
            <a:solidFill>
              <a:srgbClr val="C4564B"/>
            </a:solidFill>
            <a:prstDash val="solid"/>
          </a:ln>
        </p:spPr>
        <p:txBody>
          <a:bodyPr/>
          <a:lstStyle/>
          <a:p>
            <a:endParaRPr/>
          </a:p>
        </p:txBody>
      </p:sp>
      <p:sp>
        <p:nvSpPr>
          <p:cNvPr id="15" name="Text 13"/>
          <p:cNvSpPr/>
          <p:nvPr/>
        </p:nvSpPr>
        <p:spPr>
          <a:xfrm>
            <a:off x="4709160" y="2642616"/>
            <a:ext cx="31546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Risk to discuss</a:t>
            </a:r>
            <a:endParaRPr lang="en-US" sz="1500" dirty="0"/>
          </a:p>
        </p:txBody>
      </p:sp>
      <p:sp>
        <p:nvSpPr>
          <p:cNvPr id="16" name="Text 14"/>
          <p:cNvSpPr/>
          <p:nvPr/>
        </p:nvSpPr>
        <p:spPr>
          <a:xfrm>
            <a:off x="4709160" y="3044952"/>
            <a:ext cx="31546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Outreach, ownership data, property details, and claims must be verified before use.</a:t>
            </a:r>
            <a:endParaRPr lang="en-US" sz="1050" dirty="0"/>
          </a:p>
        </p:txBody>
      </p:sp>
      <p:sp>
        <p:nvSpPr>
          <p:cNvPr id="17" name="Shape 15"/>
          <p:cNvSpPr/>
          <p:nvPr/>
        </p:nvSpPr>
        <p:spPr>
          <a:xfrm>
            <a:off x="8321040" y="2423160"/>
            <a:ext cx="2926080" cy="1828800"/>
          </a:xfrm>
          <a:prstGeom prst="roundRect">
            <a:avLst>
              <a:gd name="adj" fmla="val 6500"/>
            </a:avLst>
          </a:prstGeom>
          <a:solidFill>
            <a:srgbClr val="1B2116"/>
          </a:solidFill>
          <a:ln w="12700">
            <a:solidFill>
              <a:srgbClr val="789D58"/>
            </a:solidFill>
            <a:prstDash val="solid"/>
          </a:ln>
        </p:spPr>
        <p:txBody>
          <a:bodyPr/>
          <a:lstStyle/>
          <a:p>
            <a:endParaRPr/>
          </a:p>
        </p:txBody>
      </p:sp>
      <p:sp>
        <p:nvSpPr>
          <p:cNvPr id="18" name="Text 16"/>
          <p:cNvSpPr/>
          <p:nvPr/>
        </p:nvSpPr>
        <p:spPr>
          <a:xfrm>
            <a:off x="8549640" y="2642616"/>
            <a:ext cx="24688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Facilitator prompt</a:t>
            </a:r>
            <a:endParaRPr lang="en-US" sz="1500" dirty="0"/>
          </a:p>
        </p:txBody>
      </p:sp>
      <p:sp>
        <p:nvSpPr>
          <p:cNvPr id="19" name="Text 17"/>
          <p:cNvSpPr/>
          <p:nvPr/>
        </p:nvSpPr>
        <p:spPr>
          <a:xfrm>
            <a:off x="8549640" y="3044952"/>
            <a:ext cx="24688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Ask: What should the tool draft, and what should only a Kretz person decide?</a:t>
            </a:r>
            <a:endParaRPr lang="en-US" sz="1050" dirty="0"/>
          </a:p>
        </p:txBody>
      </p:sp>
      <p:sp>
        <p:nvSpPr>
          <p:cNvPr id="20" name="Text 18">
            <a:hlinkClick r:id="rId3"/>
          </p:cNvPr>
          <p:cNvSpPr/>
          <p:nvPr/>
        </p:nvSpPr>
        <p:spPr>
          <a:xfrm>
            <a:off x="640080" y="4800600"/>
            <a:ext cx="1554480" cy="292608"/>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950" b="1" u="sng" dirty="0">
                <a:solidFill>
                  <a:srgbClr val="151008"/>
                </a:solidFill>
                <a:hlinkClick r:id="rId4">
                  <a:extLst>
                    <a:ext uri="{A12FA001-AC4F-418D-AE19-62706E023703}">
                      <ahyp:hlinkClr xmlns:ahyp="http://schemas.microsoft.com/office/drawing/2018/hyperlinkcolor" val="tx"/>
                    </a:ext>
                  </a:extLst>
                </a:hlinkClick>
              </a:rPr>
              <a:t>Open demo page</a:t>
            </a:r>
            <a:endParaRPr lang="en-US" sz="950" dirty="0"/>
          </a:p>
        </p:txBody>
      </p:sp>
      <p:sp>
        <p:nvSpPr>
          <p:cNvPr id="21" name="Text 19"/>
          <p:cNvSpPr/>
          <p:nvPr/>
        </p:nvSpPr>
        <p:spPr>
          <a:xfrm>
            <a:off x="2331720" y="4837176"/>
            <a:ext cx="7498080" cy="182880"/>
          </a:xfrm>
          <a:prstGeom prst="rect">
            <a:avLst/>
          </a:prstGeom>
          <a:noFill/>
          <a:ln/>
        </p:spPr>
        <p:txBody>
          <a:bodyPr wrap="square" lIns="0" tIns="0" rIns="0" bIns="0" rtlCol="0" anchor="ctr">
            <a:normAutofit/>
          </a:bodyPr>
          <a:lstStyle/>
          <a:p>
            <a:pPr marL="0" indent="0">
              <a:buNone/>
            </a:pPr>
            <a:r>
              <a:rPr lang="en-US" sz="800" dirty="0">
                <a:solidFill>
                  <a:srgbClr val="CBBFA8"/>
                </a:solidFill>
              </a:rPr>
              <a:t>kretz-landowner-prospecting.html</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3200400" cy="274320"/>
          </a:xfrm>
          <a:prstGeom prst="rect">
            <a:avLst/>
          </a:prstGeom>
          <a:noFill/>
          <a:ln/>
        </p:spPr>
        <p:txBody>
          <a:bodyPr wrap="square" lIns="0" tIns="0" rIns="0" bIns="0" rtlCol="0" anchor="ctr"/>
          <a:lstStyle/>
          <a:p>
            <a:pPr marL="0" indent="0">
              <a:buNone/>
            </a:pPr>
            <a:r>
              <a:rPr lang="en-US" sz="1050" b="1" dirty="0">
                <a:solidFill>
                  <a:srgbClr val="F0D49A"/>
                </a:solidFill>
              </a:rPr>
              <a:t>PROTOTYPE DEMO 3</a:t>
            </a:r>
            <a:endParaRPr lang="en-US" sz="1050" dirty="0"/>
          </a:p>
        </p:txBody>
      </p:sp>
      <p:sp>
        <p:nvSpPr>
          <p:cNvPr id="9" name="Text 7"/>
          <p:cNvSpPr/>
          <p:nvPr/>
        </p:nvSpPr>
        <p:spPr>
          <a:xfrm>
            <a:off x="594360" y="914400"/>
            <a:ext cx="7863840" cy="694944"/>
          </a:xfrm>
          <a:prstGeom prst="rect">
            <a:avLst/>
          </a:prstGeom>
          <a:noFill/>
          <a:ln/>
        </p:spPr>
        <p:txBody>
          <a:bodyPr wrap="square" lIns="0" tIns="0" rIns="0" bIns="0" rtlCol="0" anchor="ctr">
            <a:normAutofit/>
          </a:bodyPr>
          <a:lstStyle/>
          <a:p>
            <a:pPr marL="0" indent="0">
              <a:buNone/>
            </a:pPr>
            <a:r>
              <a:rPr lang="en-US" sz="3000" b="1" dirty="0">
                <a:solidFill>
                  <a:srgbClr val="FFF7E8"/>
                </a:solidFill>
              </a:rPr>
              <a:t>Timber Market Intelligence Calculator</a:t>
            </a:r>
            <a:endParaRPr lang="en-US" sz="3000" dirty="0"/>
          </a:p>
        </p:txBody>
      </p:sp>
      <p:sp>
        <p:nvSpPr>
          <p:cNvPr id="10" name="Text 8"/>
          <p:cNvSpPr/>
          <p:nvPr/>
        </p:nvSpPr>
        <p:spPr>
          <a:xfrm>
            <a:off x="640080" y="1709928"/>
            <a:ext cx="6949440" cy="411480"/>
          </a:xfrm>
          <a:prstGeom prst="rect">
            <a:avLst/>
          </a:prstGeom>
          <a:noFill/>
          <a:ln/>
        </p:spPr>
        <p:txBody>
          <a:bodyPr wrap="square" lIns="0" tIns="0" rIns="0" bIns="0" rtlCol="0" anchor="ctr">
            <a:normAutofit fontScale="92500" lnSpcReduction="10000"/>
          </a:bodyPr>
          <a:lstStyle/>
          <a:p>
            <a:pPr marL="0" indent="0">
              <a:buNone/>
            </a:pPr>
            <a:r>
              <a:rPr lang="en-US" sz="1550" dirty="0">
                <a:solidFill>
                  <a:srgbClr val="CBBFA8"/>
                </a:solidFill>
              </a:rPr>
              <a:t>A demo based on Troy's timber market thinking: company knowledge turned into an interactive tool.</a:t>
            </a:r>
            <a:endParaRPr lang="en-US" sz="1550" dirty="0"/>
          </a:p>
        </p:txBody>
      </p:sp>
      <p:sp>
        <p:nvSpPr>
          <p:cNvPr id="11" name="Shape 9"/>
          <p:cNvSpPr/>
          <p:nvPr/>
        </p:nvSpPr>
        <p:spPr>
          <a:xfrm>
            <a:off x="640080" y="2423160"/>
            <a:ext cx="3611880" cy="1828800"/>
          </a:xfrm>
          <a:prstGeom prst="roundRect">
            <a:avLst>
              <a:gd name="adj" fmla="val 6500"/>
            </a:avLst>
          </a:prstGeom>
          <a:solidFill>
            <a:srgbClr val="1B2116"/>
          </a:solidFill>
          <a:ln w="12700">
            <a:solidFill>
              <a:srgbClr val="D49A3D"/>
            </a:solidFill>
            <a:prstDash val="solid"/>
          </a:ln>
        </p:spPr>
        <p:txBody>
          <a:bodyPr/>
          <a:lstStyle/>
          <a:p>
            <a:endParaRPr/>
          </a:p>
        </p:txBody>
      </p:sp>
      <p:sp>
        <p:nvSpPr>
          <p:cNvPr id="12" name="Text 10"/>
          <p:cNvSpPr/>
          <p:nvPr/>
        </p:nvSpPr>
        <p:spPr>
          <a:xfrm>
            <a:off x="868680" y="2642616"/>
            <a:ext cx="31546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What it shows</a:t>
            </a:r>
            <a:endParaRPr lang="en-US" sz="1500" dirty="0"/>
          </a:p>
        </p:txBody>
      </p:sp>
      <p:sp>
        <p:nvSpPr>
          <p:cNvPr id="13" name="Text 11"/>
          <p:cNvSpPr/>
          <p:nvPr/>
        </p:nvSpPr>
        <p:spPr>
          <a:xfrm>
            <a:off x="868680" y="3044952"/>
            <a:ext cx="31546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AI can help translate expertise into calculators, explainers, and decision-support tools.</a:t>
            </a:r>
            <a:endParaRPr lang="en-US" sz="1050" dirty="0"/>
          </a:p>
        </p:txBody>
      </p:sp>
      <p:sp>
        <p:nvSpPr>
          <p:cNvPr id="14" name="Shape 12"/>
          <p:cNvSpPr/>
          <p:nvPr/>
        </p:nvSpPr>
        <p:spPr>
          <a:xfrm>
            <a:off x="4480560" y="2423160"/>
            <a:ext cx="3611880" cy="1828800"/>
          </a:xfrm>
          <a:prstGeom prst="roundRect">
            <a:avLst>
              <a:gd name="adj" fmla="val 6500"/>
            </a:avLst>
          </a:prstGeom>
          <a:solidFill>
            <a:srgbClr val="1B2116"/>
          </a:solidFill>
          <a:ln w="12700">
            <a:solidFill>
              <a:srgbClr val="C4564B"/>
            </a:solidFill>
            <a:prstDash val="solid"/>
          </a:ln>
        </p:spPr>
        <p:txBody>
          <a:bodyPr/>
          <a:lstStyle/>
          <a:p>
            <a:endParaRPr/>
          </a:p>
        </p:txBody>
      </p:sp>
      <p:sp>
        <p:nvSpPr>
          <p:cNvPr id="15" name="Text 13"/>
          <p:cNvSpPr/>
          <p:nvPr/>
        </p:nvSpPr>
        <p:spPr>
          <a:xfrm>
            <a:off x="4709160" y="2642616"/>
            <a:ext cx="31546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Risk to discuss</a:t>
            </a:r>
            <a:endParaRPr lang="en-US" sz="1500" dirty="0"/>
          </a:p>
        </p:txBody>
      </p:sp>
      <p:sp>
        <p:nvSpPr>
          <p:cNvPr id="16" name="Text 14"/>
          <p:cNvSpPr/>
          <p:nvPr/>
        </p:nvSpPr>
        <p:spPr>
          <a:xfrm>
            <a:off x="4709160" y="3044952"/>
            <a:ext cx="31546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It must not become a formal appraisal, pricing promise, or forestry prescription without review.</a:t>
            </a:r>
            <a:endParaRPr lang="en-US" sz="1050" dirty="0"/>
          </a:p>
        </p:txBody>
      </p:sp>
      <p:sp>
        <p:nvSpPr>
          <p:cNvPr id="17" name="Shape 15"/>
          <p:cNvSpPr/>
          <p:nvPr/>
        </p:nvSpPr>
        <p:spPr>
          <a:xfrm>
            <a:off x="8321040" y="2423160"/>
            <a:ext cx="2926080" cy="1828800"/>
          </a:xfrm>
          <a:prstGeom prst="roundRect">
            <a:avLst>
              <a:gd name="adj" fmla="val 6500"/>
            </a:avLst>
          </a:prstGeom>
          <a:solidFill>
            <a:srgbClr val="1B2116"/>
          </a:solidFill>
          <a:ln w="12700">
            <a:solidFill>
              <a:srgbClr val="789D58"/>
            </a:solidFill>
            <a:prstDash val="solid"/>
          </a:ln>
        </p:spPr>
        <p:txBody>
          <a:bodyPr/>
          <a:lstStyle/>
          <a:p>
            <a:endParaRPr/>
          </a:p>
        </p:txBody>
      </p:sp>
      <p:sp>
        <p:nvSpPr>
          <p:cNvPr id="18" name="Text 16"/>
          <p:cNvSpPr/>
          <p:nvPr/>
        </p:nvSpPr>
        <p:spPr>
          <a:xfrm>
            <a:off x="8549640" y="2642616"/>
            <a:ext cx="24688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Facilitator prompt</a:t>
            </a:r>
            <a:endParaRPr lang="en-US" sz="1500" dirty="0"/>
          </a:p>
        </p:txBody>
      </p:sp>
      <p:sp>
        <p:nvSpPr>
          <p:cNvPr id="19" name="Text 17"/>
          <p:cNvSpPr/>
          <p:nvPr/>
        </p:nvSpPr>
        <p:spPr>
          <a:xfrm>
            <a:off x="8549640" y="3044952"/>
            <a:ext cx="24688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Ask: What disclaimer and sign-off process would this need?</a:t>
            </a:r>
            <a:endParaRPr lang="en-US" sz="1050" dirty="0"/>
          </a:p>
        </p:txBody>
      </p:sp>
      <p:sp>
        <p:nvSpPr>
          <p:cNvPr id="20" name="Text 18">
            <a:hlinkClick r:id="rId3"/>
          </p:cNvPr>
          <p:cNvSpPr/>
          <p:nvPr/>
        </p:nvSpPr>
        <p:spPr>
          <a:xfrm>
            <a:off x="640080" y="4800600"/>
            <a:ext cx="1554480" cy="292608"/>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950" b="1" u="sng" dirty="0">
                <a:solidFill>
                  <a:srgbClr val="151008"/>
                </a:solidFill>
                <a:hlinkClick r:id="rId3">
                  <a:extLst>
                    <a:ext uri="{A12FA001-AC4F-418D-AE19-62706E023703}">
                      <ahyp:hlinkClr xmlns:ahyp="http://schemas.microsoft.com/office/drawing/2018/hyperlinkcolor" val="tx"/>
                    </a:ext>
                  </a:extLst>
                </a:hlinkClick>
              </a:rPr>
              <a:t>Open demo page</a:t>
            </a:r>
            <a:endParaRPr lang="en-US" sz="950" dirty="0"/>
          </a:p>
        </p:txBody>
      </p:sp>
      <p:sp>
        <p:nvSpPr>
          <p:cNvPr id="21" name="Text 19"/>
          <p:cNvSpPr/>
          <p:nvPr/>
        </p:nvSpPr>
        <p:spPr>
          <a:xfrm>
            <a:off x="2331720" y="4837176"/>
            <a:ext cx="7498080" cy="182880"/>
          </a:xfrm>
          <a:prstGeom prst="rect">
            <a:avLst/>
          </a:prstGeom>
          <a:noFill/>
          <a:ln/>
        </p:spPr>
        <p:txBody>
          <a:bodyPr wrap="square" lIns="0" tIns="0" rIns="0" bIns="0" rtlCol="0" anchor="ctr">
            <a:normAutofit/>
          </a:bodyPr>
          <a:lstStyle/>
          <a:p>
            <a:pPr marL="0" indent="0">
              <a:buNone/>
            </a:pPr>
            <a:r>
              <a:rPr lang="en-US" sz="800" dirty="0">
                <a:solidFill>
                  <a:srgbClr val="CBBFA8"/>
                </a:solidFill>
              </a:rPr>
              <a:t>kretz-timber-market-calculator.html</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3200400" cy="274320"/>
          </a:xfrm>
          <a:prstGeom prst="rect">
            <a:avLst/>
          </a:prstGeom>
          <a:noFill/>
          <a:ln/>
        </p:spPr>
        <p:txBody>
          <a:bodyPr wrap="square" lIns="0" tIns="0" rIns="0" bIns="0" rtlCol="0" anchor="ctr"/>
          <a:lstStyle/>
          <a:p>
            <a:pPr marL="0" indent="0">
              <a:buNone/>
            </a:pPr>
            <a:r>
              <a:rPr lang="en-US" sz="1050" b="1" dirty="0">
                <a:solidFill>
                  <a:srgbClr val="F0D49A"/>
                </a:solidFill>
              </a:rPr>
              <a:t>PROTOTYPE DEMO 4</a:t>
            </a:r>
            <a:endParaRPr lang="en-US" sz="1050" dirty="0"/>
          </a:p>
        </p:txBody>
      </p:sp>
      <p:sp>
        <p:nvSpPr>
          <p:cNvPr id="9" name="Text 7"/>
          <p:cNvSpPr/>
          <p:nvPr/>
        </p:nvSpPr>
        <p:spPr>
          <a:xfrm>
            <a:off x="594360" y="914400"/>
            <a:ext cx="7863840" cy="694944"/>
          </a:xfrm>
          <a:prstGeom prst="rect">
            <a:avLst/>
          </a:prstGeom>
          <a:noFill/>
          <a:ln/>
        </p:spPr>
        <p:txBody>
          <a:bodyPr wrap="square" lIns="0" tIns="0" rIns="0" bIns="0" rtlCol="0" anchor="ctr">
            <a:normAutofit/>
          </a:bodyPr>
          <a:lstStyle/>
          <a:p>
            <a:pPr marL="0" indent="0">
              <a:buNone/>
            </a:pPr>
            <a:r>
              <a:rPr lang="en-US" sz="3000" b="1" dirty="0">
                <a:solidFill>
                  <a:srgbClr val="FFF7E8"/>
                </a:solidFill>
              </a:rPr>
              <a:t>Kretz Haul Planner</a:t>
            </a:r>
            <a:endParaRPr lang="en-US" sz="3000" dirty="0"/>
          </a:p>
        </p:txBody>
      </p:sp>
      <p:sp>
        <p:nvSpPr>
          <p:cNvPr id="10" name="Text 8"/>
          <p:cNvSpPr/>
          <p:nvPr/>
        </p:nvSpPr>
        <p:spPr>
          <a:xfrm>
            <a:off x="640080" y="1709928"/>
            <a:ext cx="6949440" cy="411480"/>
          </a:xfrm>
          <a:prstGeom prst="rect">
            <a:avLst/>
          </a:prstGeom>
          <a:noFill/>
          <a:ln/>
        </p:spPr>
        <p:txBody>
          <a:bodyPr wrap="square" lIns="0" tIns="0" rIns="0" bIns="0" rtlCol="0" anchor="ctr">
            <a:normAutofit/>
          </a:bodyPr>
          <a:lstStyle/>
          <a:p>
            <a:pPr marL="0" indent="0">
              <a:buNone/>
            </a:pPr>
            <a:r>
              <a:rPr lang="en-US" sz="1550" dirty="0">
                <a:solidFill>
                  <a:srgbClr val="CBBFA8"/>
                </a:solidFill>
              </a:rPr>
              <a:t>Operational routing concept for pickups, drop-offs, and logistics planning.</a:t>
            </a:r>
            <a:endParaRPr lang="en-US" sz="1550" dirty="0"/>
          </a:p>
        </p:txBody>
      </p:sp>
      <p:sp>
        <p:nvSpPr>
          <p:cNvPr id="11" name="Shape 9"/>
          <p:cNvSpPr/>
          <p:nvPr/>
        </p:nvSpPr>
        <p:spPr>
          <a:xfrm>
            <a:off x="640080" y="2423160"/>
            <a:ext cx="3611880" cy="1828800"/>
          </a:xfrm>
          <a:prstGeom prst="roundRect">
            <a:avLst>
              <a:gd name="adj" fmla="val 6500"/>
            </a:avLst>
          </a:prstGeom>
          <a:solidFill>
            <a:srgbClr val="1B2116"/>
          </a:solidFill>
          <a:ln w="12700">
            <a:solidFill>
              <a:srgbClr val="D49A3D"/>
            </a:solidFill>
            <a:prstDash val="solid"/>
          </a:ln>
        </p:spPr>
        <p:txBody>
          <a:bodyPr/>
          <a:lstStyle/>
          <a:p>
            <a:endParaRPr/>
          </a:p>
        </p:txBody>
      </p:sp>
      <p:sp>
        <p:nvSpPr>
          <p:cNvPr id="12" name="Text 10"/>
          <p:cNvSpPr/>
          <p:nvPr/>
        </p:nvSpPr>
        <p:spPr>
          <a:xfrm>
            <a:off x="868680" y="2642616"/>
            <a:ext cx="31546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What it shows</a:t>
            </a:r>
            <a:endParaRPr lang="en-US" sz="1500" dirty="0"/>
          </a:p>
        </p:txBody>
      </p:sp>
      <p:sp>
        <p:nvSpPr>
          <p:cNvPr id="13" name="Text 11"/>
          <p:cNvSpPr/>
          <p:nvPr/>
        </p:nvSpPr>
        <p:spPr>
          <a:xfrm>
            <a:off x="868680" y="3044952"/>
            <a:ext cx="31546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AI can support planning, scenario comparison, and decision prep in operations.</a:t>
            </a:r>
            <a:endParaRPr lang="en-US" sz="1050" dirty="0"/>
          </a:p>
        </p:txBody>
      </p:sp>
      <p:sp>
        <p:nvSpPr>
          <p:cNvPr id="14" name="Shape 12"/>
          <p:cNvSpPr/>
          <p:nvPr/>
        </p:nvSpPr>
        <p:spPr>
          <a:xfrm>
            <a:off x="4480560" y="2423160"/>
            <a:ext cx="3611880" cy="1828800"/>
          </a:xfrm>
          <a:prstGeom prst="roundRect">
            <a:avLst>
              <a:gd name="adj" fmla="val 6500"/>
            </a:avLst>
          </a:prstGeom>
          <a:solidFill>
            <a:srgbClr val="1B2116"/>
          </a:solidFill>
          <a:ln w="12700">
            <a:solidFill>
              <a:srgbClr val="C4564B"/>
            </a:solidFill>
            <a:prstDash val="solid"/>
          </a:ln>
        </p:spPr>
        <p:txBody>
          <a:bodyPr/>
          <a:lstStyle/>
          <a:p>
            <a:endParaRPr/>
          </a:p>
        </p:txBody>
      </p:sp>
      <p:sp>
        <p:nvSpPr>
          <p:cNvPr id="15" name="Text 13"/>
          <p:cNvSpPr/>
          <p:nvPr/>
        </p:nvSpPr>
        <p:spPr>
          <a:xfrm>
            <a:off x="4709160" y="2642616"/>
            <a:ext cx="31546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Risk to discuss</a:t>
            </a:r>
            <a:endParaRPr lang="en-US" sz="1500" dirty="0"/>
          </a:p>
        </p:txBody>
      </p:sp>
      <p:sp>
        <p:nvSpPr>
          <p:cNvPr id="16" name="Text 14"/>
          <p:cNvSpPr/>
          <p:nvPr/>
        </p:nvSpPr>
        <p:spPr>
          <a:xfrm>
            <a:off x="4709160" y="3044952"/>
            <a:ext cx="31546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Routing output can be wrong if data is stale, incomplete, or missing constraints.</a:t>
            </a:r>
            <a:endParaRPr lang="en-US" sz="1050" dirty="0"/>
          </a:p>
        </p:txBody>
      </p:sp>
      <p:sp>
        <p:nvSpPr>
          <p:cNvPr id="17" name="Shape 15"/>
          <p:cNvSpPr/>
          <p:nvPr/>
        </p:nvSpPr>
        <p:spPr>
          <a:xfrm>
            <a:off x="8321040" y="2423160"/>
            <a:ext cx="2926080" cy="1828800"/>
          </a:xfrm>
          <a:prstGeom prst="roundRect">
            <a:avLst>
              <a:gd name="adj" fmla="val 6500"/>
            </a:avLst>
          </a:prstGeom>
          <a:solidFill>
            <a:srgbClr val="1B2116"/>
          </a:solidFill>
          <a:ln w="12700">
            <a:solidFill>
              <a:srgbClr val="789D58"/>
            </a:solidFill>
            <a:prstDash val="solid"/>
          </a:ln>
        </p:spPr>
        <p:txBody>
          <a:bodyPr/>
          <a:lstStyle/>
          <a:p>
            <a:endParaRPr/>
          </a:p>
        </p:txBody>
      </p:sp>
      <p:sp>
        <p:nvSpPr>
          <p:cNvPr id="18" name="Text 16"/>
          <p:cNvSpPr/>
          <p:nvPr/>
        </p:nvSpPr>
        <p:spPr>
          <a:xfrm>
            <a:off x="8549640" y="2642616"/>
            <a:ext cx="246888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Facilitator prompt</a:t>
            </a:r>
            <a:endParaRPr lang="en-US" sz="1500" dirty="0"/>
          </a:p>
        </p:txBody>
      </p:sp>
      <p:sp>
        <p:nvSpPr>
          <p:cNvPr id="19" name="Text 17"/>
          <p:cNvSpPr/>
          <p:nvPr/>
        </p:nvSpPr>
        <p:spPr>
          <a:xfrm>
            <a:off x="8549640" y="3044952"/>
            <a:ext cx="2468880" cy="1051560"/>
          </a:xfrm>
          <a:prstGeom prst="rect">
            <a:avLst/>
          </a:prstGeom>
          <a:noFill/>
          <a:ln/>
        </p:spPr>
        <p:txBody>
          <a:bodyPr wrap="square" lIns="0" tIns="0" rIns="0" bIns="0" rtlCol="0" anchor="ctr">
            <a:normAutofit/>
          </a:bodyPr>
          <a:lstStyle/>
          <a:p>
            <a:pPr marL="0" indent="0">
              <a:buNone/>
            </a:pPr>
            <a:r>
              <a:rPr lang="en-US" sz="1050" dirty="0">
                <a:solidFill>
                  <a:srgbClr val="FFF7E8"/>
                </a:solidFill>
              </a:rPr>
              <a:t>Ask: What existing systems or data would this need to be reliable?</a:t>
            </a:r>
            <a:endParaRPr lang="en-US" sz="1050" dirty="0"/>
          </a:p>
        </p:txBody>
      </p:sp>
      <p:sp>
        <p:nvSpPr>
          <p:cNvPr id="20" name="Text 18">
            <a:hlinkClick r:id="rId3"/>
          </p:cNvPr>
          <p:cNvSpPr/>
          <p:nvPr/>
        </p:nvSpPr>
        <p:spPr>
          <a:xfrm>
            <a:off x="640080" y="4800600"/>
            <a:ext cx="1554480" cy="292608"/>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950" b="1" u="sng" dirty="0">
                <a:solidFill>
                  <a:srgbClr val="151008"/>
                </a:solidFill>
                <a:hlinkClick r:id="rId4">
                  <a:extLst>
                    <a:ext uri="{A12FA001-AC4F-418D-AE19-62706E023703}">
                      <ahyp:hlinkClr xmlns:ahyp="http://schemas.microsoft.com/office/drawing/2018/hyperlinkcolor" val="tx"/>
                    </a:ext>
                  </a:extLst>
                </a:hlinkClick>
              </a:rPr>
              <a:t>Open demo page</a:t>
            </a:r>
            <a:endParaRPr lang="en-US" sz="950" dirty="0"/>
          </a:p>
        </p:txBody>
      </p:sp>
      <p:sp>
        <p:nvSpPr>
          <p:cNvPr id="21" name="Text 19"/>
          <p:cNvSpPr/>
          <p:nvPr/>
        </p:nvSpPr>
        <p:spPr>
          <a:xfrm>
            <a:off x="2331720" y="4837176"/>
            <a:ext cx="7498080" cy="182880"/>
          </a:xfrm>
          <a:prstGeom prst="rect">
            <a:avLst/>
          </a:prstGeom>
          <a:noFill/>
          <a:ln/>
        </p:spPr>
        <p:txBody>
          <a:bodyPr wrap="square" lIns="0" tIns="0" rIns="0" bIns="0" rtlCol="0" anchor="ctr">
            <a:normAutofit/>
          </a:bodyPr>
          <a:lstStyle/>
          <a:p>
            <a:pPr marL="0" indent="0">
              <a:buNone/>
            </a:pPr>
            <a:r>
              <a:rPr lang="en-US" sz="800" dirty="0">
                <a:solidFill>
                  <a:srgbClr val="CBBFA8"/>
                </a:solidFill>
              </a:rPr>
              <a:t>kretz-haul-planner.html</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94360"/>
            <a:ext cx="914400" cy="457200"/>
          </a:xfrm>
          <a:prstGeom prst="rect">
            <a:avLst/>
          </a:prstGeom>
          <a:noFill/>
          <a:ln/>
        </p:spPr>
        <p:txBody>
          <a:bodyPr wrap="square" lIns="0" tIns="0" rIns="0" bIns="0" rtlCol="0" anchor="ctr"/>
          <a:lstStyle/>
          <a:p>
            <a:pPr marL="0" indent="0">
              <a:buNone/>
            </a:pPr>
            <a:r>
              <a:rPr lang="en-US" sz="2000" b="1" dirty="0">
                <a:solidFill>
                  <a:srgbClr val="F0D49A"/>
                </a:solidFill>
              </a:rPr>
              <a:t>05</a:t>
            </a:r>
            <a:endParaRPr lang="en-US" sz="2000" dirty="0"/>
          </a:p>
        </p:txBody>
      </p:sp>
      <p:sp>
        <p:nvSpPr>
          <p:cNvPr id="9" name="Shape 7"/>
          <p:cNvSpPr/>
          <p:nvPr/>
        </p:nvSpPr>
        <p:spPr>
          <a:xfrm>
            <a:off x="594360" y="1078992"/>
            <a:ext cx="10698480" cy="0"/>
          </a:xfrm>
          <a:prstGeom prst="line">
            <a:avLst/>
          </a:prstGeom>
          <a:noFill/>
          <a:ln w="12700">
            <a:solidFill>
              <a:srgbClr val="D49A3D">
                <a:alpha val="82000"/>
              </a:srgbClr>
            </a:solidFill>
            <a:prstDash val="solid"/>
          </a:ln>
        </p:spPr>
        <p:txBody>
          <a:bodyPr/>
          <a:lstStyle/>
          <a:p>
            <a:endParaRPr/>
          </a:p>
        </p:txBody>
      </p:sp>
      <p:sp>
        <p:nvSpPr>
          <p:cNvPr id="10" name="Text 8"/>
          <p:cNvSpPr/>
          <p:nvPr/>
        </p:nvSpPr>
        <p:spPr>
          <a:xfrm>
            <a:off x="594360" y="1645920"/>
            <a:ext cx="8778240" cy="1463040"/>
          </a:xfrm>
          <a:prstGeom prst="rect">
            <a:avLst/>
          </a:prstGeom>
          <a:noFill/>
          <a:ln/>
        </p:spPr>
        <p:txBody>
          <a:bodyPr wrap="square" lIns="0" tIns="0" rIns="0" bIns="0" rtlCol="0" anchor="ctr">
            <a:normAutofit/>
          </a:bodyPr>
          <a:lstStyle/>
          <a:p>
            <a:pPr marL="0" indent="0">
              <a:buNone/>
            </a:pPr>
            <a:r>
              <a:rPr lang="en-US" sz="4300" b="1" dirty="0">
                <a:solidFill>
                  <a:srgbClr val="FFF7E8"/>
                </a:solidFill>
              </a:rPr>
              <a:t>Hands-on practice</a:t>
            </a:r>
            <a:endParaRPr lang="en-US" sz="4300" dirty="0"/>
          </a:p>
        </p:txBody>
      </p:sp>
      <p:sp>
        <p:nvSpPr>
          <p:cNvPr id="11" name="Text 9"/>
          <p:cNvSpPr/>
          <p:nvPr/>
        </p:nvSpPr>
        <p:spPr>
          <a:xfrm>
            <a:off x="621792" y="3246120"/>
            <a:ext cx="7863840" cy="731520"/>
          </a:xfrm>
          <a:prstGeom prst="rect">
            <a:avLst/>
          </a:prstGeom>
          <a:noFill/>
          <a:ln/>
        </p:spPr>
        <p:txBody>
          <a:bodyPr wrap="square" lIns="0" tIns="0" rIns="0" bIns="0" rtlCol="0" anchor="ctr">
            <a:normAutofit/>
          </a:bodyPr>
          <a:lstStyle/>
          <a:p>
            <a:pPr marL="0" indent="0">
              <a:buNone/>
            </a:pPr>
            <a:r>
              <a:rPr lang="en-US" sz="1800" dirty="0">
                <a:solidFill>
                  <a:srgbClr val="CBBFA8"/>
                </a:solidFill>
              </a:rPr>
              <a:t>Participants try tools, upload synthetic data, and compare outputs.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PRACTICE DATASETS</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Synthetic files for upload-based practice</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Participants can download a dataset, upload or paste it into ChatGPT, and test summaries, drafts, checklists, risk flags, and decisions.</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Landowner notes</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Practice follow-up emails and review checklists.</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Customer inquiries</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Practice not inventing price, availability, or delivery commitments.</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CRM/follow-up sample</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Decide whether tracking belongs in software, automation, or a GPT.</a:t>
            </a:r>
            <a:endParaRPr lang="en-US" sz="1050" dirty="0"/>
          </a:p>
        </p:txBody>
      </p:sp>
      <p:sp>
        <p:nvSpPr>
          <p:cNvPr id="20" name="Shape 18"/>
          <p:cNvSpPr/>
          <p:nvPr/>
        </p:nvSpPr>
        <p:spPr>
          <a:xfrm>
            <a:off x="640080"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1" name="Text 19"/>
          <p:cNvSpPr/>
          <p:nvPr/>
        </p:nvSpPr>
        <p:spPr>
          <a:xfrm>
            <a:off x="868680"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Vendor research starter</a:t>
            </a:r>
            <a:endParaRPr lang="en-US" sz="1500" dirty="0"/>
          </a:p>
        </p:txBody>
      </p:sp>
      <p:sp>
        <p:nvSpPr>
          <p:cNvPr id="22" name="Text 20"/>
          <p:cNvSpPr/>
          <p:nvPr/>
        </p:nvSpPr>
        <p:spPr>
          <a:xfrm>
            <a:off x="868680"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Build comparison tables and vendor questions.</a:t>
            </a:r>
            <a:endParaRPr lang="en-US" sz="1050" dirty="0"/>
          </a:p>
        </p:txBody>
      </p:sp>
      <p:sp>
        <p:nvSpPr>
          <p:cNvPr id="23" name="Shape 21"/>
          <p:cNvSpPr/>
          <p:nvPr/>
        </p:nvSpPr>
        <p:spPr>
          <a:xfrm>
            <a:off x="4322064"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4" name="Text 22"/>
          <p:cNvSpPr/>
          <p:nvPr/>
        </p:nvSpPr>
        <p:spPr>
          <a:xfrm>
            <a:off x="4550664"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Meeting notes</a:t>
            </a:r>
            <a:endParaRPr lang="en-US" sz="1500" dirty="0"/>
          </a:p>
        </p:txBody>
      </p:sp>
      <p:sp>
        <p:nvSpPr>
          <p:cNvPr id="25" name="Text 23"/>
          <p:cNvSpPr/>
          <p:nvPr/>
        </p:nvSpPr>
        <p:spPr>
          <a:xfrm>
            <a:off x="4550664"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Summaries, action items, risks, and next steps.</a:t>
            </a:r>
            <a:endParaRPr lang="en-US" sz="1050" dirty="0"/>
          </a:p>
        </p:txBody>
      </p:sp>
      <p:sp>
        <p:nvSpPr>
          <p:cNvPr id="26" name="Shape 24"/>
          <p:cNvSpPr/>
          <p:nvPr/>
        </p:nvSpPr>
        <p:spPr>
          <a:xfrm>
            <a:off x="8004048"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7" name="Text 25"/>
          <p:cNvSpPr/>
          <p:nvPr/>
        </p:nvSpPr>
        <p:spPr>
          <a:xfrm>
            <a:off x="8232648"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Voice samples</a:t>
            </a:r>
            <a:endParaRPr lang="en-US" sz="1500" dirty="0"/>
          </a:p>
        </p:txBody>
      </p:sp>
      <p:sp>
        <p:nvSpPr>
          <p:cNvPr id="28" name="Text 26"/>
          <p:cNvSpPr/>
          <p:nvPr/>
        </p:nvSpPr>
        <p:spPr>
          <a:xfrm>
            <a:off x="8232648"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Show how examples improve tone matching.</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3474720" cy="274320"/>
          </a:xfrm>
          <a:prstGeom prst="rect">
            <a:avLst/>
          </a:prstGeom>
          <a:noFill/>
          <a:ln/>
        </p:spPr>
        <p:txBody>
          <a:bodyPr wrap="square" lIns="0" tIns="0" rIns="0" bIns="0" rtlCol="0" anchor="ctr"/>
          <a:lstStyle/>
          <a:p>
            <a:pPr marL="0" indent="0">
              <a:buNone/>
            </a:pPr>
            <a:r>
              <a:rPr lang="en-US" sz="1050" b="1" dirty="0">
                <a:solidFill>
                  <a:srgbClr val="F0D49A"/>
                </a:solidFill>
              </a:rPr>
              <a:t>CUSTOM GPT ACTIVITY</a:t>
            </a:r>
            <a:endParaRPr lang="en-US" sz="1050" dirty="0"/>
          </a:p>
        </p:txBody>
      </p:sp>
      <p:sp>
        <p:nvSpPr>
          <p:cNvPr id="9" name="Text 7"/>
          <p:cNvSpPr/>
          <p:nvPr/>
        </p:nvSpPr>
        <p:spPr>
          <a:xfrm>
            <a:off x="594360" y="914400"/>
            <a:ext cx="6583680" cy="594360"/>
          </a:xfrm>
          <a:prstGeom prst="rect">
            <a:avLst/>
          </a:prstGeom>
          <a:noFill/>
          <a:ln/>
        </p:spPr>
        <p:txBody>
          <a:bodyPr wrap="square" lIns="0" tIns="0" rIns="0" bIns="0" rtlCol="0" anchor="ctr"/>
          <a:lstStyle/>
          <a:p>
            <a:pPr marL="0" indent="0">
              <a:buNone/>
            </a:pPr>
            <a:r>
              <a:rPr lang="en-US" sz="3400" b="1" dirty="0">
                <a:solidFill>
                  <a:srgbClr val="FFF7E8"/>
                </a:solidFill>
              </a:rPr>
              <a:t>Kretz DNA Assistant</a:t>
            </a:r>
            <a:endParaRPr lang="en-US" sz="3400" dirty="0"/>
          </a:p>
        </p:txBody>
      </p:sp>
      <p:sp>
        <p:nvSpPr>
          <p:cNvPr id="10" name="Text 8"/>
          <p:cNvSpPr/>
          <p:nvPr/>
        </p:nvSpPr>
        <p:spPr>
          <a:xfrm>
            <a:off x="640080" y="1664208"/>
            <a:ext cx="7955280" cy="438912"/>
          </a:xfrm>
          <a:prstGeom prst="rect">
            <a:avLst/>
          </a:prstGeom>
          <a:noFill/>
          <a:ln/>
        </p:spPr>
        <p:txBody>
          <a:bodyPr wrap="square" lIns="0" tIns="0" rIns="0" bIns="0" rtlCol="0" anchor="ctr">
            <a:normAutofit fontScale="92500" lnSpcReduction="10000"/>
          </a:bodyPr>
          <a:lstStyle/>
          <a:p>
            <a:pPr marL="0" indent="0">
              <a:buNone/>
            </a:pPr>
            <a:r>
              <a:rPr lang="en-US" sz="1600" dirty="0">
                <a:solidFill>
                  <a:srgbClr val="CBBFA8"/>
                </a:solidFill>
              </a:rPr>
              <a:t>A narrow tool that rewrites outgoing messages into the Kretz voice, preserves facts, and flags review items.</a:t>
            </a:r>
            <a:endParaRPr lang="en-US" sz="1600" dirty="0"/>
          </a:p>
        </p:txBody>
      </p:sp>
      <p:sp>
        <p:nvSpPr>
          <p:cNvPr id="11" name="Shape 9"/>
          <p:cNvSpPr/>
          <p:nvPr/>
        </p:nvSpPr>
        <p:spPr>
          <a:xfrm>
            <a:off x="640080" y="2468880"/>
            <a:ext cx="3337560" cy="1920240"/>
          </a:xfrm>
          <a:prstGeom prst="roundRect">
            <a:avLst>
              <a:gd name="adj" fmla="val 6190"/>
            </a:avLst>
          </a:prstGeom>
          <a:solidFill>
            <a:srgbClr val="1B2116"/>
          </a:solidFill>
          <a:ln w="12700">
            <a:solidFill>
              <a:srgbClr val="789D58"/>
            </a:solidFill>
            <a:prstDash val="solid"/>
          </a:ln>
        </p:spPr>
        <p:txBody>
          <a:bodyPr/>
          <a:lstStyle/>
          <a:p>
            <a:endParaRPr/>
          </a:p>
        </p:txBody>
      </p:sp>
      <p:sp>
        <p:nvSpPr>
          <p:cNvPr id="12" name="Text 10"/>
          <p:cNvSpPr/>
          <p:nvPr/>
        </p:nvSpPr>
        <p:spPr>
          <a:xfrm>
            <a:off x="868680" y="2688336"/>
            <a:ext cx="288036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What participants do</a:t>
            </a:r>
            <a:endParaRPr lang="en-US" sz="1500" dirty="0"/>
          </a:p>
        </p:txBody>
      </p:sp>
      <p:sp>
        <p:nvSpPr>
          <p:cNvPr id="13" name="Text 11"/>
          <p:cNvSpPr/>
          <p:nvPr/>
        </p:nvSpPr>
        <p:spPr>
          <a:xfrm>
            <a:off x="868680" y="3090672"/>
            <a:ext cx="2880360" cy="1143000"/>
          </a:xfrm>
          <a:prstGeom prst="rect">
            <a:avLst/>
          </a:prstGeom>
          <a:noFill/>
          <a:ln/>
        </p:spPr>
        <p:txBody>
          <a:bodyPr wrap="square" lIns="0" tIns="0" rIns="0" bIns="0" rtlCol="0" anchor="ctr">
            <a:normAutofit/>
          </a:bodyPr>
          <a:lstStyle/>
          <a:p>
            <a:pPr marL="0" indent="0">
              <a:buNone/>
            </a:pPr>
            <a:r>
              <a:rPr lang="en-US" sz="1050" dirty="0">
                <a:solidFill>
                  <a:srgbClr val="FFF7E8"/>
                </a:solidFill>
              </a:rPr>
              <a:t>Paste a rough email or message. Give no extra instruction. Watch the GPT rewrite it in the Kretz voice.</a:t>
            </a:r>
            <a:endParaRPr lang="en-US" sz="1050" dirty="0"/>
          </a:p>
        </p:txBody>
      </p:sp>
      <p:sp>
        <p:nvSpPr>
          <p:cNvPr id="14" name="Shape 12"/>
          <p:cNvSpPr/>
          <p:nvPr/>
        </p:nvSpPr>
        <p:spPr>
          <a:xfrm>
            <a:off x="4251960" y="2468880"/>
            <a:ext cx="3337560" cy="1920240"/>
          </a:xfrm>
          <a:prstGeom prst="roundRect">
            <a:avLst>
              <a:gd name="adj" fmla="val 6190"/>
            </a:avLst>
          </a:prstGeom>
          <a:solidFill>
            <a:srgbClr val="1B2116"/>
          </a:solidFill>
          <a:ln w="12700">
            <a:solidFill>
              <a:srgbClr val="D49A3D"/>
            </a:solidFill>
            <a:prstDash val="solid"/>
          </a:ln>
        </p:spPr>
        <p:txBody>
          <a:bodyPr/>
          <a:lstStyle/>
          <a:p>
            <a:endParaRPr/>
          </a:p>
        </p:txBody>
      </p:sp>
      <p:sp>
        <p:nvSpPr>
          <p:cNvPr id="15" name="Text 13"/>
          <p:cNvSpPr/>
          <p:nvPr/>
        </p:nvSpPr>
        <p:spPr>
          <a:xfrm>
            <a:off x="4480560" y="2688336"/>
            <a:ext cx="288036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Why this is safe</a:t>
            </a:r>
            <a:endParaRPr lang="en-US" sz="1500" dirty="0"/>
          </a:p>
        </p:txBody>
      </p:sp>
      <p:sp>
        <p:nvSpPr>
          <p:cNvPr id="16" name="Text 14"/>
          <p:cNvSpPr/>
          <p:nvPr/>
        </p:nvSpPr>
        <p:spPr>
          <a:xfrm>
            <a:off x="4480560" y="3090672"/>
            <a:ext cx="2880360" cy="1143000"/>
          </a:xfrm>
          <a:prstGeom prst="rect">
            <a:avLst/>
          </a:prstGeom>
          <a:noFill/>
          <a:ln/>
        </p:spPr>
        <p:txBody>
          <a:bodyPr wrap="square" lIns="0" tIns="0" rIns="0" bIns="0" rtlCol="0" anchor="ctr">
            <a:normAutofit/>
          </a:bodyPr>
          <a:lstStyle/>
          <a:p>
            <a:pPr marL="0" indent="0">
              <a:buNone/>
            </a:pPr>
            <a:r>
              <a:rPr lang="en-US" sz="1050" dirty="0">
                <a:solidFill>
                  <a:srgbClr val="FFF7E8"/>
                </a:solidFill>
              </a:rPr>
              <a:t>It does not make pricing, forestry, safety, or legal decisions. It only drafts and flags review needs.</a:t>
            </a:r>
            <a:endParaRPr lang="en-US" sz="1050" dirty="0"/>
          </a:p>
        </p:txBody>
      </p:sp>
      <p:sp>
        <p:nvSpPr>
          <p:cNvPr id="17" name="Shape 15"/>
          <p:cNvSpPr/>
          <p:nvPr/>
        </p:nvSpPr>
        <p:spPr>
          <a:xfrm>
            <a:off x="7863840" y="2468880"/>
            <a:ext cx="3337560" cy="1920240"/>
          </a:xfrm>
          <a:prstGeom prst="roundRect">
            <a:avLst>
              <a:gd name="adj" fmla="val 6190"/>
            </a:avLst>
          </a:prstGeom>
          <a:solidFill>
            <a:srgbClr val="1B2116"/>
          </a:solidFill>
          <a:ln w="12700">
            <a:solidFill>
              <a:srgbClr val="384231"/>
            </a:solidFill>
            <a:prstDash val="solid"/>
          </a:ln>
        </p:spPr>
        <p:txBody>
          <a:bodyPr/>
          <a:lstStyle/>
          <a:p>
            <a:endParaRPr/>
          </a:p>
        </p:txBody>
      </p:sp>
      <p:sp>
        <p:nvSpPr>
          <p:cNvPr id="18" name="Text 16"/>
          <p:cNvSpPr/>
          <p:nvPr/>
        </p:nvSpPr>
        <p:spPr>
          <a:xfrm>
            <a:off x="8092440" y="2688336"/>
            <a:ext cx="288036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9" name="Text 17"/>
          <p:cNvSpPr/>
          <p:nvPr/>
        </p:nvSpPr>
        <p:spPr>
          <a:xfrm>
            <a:off x="8092440" y="3090672"/>
            <a:ext cx="2880360" cy="1143000"/>
          </a:xfrm>
          <a:prstGeom prst="rect">
            <a:avLst/>
          </a:prstGeom>
          <a:noFill/>
          <a:ln/>
        </p:spPr>
        <p:txBody>
          <a:bodyPr wrap="square" lIns="0" tIns="0" rIns="0" bIns="0" rtlCol="0" anchor="ctr">
            <a:normAutofit/>
          </a:bodyPr>
          <a:lstStyle/>
          <a:p>
            <a:pPr marL="0" indent="0">
              <a:buNone/>
            </a:pPr>
            <a:r>
              <a:rPr lang="en-US" sz="1050" dirty="0">
                <a:solidFill>
                  <a:srgbClr val="FFF7E8"/>
                </a:solidFill>
              </a:rPr>
              <a:t>Narrow repeatable GPTs can reduce context drift because purpose, tone, boundaries, and review rules are built in.</a:t>
            </a:r>
            <a:endParaRPr lang="en-US" sz="1050" dirty="0"/>
          </a:p>
        </p:txBody>
      </p:sp>
      <p:sp>
        <p:nvSpPr>
          <p:cNvPr id="20" name="Text 18">
            <a:hlinkClick r:id="rId3"/>
          </p:cNvPr>
          <p:cNvSpPr/>
          <p:nvPr/>
        </p:nvSpPr>
        <p:spPr>
          <a:xfrm>
            <a:off x="640080" y="4800600"/>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GPT</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KRETZ DNA</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The voice AI should protect</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Kretz DNA is the company's practical voice, values, judgment, and stewardship mindset translated into communication standards.</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Stewardship first</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Long-term care for forests, landowners, customers, employees, and the business.</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Practical expertise</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Plainspoken, knowledgeable, useful, and not hype-driven.</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Trust before transaction</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Helpful and clear without pressure or unsupported promises.</a:t>
            </a:r>
            <a:endParaRPr lang="en-US" sz="1050" dirty="0"/>
          </a:p>
        </p:txBody>
      </p:sp>
      <p:sp>
        <p:nvSpPr>
          <p:cNvPr id="20" name="Shape 18"/>
          <p:cNvSpPr/>
          <p:nvPr/>
        </p:nvSpPr>
        <p:spPr>
          <a:xfrm>
            <a:off x="640080"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1" name="Text 19"/>
          <p:cNvSpPr/>
          <p:nvPr/>
        </p:nvSpPr>
        <p:spPr>
          <a:xfrm>
            <a:off x="868680"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Owner accountability</a:t>
            </a:r>
            <a:endParaRPr lang="en-US" sz="1500" dirty="0"/>
          </a:p>
        </p:txBody>
      </p:sp>
      <p:sp>
        <p:nvSpPr>
          <p:cNvPr id="22" name="Text 20"/>
          <p:cNvSpPr/>
          <p:nvPr/>
        </p:nvSpPr>
        <p:spPr>
          <a:xfrm>
            <a:off x="868680"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Employee-owned care, review, and follow-through.</a:t>
            </a:r>
            <a:endParaRPr lang="en-US" sz="1050" dirty="0"/>
          </a:p>
        </p:txBody>
      </p:sp>
      <p:sp>
        <p:nvSpPr>
          <p:cNvPr id="23" name="Shape 21"/>
          <p:cNvSpPr/>
          <p:nvPr/>
        </p:nvSpPr>
        <p:spPr>
          <a:xfrm>
            <a:off x="4322064"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4" name="Text 22"/>
          <p:cNvSpPr/>
          <p:nvPr/>
        </p:nvSpPr>
        <p:spPr>
          <a:xfrm>
            <a:off x="4550664"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Quality and consistency</a:t>
            </a:r>
            <a:endParaRPr lang="en-US" sz="1500" dirty="0"/>
          </a:p>
        </p:txBody>
      </p:sp>
      <p:sp>
        <p:nvSpPr>
          <p:cNvPr id="25" name="Text 23"/>
          <p:cNvSpPr/>
          <p:nvPr/>
        </p:nvSpPr>
        <p:spPr>
          <a:xfrm>
            <a:off x="4550664"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The message should be dependable and specific.</a:t>
            </a:r>
            <a:endParaRPr lang="en-US" sz="1050" dirty="0"/>
          </a:p>
        </p:txBody>
      </p:sp>
      <p:sp>
        <p:nvSpPr>
          <p:cNvPr id="26" name="Shape 24"/>
          <p:cNvSpPr/>
          <p:nvPr/>
        </p:nvSpPr>
        <p:spPr>
          <a:xfrm>
            <a:off x="8004048"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7" name="Text 25"/>
          <p:cNvSpPr/>
          <p:nvPr/>
        </p:nvSpPr>
        <p:spPr>
          <a:xfrm>
            <a:off x="8232648"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Human review</a:t>
            </a:r>
            <a:endParaRPr lang="en-US" sz="1500" dirty="0"/>
          </a:p>
        </p:txBody>
      </p:sp>
      <p:sp>
        <p:nvSpPr>
          <p:cNvPr id="28" name="Text 26"/>
          <p:cNvSpPr/>
          <p:nvPr/>
        </p:nvSpPr>
        <p:spPr>
          <a:xfrm>
            <a:off x="8232648"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Kretz people own the message. AI drafts it.</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2926080" cy="274320"/>
          </a:xfrm>
          <a:prstGeom prst="rect">
            <a:avLst/>
          </a:prstGeom>
          <a:noFill/>
          <a:ln/>
        </p:spPr>
        <p:txBody>
          <a:bodyPr wrap="square" lIns="0" tIns="0" rIns="0" bIns="0" rtlCol="0" anchor="ctr"/>
          <a:lstStyle/>
          <a:p>
            <a:pPr marL="0" indent="0">
              <a:buNone/>
            </a:pPr>
            <a:r>
              <a:rPr lang="en-US" sz="1050" b="1" dirty="0">
                <a:solidFill>
                  <a:srgbClr val="F0D49A"/>
                </a:solidFill>
              </a:rPr>
              <a:t>ACCESS REALITY</a:t>
            </a:r>
            <a:endParaRPr lang="en-US" sz="1050" dirty="0"/>
          </a:p>
        </p:txBody>
      </p:sp>
      <p:sp>
        <p:nvSpPr>
          <p:cNvPr id="9" name="Text 7"/>
          <p:cNvSpPr/>
          <p:nvPr/>
        </p:nvSpPr>
        <p:spPr>
          <a:xfrm>
            <a:off x="594360" y="914400"/>
            <a:ext cx="8869680" cy="658368"/>
          </a:xfrm>
          <a:prstGeom prst="rect">
            <a:avLst/>
          </a:prstGeom>
          <a:noFill/>
          <a:ln/>
        </p:spPr>
        <p:txBody>
          <a:bodyPr wrap="square" lIns="0" tIns="0" rIns="0" bIns="0" rtlCol="0" anchor="ctr">
            <a:normAutofit/>
          </a:bodyPr>
          <a:lstStyle/>
          <a:p>
            <a:pPr marL="0" indent="0">
              <a:buNone/>
            </a:pPr>
            <a:r>
              <a:rPr lang="en-US" sz="3100" b="1" dirty="0">
                <a:solidFill>
                  <a:srgbClr val="FFF7E8"/>
                </a:solidFill>
              </a:rPr>
              <a:t>What if they cannot use or build GPTs live?</a:t>
            </a:r>
            <a:endParaRPr lang="en-US" sz="3100" dirty="0"/>
          </a:p>
        </p:txBody>
      </p:sp>
      <p:sp>
        <p:nvSpPr>
          <p:cNvPr id="10" name="Shape 8"/>
          <p:cNvSpPr/>
          <p:nvPr/>
        </p:nvSpPr>
        <p:spPr>
          <a:xfrm>
            <a:off x="640080" y="1828800"/>
            <a:ext cx="3474720" cy="2057400"/>
          </a:xfrm>
          <a:prstGeom prst="roundRect">
            <a:avLst>
              <a:gd name="adj" fmla="val 5778"/>
            </a:avLst>
          </a:prstGeom>
          <a:solidFill>
            <a:srgbClr val="1B2116"/>
          </a:solidFill>
          <a:ln w="12700">
            <a:solidFill>
              <a:srgbClr val="789D58"/>
            </a:solidFill>
            <a:prstDash val="solid"/>
          </a:ln>
        </p:spPr>
        <p:txBody>
          <a:bodyPr/>
          <a:lstStyle/>
          <a:p>
            <a:endParaRPr/>
          </a:p>
        </p:txBody>
      </p:sp>
      <p:sp>
        <p:nvSpPr>
          <p:cNvPr id="11" name="Text 9"/>
          <p:cNvSpPr/>
          <p:nvPr/>
        </p:nvSpPr>
        <p:spPr>
          <a:xfrm>
            <a:off x="868680" y="2048256"/>
            <a:ext cx="301752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Using a shared GPT</a:t>
            </a:r>
            <a:endParaRPr lang="en-US" sz="1500" dirty="0"/>
          </a:p>
        </p:txBody>
      </p:sp>
      <p:sp>
        <p:nvSpPr>
          <p:cNvPr id="12" name="Text 10"/>
          <p:cNvSpPr/>
          <p:nvPr/>
        </p:nvSpPr>
        <p:spPr>
          <a:xfrm>
            <a:off x="868680" y="2450592"/>
            <a:ext cx="3017520" cy="1280160"/>
          </a:xfrm>
          <a:prstGeom prst="rect">
            <a:avLst/>
          </a:prstGeom>
          <a:noFill/>
          <a:ln/>
        </p:spPr>
        <p:txBody>
          <a:bodyPr wrap="square" lIns="0" tIns="0" rIns="0" bIns="0" rtlCol="0" anchor="ctr">
            <a:normAutofit/>
          </a:bodyPr>
          <a:lstStyle/>
          <a:p>
            <a:pPr marL="0" indent="0">
              <a:buNone/>
            </a:pPr>
            <a:r>
              <a:rPr lang="en-US" sz="1050" dirty="0">
                <a:solidFill>
                  <a:srgbClr val="FFF7E8"/>
                </a:solidFill>
              </a:rPr>
              <a:t>OpenAI says signed-in users can interact with GPTs they have access to. Access can depend on sharing and workspace settings.</a:t>
            </a:r>
            <a:endParaRPr lang="en-US" sz="1050" dirty="0"/>
          </a:p>
        </p:txBody>
      </p:sp>
      <p:sp>
        <p:nvSpPr>
          <p:cNvPr id="13" name="Shape 11"/>
          <p:cNvSpPr/>
          <p:nvPr/>
        </p:nvSpPr>
        <p:spPr>
          <a:xfrm>
            <a:off x="4343400" y="1828800"/>
            <a:ext cx="3474720" cy="2057400"/>
          </a:xfrm>
          <a:prstGeom prst="roundRect">
            <a:avLst>
              <a:gd name="adj" fmla="val 5778"/>
            </a:avLst>
          </a:prstGeom>
          <a:solidFill>
            <a:srgbClr val="1B2116"/>
          </a:solidFill>
          <a:ln w="12700">
            <a:solidFill>
              <a:srgbClr val="D49A3D"/>
            </a:solidFill>
            <a:prstDash val="solid"/>
          </a:ln>
        </p:spPr>
        <p:txBody>
          <a:bodyPr/>
          <a:lstStyle/>
          <a:p>
            <a:endParaRPr/>
          </a:p>
        </p:txBody>
      </p:sp>
      <p:sp>
        <p:nvSpPr>
          <p:cNvPr id="14" name="Text 12"/>
          <p:cNvSpPr/>
          <p:nvPr/>
        </p:nvSpPr>
        <p:spPr>
          <a:xfrm>
            <a:off x="4572000" y="2048256"/>
            <a:ext cx="301752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Building/editing GPTs</a:t>
            </a:r>
            <a:endParaRPr lang="en-US" sz="1500" dirty="0"/>
          </a:p>
        </p:txBody>
      </p:sp>
      <p:sp>
        <p:nvSpPr>
          <p:cNvPr id="15" name="Text 13"/>
          <p:cNvSpPr/>
          <p:nvPr/>
        </p:nvSpPr>
        <p:spPr>
          <a:xfrm>
            <a:off x="4572000" y="2450592"/>
            <a:ext cx="3017520" cy="1280160"/>
          </a:xfrm>
          <a:prstGeom prst="rect">
            <a:avLst/>
          </a:prstGeom>
          <a:noFill/>
          <a:ln/>
        </p:spPr>
        <p:txBody>
          <a:bodyPr wrap="square" lIns="0" tIns="0" rIns="0" bIns="0" rtlCol="0" anchor="ctr">
            <a:normAutofit/>
          </a:bodyPr>
          <a:lstStyle/>
          <a:p>
            <a:pPr marL="0" indent="0">
              <a:buNone/>
            </a:pPr>
            <a:r>
              <a:rPr lang="en-US" sz="1050" dirty="0">
                <a:solidFill>
                  <a:srgbClr val="FFF7E8"/>
                </a:solidFill>
              </a:rPr>
              <a:t>OpenAI says creating or editing GPTs requires a paid subscription and is done in the web experience.</a:t>
            </a:r>
            <a:endParaRPr lang="en-US" sz="1050" dirty="0"/>
          </a:p>
        </p:txBody>
      </p:sp>
      <p:sp>
        <p:nvSpPr>
          <p:cNvPr id="16" name="Shape 14"/>
          <p:cNvSpPr/>
          <p:nvPr/>
        </p:nvSpPr>
        <p:spPr>
          <a:xfrm>
            <a:off x="8046720" y="1828800"/>
            <a:ext cx="3063240" cy="2057400"/>
          </a:xfrm>
          <a:prstGeom prst="roundRect">
            <a:avLst>
              <a:gd name="adj" fmla="val 5778"/>
            </a:avLst>
          </a:prstGeom>
          <a:solidFill>
            <a:srgbClr val="1B2116"/>
          </a:solidFill>
          <a:ln w="12700">
            <a:solidFill>
              <a:srgbClr val="384231"/>
            </a:solidFill>
            <a:prstDash val="solid"/>
          </a:ln>
        </p:spPr>
        <p:txBody>
          <a:bodyPr/>
          <a:lstStyle/>
          <a:p>
            <a:endParaRPr/>
          </a:p>
        </p:txBody>
      </p:sp>
      <p:sp>
        <p:nvSpPr>
          <p:cNvPr id="17" name="Text 15"/>
          <p:cNvSpPr/>
          <p:nvPr/>
        </p:nvSpPr>
        <p:spPr>
          <a:xfrm>
            <a:off x="8275320" y="2048256"/>
            <a:ext cx="2606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Training fallback</a:t>
            </a:r>
            <a:endParaRPr lang="en-US" sz="1500" dirty="0"/>
          </a:p>
        </p:txBody>
      </p:sp>
      <p:sp>
        <p:nvSpPr>
          <p:cNvPr id="18" name="Text 16"/>
          <p:cNvSpPr/>
          <p:nvPr/>
        </p:nvSpPr>
        <p:spPr>
          <a:xfrm>
            <a:off x="8275320" y="2450592"/>
            <a:ext cx="2606040" cy="1280160"/>
          </a:xfrm>
          <a:prstGeom prst="rect">
            <a:avLst/>
          </a:prstGeom>
          <a:noFill/>
          <a:ln/>
        </p:spPr>
        <p:txBody>
          <a:bodyPr wrap="square" lIns="0" tIns="0" rIns="0" bIns="0" rtlCol="0" anchor="ctr">
            <a:normAutofit/>
          </a:bodyPr>
          <a:lstStyle/>
          <a:p>
            <a:pPr marL="0" indent="0">
              <a:buNone/>
            </a:pPr>
            <a:r>
              <a:rPr lang="en-US" sz="1050" dirty="0">
                <a:solidFill>
                  <a:srgbClr val="FFF7E8"/>
                </a:solidFill>
              </a:rPr>
              <a:t>If access is blocked, participants paste the short instructions into a regular ChatGPT session and still complete the activity.</a:t>
            </a:r>
            <a:endParaRPr lang="en-US" sz="1050" dirty="0"/>
          </a:p>
        </p:txBody>
      </p:sp>
      <p:sp>
        <p:nvSpPr>
          <p:cNvPr id="19" name="Text 17">
            <a:hlinkClick r:id="rId3"/>
          </p:cNvPr>
          <p:cNvSpPr/>
          <p:nvPr/>
        </p:nvSpPr>
        <p:spPr>
          <a:xfrm>
            <a:off x="640080" y="431596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GPT FAQ</a:t>
            </a:r>
            <a:endParaRPr lang="en-US" sz="850" dirty="0"/>
          </a:p>
        </p:txBody>
      </p:sp>
      <p:sp>
        <p:nvSpPr>
          <p:cNvPr id="20" name="Text 18">
            <a:hlinkClick r:id="rId4"/>
          </p:cNvPr>
          <p:cNvSpPr/>
          <p:nvPr/>
        </p:nvSpPr>
        <p:spPr>
          <a:xfrm>
            <a:off x="1965960" y="4315968"/>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4"/>
              </a:rPr>
              <a:t>Create GPTs</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3474720" cy="274320"/>
          </a:xfrm>
          <a:prstGeom prst="rect">
            <a:avLst/>
          </a:prstGeom>
          <a:noFill/>
          <a:ln/>
        </p:spPr>
        <p:txBody>
          <a:bodyPr wrap="square" lIns="0" tIns="0" rIns="0" bIns="0" rtlCol="0" anchor="ctr"/>
          <a:lstStyle/>
          <a:p>
            <a:pPr marL="0" indent="0">
              <a:buNone/>
            </a:pPr>
            <a:r>
              <a:rPr lang="en-US" sz="1050" b="1" dirty="0">
                <a:solidFill>
                  <a:srgbClr val="F0D49A"/>
                </a:solidFill>
              </a:rPr>
              <a:t>CUSTOM GPT ACTIVITY</a:t>
            </a:r>
            <a:endParaRPr lang="en-US" sz="1050" dirty="0"/>
          </a:p>
        </p:txBody>
      </p:sp>
      <p:sp>
        <p:nvSpPr>
          <p:cNvPr id="9" name="Text 7"/>
          <p:cNvSpPr/>
          <p:nvPr/>
        </p:nvSpPr>
        <p:spPr>
          <a:xfrm>
            <a:off x="594360" y="914400"/>
            <a:ext cx="7132320" cy="594360"/>
          </a:xfrm>
          <a:prstGeom prst="rect">
            <a:avLst/>
          </a:prstGeom>
          <a:noFill/>
          <a:ln/>
        </p:spPr>
        <p:txBody>
          <a:bodyPr wrap="square" lIns="0" tIns="0" rIns="0" bIns="0" rtlCol="0" anchor="ctr"/>
          <a:lstStyle/>
          <a:p>
            <a:pPr marL="0" indent="0">
              <a:buNone/>
            </a:pPr>
            <a:r>
              <a:rPr lang="en-US" sz="3400" b="1" dirty="0">
                <a:solidFill>
                  <a:srgbClr val="FFF7E8"/>
                </a:solidFill>
              </a:rPr>
              <a:t>Kretz AI Decision Guide</a:t>
            </a:r>
            <a:endParaRPr lang="en-US" sz="3400" dirty="0"/>
          </a:p>
        </p:txBody>
      </p:sp>
      <p:sp>
        <p:nvSpPr>
          <p:cNvPr id="10" name="Text 8"/>
          <p:cNvSpPr/>
          <p:nvPr/>
        </p:nvSpPr>
        <p:spPr>
          <a:xfrm>
            <a:off x="640080" y="1645920"/>
            <a:ext cx="9235440" cy="457200"/>
          </a:xfrm>
          <a:prstGeom prst="rect">
            <a:avLst/>
          </a:prstGeom>
          <a:noFill/>
          <a:ln/>
        </p:spPr>
        <p:txBody>
          <a:bodyPr wrap="square" lIns="0" tIns="0" rIns="0" bIns="0" rtlCol="0" anchor="ctr">
            <a:normAutofit lnSpcReduction="10000"/>
          </a:bodyPr>
          <a:lstStyle/>
          <a:p>
            <a:pPr marL="0" indent="0">
              <a:buNone/>
            </a:pPr>
            <a:r>
              <a:rPr lang="en-US" sz="1530" dirty="0">
                <a:solidFill>
                  <a:srgbClr val="CBBFA8"/>
                </a:solidFill>
              </a:rPr>
              <a:t>A tool for deciding whether a problem should be AI, existing software, automation, a narrow Custom GPT, process cleanup, a vendor system, or no AI for now.</a:t>
            </a:r>
            <a:endParaRPr lang="en-US" sz="1530" dirty="0"/>
          </a:p>
        </p:txBody>
      </p:sp>
      <p:sp>
        <p:nvSpPr>
          <p:cNvPr id="11" name="Shape 9"/>
          <p:cNvSpPr/>
          <p:nvPr/>
        </p:nvSpPr>
        <p:spPr>
          <a:xfrm>
            <a:off x="640080" y="2423160"/>
            <a:ext cx="3429000" cy="1965960"/>
          </a:xfrm>
          <a:prstGeom prst="roundRect">
            <a:avLst>
              <a:gd name="adj" fmla="val 6047"/>
            </a:avLst>
          </a:prstGeom>
          <a:solidFill>
            <a:srgbClr val="1B2116"/>
          </a:solidFill>
          <a:ln w="12700">
            <a:solidFill>
              <a:srgbClr val="789D58"/>
            </a:solidFill>
            <a:prstDash val="solid"/>
          </a:ln>
        </p:spPr>
        <p:txBody>
          <a:bodyPr/>
          <a:lstStyle/>
          <a:p>
            <a:endParaRPr/>
          </a:p>
        </p:txBody>
      </p:sp>
      <p:sp>
        <p:nvSpPr>
          <p:cNvPr id="12" name="Text 10"/>
          <p:cNvSpPr/>
          <p:nvPr/>
        </p:nvSpPr>
        <p:spPr>
          <a:xfrm>
            <a:off x="868680" y="2642616"/>
            <a:ext cx="29718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Activity prompt</a:t>
            </a:r>
            <a:endParaRPr lang="en-US" sz="1500" dirty="0"/>
          </a:p>
        </p:txBody>
      </p:sp>
      <p:sp>
        <p:nvSpPr>
          <p:cNvPr id="13" name="Text 11"/>
          <p:cNvSpPr/>
          <p:nvPr/>
        </p:nvSpPr>
        <p:spPr>
          <a:xfrm>
            <a:off x="868680" y="3044952"/>
            <a:ext cx="2971800" cy="1188720"/>
          </a:xfrm>
          <a:prstGeom prst="rect">
            <a:avLst/>
          </a:prstGeom>
          <a:noFill/>
          <a:ln/>
        </p:spPr>
        <p:txBody>
          <a:bodyPr wrap="square" lIns="0" tIns="0" rIns="0" bIns="0" rtlCol="0" anchor="ctr">
            <a:normAutofit/>
          </a:bodyPr>
          <a:lstStyle/>
          <a:p>
            <a:pPr marL="0" indent="0">
              <a:buNone/>
            </a:pPr>
            <a:r>
              <a:rPr lang="en-US" sz="1050" dirty="0">
                <a:solidFill>
                  <a:srgbClr val="FFF7E8"/>
                </a:solidFill>
              </a:rPr>
              <a:t>Describe a real Kretz problem. Answer the GPT's questions. Review the recommendation.</a:t>
            </a:r>
            <a:endParaRPr lang="en-US" sz="1050" dirty="0"/>
          </a:p>
        </p:txBody>
      </p:sp>
      <p:sp>
        <p:nvSpPr>
          <p:cNvPr id="14" name="Shape 12"/>
          <p:cNvSpPr/>
          <p:nvPr/>
        </p:nvSpPr>
        <p:spPr>
          <a:xfrm>
            <a:off x="4389120" y="2423160"/>
            <a:ext cx="3429000" cy="1965960"/>
          </a:xfrm>
          <a:prstGeom prst="roundRect">
            <a:avLst>
              <a:gd name="adj" fmla="val 6047"/>
            </a:avLst>
          </a:prstGeom>
          <a:solidFill>
            <a:srgbClr val="1B2116"/>
          </a:solidFill>
          <a:ln w="12700">
            <a:solidFill>
              <a:srgbClr val="D49A3D"/>
            </a:solidFill>
            <a:prstDash val="solid"/>
          </a:ln>
        </p:spPr>
        <p:txBody>
          <a:bodyPr/>
          <a:lstStyle/>
          <a:p>
            <a:endParaRPr/>
          </a:p>
        </p:txBody>
      </p:sp>
      <p:sp>
        <p:nvSpPr>
          <p:cNvPr id="15" name="Text 13"/>
          <p:cNvSpPr/>
          <p:nvPr/>
        </p:nvSpPr>
        <p:spPr>
          <a:xfrm>
            <a:off x="4617720" y="2642616"/>
            <a:ext cx="297180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What it teaches</a:t>
            </a:r>
            <a:endParaRPr lang="en-US" sz="1500" dirty="0"/>
          </a:p>
        </p:txBody>
      </p:sp>
      <p:sp>
        <p:nvSpPr>
          <p:cNvPr id="16" name="Text 14"/>
          <p:cNvSpPr/>
          <p:nvPr/>
        </p:nvSpPr>
        <p:spPr>
          <a:xfrm>
            <a:off x="4617720" y="3044952"/>
            <a:ext cx="2971800" cy="1188720"/>
          </a:xfrm>
          <a:prstGeom prst="rect">
            <a:avLst/>
          </a:prstGeom>
          <a:noFill/>
          <a:ln/>
        </p:spPr>
        <p:txBody>
          <a:bodyPr wrap="square" lIns="0" tIns="0" rIns="0" bIns="0" rtlCol="0" anchor="ctr">
            <a:normAutofit/>
          </a:bodyPr>
          <a:lstStyle/>
          <a:p>
            <a:pPr marL="0" indent="0">
              <a:buNone/>
            </a:pPr>
            <a:r>
              <a:rPr lang="en-US" sz="1050" dirty="0">
                <a:solidFill>
                  <a:srgbClr val="FFF7E8"/>
                </a:solidFill>
              </a:rPr>
              <a:t>The right answer may be Outlook, Planner, SharePoint, CRM, automation, vendor system, or process cleanup.</a:t>
            </a:r>
            <a:endParaRPr lang="en-US" sz="1050" dirty="0"/>
          </a:p>
        </p:txBody>
      </p:sp>
      <p:sp>
        <p:nvSpPr>
          <p:cNvPr id="17" name="Shape 15"/>
          <p:cNvSpPr/>
          <p:nvPr/>
        </p:nvSpPr>
        <p:spPr>
          <a:xfrm>
            <a:off x="8138160" y="2423160"/>
            <a:ext cx="3063240" cy="1965960"/>
          </a:xfrm>
          <a:prstGeom prst="roundRect">
            <a:avLst>
              <a:gd name="adj" fmla="val 6047"/>
            </a:avLst>
          </a:prstGeom>
          <a:solidFill>
            <a:srgbClr val="1B2116"/>
          </a:solidFill>
          <a:ln w="12700">
            <a:solidFill>
              <a:srgbClr val="384231"/>
            </a:solidFill>
            <a:prstDash val="solid"/>
          </a:ln>
        </p:spPr>
        <p:txBody>
          <a:bodyPr/>
          <a:lstStyle/>
          <a:p>
            <a:endParaRPr/>
          </a:p>
        </p:txBody>
      </p:sp>
      <p:sp>
        <p:nvSpPr>
          <p:cNvPr id="18" name="Text 16"/>
          <p:cNvSpPr/>
          <p:nvPr/>
        </p:nvSpPr>
        <p:spPr>
          <a:xfrm>
            <a:off x="8366760" y="2642616"/>
            <a:ext cx="26060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Governance lesson</a:t>
            </a:r>
            <a:endParaRPr lang="en-US" sz="1500" dirty="0"/>
          </a:p>
        </p:txBody>
      </p:sp>
      <p:sp>
        <p:nvSpPr>
          <p:cNvPr id="19" name="Text 17"/>
          <p:cNvSpPr/>
          <p:nvPr/>
        </p:nvSpPr>
        <p:spPr>
          <a:xfrm>
            <a:off x="8366760" y="3044952"/>
            <a:ext cx="2606040" cy="1188720"/>
          </a:xfrm>
          <a:prstGeom prst="rect">
            <a:avLst/>
          </a:prstGeom>
          <a:noFill/>
          <a:ln/>
        </p:spPr>
        <p:txBody>
          <a:bodyPr wrap="square" lIns="0" tIns="0" rIns="0" bIns="0" rtlCol="0" anchor="ctr">
            <a:normAutofit/>
          </a:bodyPr>
          <a:lstStyle/>
          <a:p>
            <a:pPr marL="0" indent="0">
              <a:buNone/>
            </a:pPr>
            <a:r>
              <a:rPr lang="en-US" sz="1050" dirty="0">
                <a:solidFill>
                  <a:srgbClr val="FFF7E8"/>
                </a:solidFill>
              </a:rPr>
              <a:t>Good AI leadership starts by asking whether AI should be used at all.</a:t>
            </a:r>
            <a:endParaRPr lang="en-US" sz="1050" dirty="0"/>
          </a:p>
        </p:txBody>
      </p:sp>
      <p:sp>
        <p:nvSpPr>
          <p:cNvPr id="20" name="Text 18">
            <a:hlinkClick r:id="rId3"/>
          </p:cNvPr>
          <p:cNvSpPr/>
          <p:nvPr/>
        </p:nvSpPr>
        <p:spPr>
          <a:xfrm>
            <a:off x="640080" y="4828032"/>
            <a:ext cx="1143000" cy="256032"/>
          </a:xfrm>
          <a:prstGeom prst="rect">
            <a:avLst/>
          </a:prstGeom>
          <a:solidFill>
            <a:srgbClr val="F0D49A"/>
          </a:solidFill>
          <a:ln>
            <a:solidFill>
              <a:srgbClr val="F0D49A"/>
            </a:solidFill>
          </a:ln>
        </p:spPr>
        <p:txBody>
          <a:bodyPr wrap="square" lIns="0" tIns="0" rIns="0" bIns="0" rtlCol="0" anchor="ctr"/>
          <a:lstStyle/>
          <a:p>
            <a:pPr marL="0" indent="0" algn="ctr">
              <a:buNone/>
            </a:pPr>
            <a:r>
              <a:rPr lang="en-US" sz="850" b="1" u="sng" dirty="0">
                <a:solidFill>
                  <a:srgbClr val="151008"/>
                </a:solidFill>
                <a:hlinkClick r:id="rId3">
                  <a:extLst>
                    <a:ext uri="{A12FA001-AC4F-418D-AE19-62706E023703}">
                      <ahyp:hlinkClr xmlns:ahyp="http://schemas.microsoft.com/office/drawing/2018/hyperlinkcolor" val="tx"/>
                    </a:ext>
                  </a:extLst>
                </a:hlinkClick>
              </a:rPr>
              <a:t>Open GPT</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3474720" cy="274320"/>
          </a:xfrm>
          <a:prstGeom prst="rect">
            <a:avLst/>
          </a:prstGeom>
          <a:noFill/>
          <a:ln/>
        </p:spPr>
        <p:txBody>
          <a:bodyPr wrap="square" lIns="0" tIns="0" rIns="0" bIns="0" rtlCol="0" anchor="ctr"/>
          <a:lstStyle/>
          <a:p>
            <a:pPr marL="0" indent="0">
              <a:buNone/>
            </a:pPr>
            <a:r>
              <a:rPr lang="en-US" sz="1050" b="1" dirty="0">
                <a:solidFill>
                  <a:srgbClr val="F0D49A"/>
                </a:solidFill>
              </a:rPr>
              <a:t>DECISION FRAMEWORK</a:t>
            </a:r>
            <a:endParaRPr lang="en-US" sz="1050" dirty="0"/>
          </a:p>
        </p:txBody>
      </p:sp>
      <p:sp>
        <p:nvSpPr>
          <p:cNvPr id="9" name="Text 7"/>
          <p:cNvSpPr/>
          <p:nvPr/>
        </p:nvSpPr>
        <p:spPr>
          <a:xfrm>
            <a:off x="594360" y="914400"/>
            <a:ext cx="6217920" cy="594360"/>
          </a:xfrm>
          <a:prstGeom prst="rect">
            <a:avLst/>
          </a:prstGeom>
          <a:noFill/>
          <a:ln/>
        </p:spPr>
        <p:txBody>
          <a:bodyPr wrap="square" lIns="0" tIns="0" rIns="0" bIns="0" rtlCol="0" anchor="ctr"/>
          <a:lstStyle/>
          <a:p>
            <a:pPr marL="0" indent="0">
              <a:buNone/>
            </a:pPr>
            <a:r>
              <a:rPr lang="en-US" sz="3400" b="1" dirty="0">
                <a:solidFill>
                  <a:srgbClr val="FFF7E8"/>
                </a:solidFill>
              </a:rPr>
              <a:t>Should this be AI?</a:t>
            </a:r>
            <a:endParaRPr lang="en-US" sz="3400" dirty="0"/>
          </a:p>
        </p:txBody>
      </p:sp>
      <p:sp>
        <p:nvSpPr>
          <p:cNvPr id="10" name="Shape 8"/>
          <p:cNvSpPr/>
          <p:nvPr/>
        </p:nvSpPr>
        <p:spPr>
          <a:xfrm>
            <a:off x="594360" y="1783080"/>
            <a:ext cx="3520440" cy="1170432"/>
          </a:xfrm>
          <a:prstGeom prst="roundRect">
            <a:avLst>
              <a:gd name="adj" fmla="val 10156"/>
            </a:avLst>
          </a:prstGeom>
          <a:solidFill>
            <a:srgbClr val="1B2116"/>
          </a:solidFill>
          <a:ln w="12700">
            <a:solidFill>
              <a:srgbClr val="789D58"/>
            </a:solidFill>
            <a:prstDash val="solid"/>
          </a:ln>
        </p:spPr>
        <p:txBody>
          <a:bodyPr/>
          <a:lstStyle/>
          <a:p>
            <a:endParaRPr/>
          </a:p>
        </p:txBody>
      </p:sp>
      <p:sp>
        <p:nvSpPr>
          <p:cNvPr id="11" name="Text 9"/>
          <p:cNvSpPr/>
          <p:nvPr/>
        </p:nvSpPr>
        <p:spPr>
          <a:xfrm>
            <a:off x="822960" y="2002536"/>
            <a:ext cx="30632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Use existing software</a:t>
            </a:r>
            <a:endParaRPr lang="en-US" sz="1500" dirty="0"/>
          </a:p>
        </p:txBody>
      </p:sp>
      <p:sp>
        <p:nvSpPr>
          <p:cNvPr id="12" name="Text 10"/>
          <p:cNvSpPr/>
          <p:nvPr/>
        </p:nvSpPr>
        <p:spPr>
          <a:xfrm>
            <a:off x="822960" y="2404872"/>
            <a:ext cx="3063240" cy="393192"/>
          </a:xfrm>
          <a:prstGeom prst="rect">
            <a:avLst/>
          </a:prstGeom>
          <a:noFill/>
          <a:ln/>
        </p:spPr>
        <p:txBody>
          <a:bodyPr wrap="square" lIns="0" tIns="0" rIns="0" bIns="0" rtlCol="0" anchor="ctr">
            <a:normAutofit/>
          </a:bodyPr>
          <a:lstStyle/>
          <a:p>
            <a:pPr marL="0" indent="0">
              <a:buNone/>
            </a:pPr>
            <a:r>
              <a:rPr lang="en-US" sz="1050" dirty="0">
                <a:solidFill>
                  <a:srgbClr val="FFF7E8"/>
                </a:solidFill>
              </a:rPr>
              <a:t>Reminders, tasks, calendars, templates, shared trackers</a:t>
            </a:r>
            <a:endParaRPr lang="en-US" sz="1050" dirty="0"/>
          </a:p>
        </p:txBody>
      </p:sp>
      <p:sp>
        <p:nvSpPr>
          <p:cNvPr id="13" name="Shape 11"/>
          <p:cNvSpPr/>
          <p:nvPr/>
        </p:nvSpPr>
        <p:spPr>
          <a:xfrm>
            <a:off x="4343400" y="1783080"/>
            <a:ext cx="3520440" cy="1170432"/>
          </a:xfrm>
          <a:prstGeom prst="roundRect">
            <a:avLst>
              <a:gd name="adj" fmla="val 10156"/>
            </a:avLst>
          </a:prstGeom>
          <a:solidFill>
            <a:srgbClr val="1B2116"/>
          </a:solidFill>
          <a:ln w="12700">
            <a:solidFill>
              <a:srgbClr val="D49A3D"/>
            </a:solidFill>
            <a:prstDash val="solid"/>
          </a:ln>
        </p:spPr>
        <p:txBody>
          <a:bodyPr/>
          <a:lstStyle/>
          <a:p>
            <a:endParaRPr/>
          </a:p>
        </p:txBody>
      </p:sp>
      <p:sp>
        <p:nvSpPr>
          <p:cNvPr id="14" name="Text 12"/>
          <p:cNvSpPr/>
          <p:nvPr/>
        </p:nvSpPr>
        <p:spPr>
          <a:xfrm>
            <a:off x="4572000" y="2002536"/>
            <a:ext cx="30632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Build a Custom GPT</a:t>
            </a:r>
            <a:endParaRPr lang="en-US" sz="1500" dirty="0"/>
          </a:p>
        </p:txBody>
      </p:sp>
      <p:sp>
        <p:nvSpPr>
          <p:cNvPr id="15" name="Text 13"/>
          <p:cNvSpPr/>
          <p:nvPr/>
        </p:nvSpPr>
        <p:spPr>
          <a:xfrm>
            <a:off x="4572000" y="2404872"/>
            <a:ext cx="3063240" cy="393192"/>
          </a:xfrm>
          <a:prstGeom prst="rect">
            <a:avLst/>
          </a:prstGeom>
          <a:noFill/>
          <a:ln/>
        </p:spPr>
        <p:txBody>
          <a:bodyPr wrap="square" lIns="0" tIns="0" rIns="0" bIns="0" rtlCol="0" anchor="ctr">
            <a:normAutofit/>
          </a:bodyPr>
          <a:lstStyle/>
          <a:p>
            <a:pPr marL="0" indent="0">
              <a:buNone/>
            </a:pPr>
            <a:r>
              <a:rPr lang="en-US" sz="1050" dirty="0">
                <a:solidFill>
                  <a:srgbClr val="FFF7E8"/>
                </a:solidFill>
              </a:rPr>
              <a:t>Repeated language-heavy tasks with stable rules and human review</a:t>
            </a:r>
            <a:endParaRPr lang="en-US" sz="1050" dirty="0"/>
          </a:p>
        </p:txBody>
      </p:sp>
      <p:sp>
        <p:nvSpPr>
          <p:cNvPr id="16" name="Shape 14"/>
          <p:cNvSpPr/>
          <p:nvPr/>
        </p:nvSpPr>
        <p:spPr>
          <a:xfrm>
            <a:off x="8092440" y="1783080"/>
            <a:ext cx="3520440" cy="1170432"/>
          </a:xfrm>
          <a:prstGeom prst="roundRect">
            <a:avLst>
              <a:gd name="adj" fmla="val 10156"/>
            </a:avLst>
          </a:prstGeom>
          <a:solidFill>
            <a:srgbClr val="1B2116"/>
          </a:solidFill>
          <a:ln w="12700">
            <a:solidFill>
              <a:srgbClr val="D49A3D"/>
            </a:solidFill>
            <a:prstDash val="solid"/>
          </a:ln>
        </p:spPr>
        <p:txBody>
          <a:bodyPr/>
          <a:lstStyle/>
          <a:p>
            <a:endParaRPr/>
          </a:p>
        </p:txBody>
      </p:sp>
      <p:sp>
        <p:nvSpPr>
          <p:cNvPr id="17" name="Text 15"/>
          <p:cNvSpPr/>
          <p:nvPr/>
        </p:nvSpPr>
        <p:spPr>
          <a:xfrm>
            <a:off x="8321040" y="2002536"/>
            <a:ext cx="30632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Use automation</a:t>
            </a:r>
            <a:endParaRPr lang="en-US" sz="1500" dirty="0"/>
          </a:p>
        </p:txBody>
      </p:sp>
      <p:sp>
        <p:nvSpPr>
          <p:cNvPr id="18" name="Text 16"/>
          <p:cNvSpPr/>
          <p:nvPr/>
        </p:nvSpPr>
        <p:spPr>
          <a:xfrm>
            <a:off x="8321040" y="2404872"/>
            <a:ext cx="3063240" cy="393192"/>
          </a:xfrm>
          <a:prstGeom prst="rect">
            <a:avLst/>
          </a:prstGeom>
          <a:noFill/>
          <a:ln/>
        </p:spPr>
        <p:txBody>
          <a:bodyPr wrap="square" lIns="0" tIns="0" rIns="0" bIns="0" rtlCol="0" anchor="ctr">
            <a:normAutofit/>
          </a:bodyPr>
          <a:lstStyle/>
          <a:p>
            <a:pPr marL="0" indent="0">
              <a:buNone/>
            </a:pPr>
            <a:r>
              <a:rPr lang="en-US" sz="1050" dirty="0">
                <a:solidFill>
                  <a:srgbClr val="FFF7E8"/>
                </a:solidFill>
              </a:rPr>
              <a:t>Triggers, routing, notifications, task creation, handoffs</a:t>
            </a:r>
            <a:endParaRPr lang="en-US" sz="1050" dirty="0"/>
          </a:p>
        </p:txBody>
      </p:sp>
      <p:sp>
        <p:nvSpPr>
          <p:cNvPr id="19" name="Shape 17"/>
          <p:cNvSpPr/>
          <p:nvPr/>
        </p:nvSpPr>
        <p:spPr>
          <a:xfrm>
            <a:off x="594360" y="3291840"/>
            <a:ext cx="3520440" cy="1170432"/>
          </a:xfrm>
          <a:prstGeom prst="roundRect">
            <a:avLst>
              <a:gd name="adj" fmla="val 10156"/>
            </a:avLst>
          </a:prstGeom>
          <a:solidFill>
            <a:srgbClr val="1B2116"/>
          </a:solidFill>
          <a:ln w="12700">
            <a:solidFill>
              <a:srgbClr val="D49A3D"/>
            </a:solidFill>
            <a:prstDash val="solid"/>
          </a:ln>
        </p:spPr>
        <p:txBody>
          <a:bodyPr/>
          <a:lstStyle/>
          <a:p>
            <a:endParaRPr/>
          </a:p>
        </p:txBody>
      </p:sp>
      <p:sp>
        <p:nvSpPr>
          <p:cNvPr id="20" name="Text 18"/>
          <p:cNvSpPr/>
          <p:nvPr/>
        </p:nvSpPr>
        <p:spPr>
          <a:xfrm>
            <a:off x="822960" y="3511296"/>
            <a:ext cx="30632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Improve process first</a:t>
            </a:r>
            <a:endParaRPr lang="en-US" sz="1500" dirty="0"/>
          </a:p>
        </p:txBody>
      </p:sp>
      <p:sp>
        <p:nvSpPr>
          <p:cNvPr id="21" name="Text 19"/>
          <p:cNvSpPr/>
          <p:nvPr/>
        </p:nvSpPr>
        <p:spPr>
          <a:xfrm>
            <a:off x="822960" y="3913632"/>
            <a:ext cx="3063240" cy="393192"/>
          </a:xfrm>
          <a:prstGeom prst="rect">
            <a:avLst/>
          </a:prstGeom>
          <a:noFill/>
          <a:ln/>
        </p:spPr>
        <p:txBody>
          <a:bodyPr wrap="square" lIns="0" tIns="0" rIns="0" bIns="0" rtlCol="0" anchor="ctr">
            <a:normAutofit/>
          </a:bodyPr>
          <a:lstStyle/>
          <a:p>
            <a:pPr marL="0" indent="0">
              <a:buNone/>
            </a:pPr>
            <a:r>
              <a:rPr lang="en-US" sz="1050" dirty="0">
                <a:solidFill>
                  <a:srgbClr val="FFF7E8"/>
                </a:solidFill>
              </a:rPr>
              <a:t>Unclear workflow, missing owner, inconsistent inputs</a:t>
            </a:r>
            <a:endParaRPr lang="en-US" sz="1050" dirty="0"/>
          </a:p>
        </p:txBody>
      </p:sp>
      <p:sp>
        <p:nvSpPr>
          <p:cNvPr id="22" name="Shape 20"/>
          <p:cNvSpPr/>
          <p:nvPr/>
        </p:nvSpPr>
        <p:spPr>
          <a:xfrm>
            <a:off x="4343400" y="3291840"/>
            <a:ext cx="3520440" cy="1170432"/>
          </a:xfrm>
          <a:prstGeom prst="roundRect">
            <a:avLst>
              <a:gd name="adj" fmla="val 10156"/>
            </a:avLst>
          </a:prstGeom>
          <a:solidFill>
            <a:srgbClr val="1B2116"/>
          </a:solidFill>
          <a:ln w="12700">
            <a:solidFill>
              <a:srgbClr val="D49A3D"/>
            </a:solidFill>
            <a:prstDash val="solid"/>
          </a:ln>
        </p:spPr>
        <p:txBody>
          <a:bodyPr/>
          <a:lstStyle/>
          <a:p>
            <a:endParaRPr/>
          </a:p>
        </p:txBody>
      </p:sp>
      <p:sp>
        <p:nvSpPr>
          <p:cNvPr id="23" name="Text 21"/>
          <p:cNvSpPr/>
          <p:nvPr/>
        </p:nvSpPr>
        <p:spPr>
          <a:xfrm>
            <a:off x="4572000" y="3511296"/>
            <a:ext cx="30632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Explore vendor system</a:t>
            </a:r>
            <a:endParaRPr lang="en-US" sz="1500" dirty="0"/>
          </a:p>
        </p:txBody>
      </p:sp>
      <p:sp>
        <p:nvSpPr>
          <p:cNvPr id="24" name="Text 22"/>
          <p:cNvSpPr/>
          <p:nvPr/>
        </p:nvSpPr>
        <p:spPr>
          <a:xfrm>
            <a:off x="4572000" y="3913632"/>
            <a:ext cx="3063240" cy="393192"/>
          </a:xfrm>
          <a:prstGeom prst="rect">
            <a:avLst/>
          </a:prstGeom>
          <a:noFill/>
          <a:ln/>
        </p:spPr>
        <p:txBody>
          <a:bodyPr wrap="square" lIns="0" tIns="0" rIns="0" bIns="0" rtlCol="0" anchor="ctr">
            <a:normAutofit/>
          </a:bodyPr>
          <a:lstStyle/>
          <a:p>
            <a:pPr marL="0" indent="0">
              <a:buNone/>
            </a:pPr>
            <a:r>
              <a:rPr lang="en-US" sz="1050" dirty="0">
                <a:solidFill>
                  <a:srgbClr val="FFF7E8"/>
                </a:solidFill>
              </a:rPr>
              <a:t>CRM, system of record, audit trail, permissions, integrations</a:t>
            </a:r>
            <a:endParaRPr lang="en-US" sz="1050" dirty="0"/>
          </a:p>
        </p:txBody>
      </p:sp>
      <p:sp>
        <p:nvSpPr>
          <p:cNvPr id="25" name="Shape 23"/>
          <p:cNvSpPr/>
          <p:nvPr/>
        </p:nvSpPr>
        <p:spPr>
          <a:xfrm>
            <a:off x="8092440" y="3291840"/>
            <a:ext cx="3520440" cy="1170432"/>
          </a:xfrm>
          <a:prstGeom prst="roundRect">
            <a:avLst>
              <a:gd name="adj" fmla="val 10156"/>
            </a:avLst>
          </a:prstGeom>
          <a:solidFill>
            <a:srgbClr val="1B2116"/>
          </a:solidFill>
          <a:ln w="12700">
            <a:solidFill>
              <a:srgbClr val="C4564B"/>
            </a:solidFill>
            <a:prstDash val="solid"/>
          </a:ln>
        </p:spPr>
        <p:txBody>
          <a:bodyPr/>
          <a:lstStyle/>
          <a:p>
            <a:endParaRPr/>
          </a:p>
        </p:txBody>
      </p:sp>
      <p:sp>
        <p:nvSpPr>
          <p:cNvPr id="26" name="Text 24"/>
          <p:cNvSpPr/>
          <p:nvPr/>
        </p:nvSpPr>
        <p:spPr>
          <a:xfrm>
            <a:off x="8321040" y="3511296"/>
            <a:ext cx="306324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No AI yet</a:t>
            </a:r>
            <a:endParaRPr lang="en-US" sz="1500" dirty="0"/>
          </a:p>
        </p:txBody>
      </p:sp>
      <p:sp>
        <p:nvSpPr>
          <p:cNvPr id="27" name="Text 25"/>
          <p:cNvSpPr/>
          <p:nvPr/>
        </p:nvSpPr>
        <p:spPr>
          <a:xfrm>
            <a:off x="8321040" y="3913632"/>
            <a:ext cx="3063240" cy="393192"/>
          </a:xfrm>
          <a:prstGeom prst="rect">
            <a:avLst/>
          </a:prstGeom>
          <a:noFill/>
          <a:ln/>
        </p:spPr>
        <p:txBody>
          <a:bodyPr wrap="square" lIns="0" tIns="0" rIns="0" bIns="0" rtlCol="0" anchor="ctr">
            <a:normAutofit/>
          </a:bodyPr>
          <a:lstStyle/>
          <a:p>
            <a:pPr marL="0" indent="0">
              <a:buNone/>
            </a:pPr>
            <a:r>
              <a:rPr lang="en-US" sz="1050" dirty="0">
                <a:solidFill>
                  <a:srgbClr val="FFF7E8"/>
                </a:solidFill>
              </a:rPr>
              <a:t>High-risk decisions without governance or review</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ACTIVITY</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SOP and documentation workshop</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Participants turn rough process notes into a draft SOP or checklist, then use the Decision Guide to decide whether AI should support that process long term.</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Input</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Rough process notes or synthetic landowner intake notes.</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Output</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Purpose, owner, steps, inputs, review points, common mistakes.</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Review</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A Kretz process owner verifies accuracy before it becomes official.</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ACTIVITY</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Research and vendor comparison workshop</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Participants use AI to organize research for grading tools, CRM, safety systems, marketing tools, or manufacturing technology.</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AI can help</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Comparison tables, vendor questions, risks, pilot criteria.</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AI cannot replace</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Vendor demos, references, technical validation, procurement review.</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Use Decision Guide</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Should this be existing software, vendor system, Custom GPT, or process cleanup?</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ACTIVITY</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Marketing and outreach campaign workshop</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Participants draft public-facing materials, then use the Kretz DNA Assistant to improve tone and flag review items.</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Campaign topics</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Landowner education, forestry stewardship, employee-owned culture, safety, recruiting, community event.</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Kretz voice</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Practical, stewardship-minded, plainspoken, helpful, not salesy.</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Review rule</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Do not invent environmental claims, safety claims, pricing, availability, or commitments.</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94360"/>
            <a:ext cx="914400" cy="457200"/>
          </a:xfrm>
          <a:prstGeom prst="rect">
            <a:avLst/>
          </a:prstGeom>
          <a:noFill/>
          <a:ln/>
        </p:spPr>
        <p:txBody>
          <a:bodyPr wrap="square" lIns="0" tIns="0" rIns="0" bIns="0" rtlCol="0" anchor="ctr"/>
          <a:lstStyle/>
          <a:p>
            <a:pPr marL="0" indent="0">
              <a:buNone/>
            </a:pPr>
            <a:r>
              <a:rPr lang="en-US" sz="2000" b="1" dirty="0">
                <a:solidFill>
                  <a:srgbClr val="F0D49A"/>
                </a:solidFill>
              </a:rPr>
              <a:t>06</a:t>
            </a:r>
            <a:endParaRPr lang="en-US" sz="2000" dirty="0"/>
          </a:p>
        </p:txBody>
      </p:sp>
      <p:sp>
        <p:nvSpPr>
          <p:cNvPr id="9" name="Shape 7"/>
          <p:cNvSpPr/>
          <p:nvPr/>
        </p:nvSpPr>
        <p:spPr>
          <a:xfrm>
            <a:off x="594360" y="1078992"/>
            <a:ext cx="10698480" cy="0"/>
          </a:xfrm>
          <a:prstGeom prst="line">
            <a:avLst/>
          </a:prstGeom>
          <a:noFill/>
          <a:ln w="12700">
            <a:solidFill>
              <a:srgbClr val="D49A3D">
                <a:alpha val="82000"/>
              </a:srgbClr>
            </a:solidFill>
            <a:prstDash val="solid"/>
          </a:ln>
        </p:spPr>
        <p:txBody>
          <a:bodyPr/>
          <a:lstStyle/>
          <a:p>
            <a:endParaRPr/>
          </a:p>
        </p:txBody>
      </p:sp>
      <p:sp>
        <p:nvSpPr>
          <p:cNvPr id="10" name="Text 8"/>
          <p:cNvSpPr/>
          <p:nvPr/>
        </p:nvSpPr>
        <p:spPr>
          <a:xfrm>
            <a:off x="594360" y="1645920"/>
            <a:ext cx="8778240" cy="1463040"/>
          </a:xfrm>
          <a:prstGeom prst="rect">
            <a:avLst/>
          </a:prstGeom>
          <a:noFill/>
          <a:ln/>
        </p:spPr>
        <p:txBody>
          <a:bodyPr wrap="square" lIns="0" tIns="0" rIns="0" bIns="0" rtlCol="0" anchor="ctr">
            <a:normAutofit/>
          </a:bodyPr>
          <a:lstStyle/>
          <a:p>
            <a:pPr marL="0" indent="0">
              <a:buNone/>
            </a:pPr>
            <a:r>
              <a:rPr lang="en-US" sz="4300" b="1" dirty="0">
                <a:solidFill>
                  <a:srgbClr val="FFF7E8"/>
                </a:solidFill>
              </a:rPr>
              <a:t>Governance and adoption</a:t>
            </a:r>
            <a:endParaRPr lang="en-US" sz="4300" dirty="0"/>
          </a:p>
        </p:txBody>
      </p:sp>
      <p:sp>
        <p:nvSpPr>
          <p:cNvPr id="11" name="Text 9"/>
          <p:cNvSpPr/>
          <p:nvPr/>
        </p:nvSpPr>
        <p:spPr>
          <a:xfrm>
            <a:off x="621792" y="3246120"/>
            <a:ext cx="7863840" cy="731520"/>
          </a:xfrm>
          <a:prstGeom prst="rect">
            <a:avLst/>
          </a:prstGeom>
          <a:noFill/>
          <a:ln/>
        </p:spPr>
        <p:txBody>
          <a:bodyPr wrap="square" lIns="0" tIns="0" rIns="0" bIns="0" rtlCol="0" anchor="ctr">
            <a:normAutofit/>
          </a:bodyPr>
          <a:lstStyle/>
          <a:p>
            <a:pPr marL="0" indent="0">
              <a:buNone/>
            </a:pPr>
            <a:r>
              <a:rPr lang="en-US" sz="1800" dirty="0">
                <a:solidFill>
                  <a:srgbClr val="CBBFA8"/>
                </a:solidFill>
              </a:rPr>
              <a:t>Turn the lessons into operating rules.</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GOVERNANCE</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Governance is an operating model</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The goal is not to slow people down. The goal is to make AI useful without creating unmanaged exposure.</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Approved tools</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Which tools are allowed for work and under what conditions?</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Data boundaries</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What should never be pasted into public tools?</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Review rules</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Which outputs need sign-off before use?</a:t>
            </a:r>
            <a:endParaRPr lang="en-US" sz="1050" dirty="0"/>
          </a:p>
        </p:txBody>
      </p:sp>
      <p:sp>
        <p:nvSpPr>
          <p:cNvPr id="20" name="Shape 18"/>
          <p:cNvSpPr/>
          <p:nvPr/>
        </p:nvSpPr>
        <p:spPr>
          <a:xfrm>
            <a:off x="640080"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1" name="Text 19"/>
          <p:cNvSpPr/>
          <p:nvPr/>
        </p:nvSpPr>
        <p:spPr>
          <a:xfrm>
            <a:off x="868680"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Ownership</a:t>
            </a:r>
            <a:endParaRPr lang="en-US" sz="1500" dirty="0"/>
          </a:p>
        </p:txBody>
      </p:sp>
      <p:sp>
        <p:nvSpPr>
          <p:cNvPr id="22" name="Text 20"/>
          <p:cNvSpPr/>
          <p:nvPr/>
        </p:nvSpPr>
        <p:spPr>
          <a:xfrm>
            <a:off x="868680" y="5934456"/>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Who maintains tools, examples, instructions, and review processes?</a:t>
            </a:r>
            <a:endParaRPr lang="en-US" sz="1050" dirty="0"/>
          </a:p>
        </p:txBody>
      </p:sp>
      <p:sp>
        <p:nvSpPr>
          <p:cNvPr id="23" name="Shape 21"/>
          <p:cNvSpPr/>
          <p:nvPr/>
        </p:nvSpPr>
        <p:spPr>
          <a:xfrm>
            <a:off x="4322064"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4" name="Text 22"/>
          <p:cNvSpPr/>
          <p:nvPr/>
        </p:nvSpPr>
        <p:spPr>
          <a:xfrm>
            <a:off x="4550664"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Reporting</a:t>
            </a:r>
            <a:endParaRPr lang="en-US" sz="1500" dirty="0"/>
          </a:p>
        </p:txBody>
      </p:sp>
      <p:sp>
        <p:nvSpPr>
          <p:cNvPr id="25" name="Text 23"/>
          <p:cNvSpPr/>
          <p:nvPr/>
        </p:nvSpPr>
        <p:spPr>
          <a:xfrm>
            <a:off x="4550664"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How do employees report mistakes without fear?</a:t>
            </a:r>
            <a:endParaRPr lang="en-US" sz="1050" dirty="0"/>
          </a:p>
        </p:txBody>
      </p:sp>
      <p:sp>
        <p:nvSpPr>
          <p:cNvPr id="26" name="Shape 24"/>
          <p:cNvSpPr/>
          <p:nvPr/>
        </p:nvSpPr>
        <p:spPr>
          <a:xfrm>
            <a:off x="8004048"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7" name="Text 25"/>
          <p:cNvSpPr/>
          <p:nvPr/>
        </p:nvSpPr>
        <p:spPr>
          <a:xfrm>
            <a:off x="8232648"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Iteration</a:t>
            </a:r>
            <a:endParaRPr lang="en-US" sz="1500" dirty="0"/>
          </a:p>
        </p:txBody>
      </p:sp>
      <p:sp>
        <p:nvSpPr>
          <p:cNvPr id="28" name="Text 26"/>
          <p:cNvSpPr/>
          <p:nvPr/>
        </p:nvSpPr>
        <p:spPr>
          <a:xfrm>
            <a:off x="8232648"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How often do we update tools, policy, and training?</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GOVERNANCE</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Protected data rule</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Before broader AI use, Kretz needs plain language rules about what can and cannot go into AI tools.</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Never paste without approval</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Pricing, timber valuation, ESOP/financial data, contracts, HR/employee data, legal/compliance data, sensitive customer or landowner info.</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Use sanitized examples</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Training exercises should use synthetic or scrubbed data.</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Use approved tools</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Sensitive work should happen only in tools Kretz has evaluated and approved.</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GOVERNANCE</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The Sign-Off Rule</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Anything that could represent Kretz externally or affect safety, money, legal obligations, technical decisions, or landowner/customer trust needs human review.</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External messages</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Landowners, customers, vendors, public posts.</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High-risk content</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Safety, legal, HR, finance, pricing, timber value, commitments.</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Technical or operational decisions</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Routing, vendor selection, system changes, grading/manufacturing investments.</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GOVERNANCE</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No-Fault Reporting</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Make it easy for employees to report AI problems early, before they become business problems.</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Report hallucinations</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False facts, fake sources, wrong names, incorrect assumptions.</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Report data concerns</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Possible sensitive information entered into the wrong tool.</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Report tool failures</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Bad outputs, broken workflows, confusing instructions, risky behavior.</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FIRST 90 DAYS</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A practical starting roadmap</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Start small, choose tools intentionally, and build governance as the organization learns.</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1. Pick approved tools</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92500"/>
          </a:bodyPr>
          <a:lstStyle/>
          <a:p>
            <a:pPr marL="0" indent="0">
              <a:buNone/>
            </a:pPr>
            <a:r>
              <a:rPr lang="en-US" sz="1050" dirty="0">
                <a:solidFill>
                  <a:srgbClr val="CBBFA8"/>
                </a:solidFill>
              </a:rPr>
              <a:t>Choose the safest starting platforms and explain why.</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2. Define protected data</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Create a clear never-paste list and examples.</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3. Pilot low-risk workflows</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Communication drafts, summaries, SOP drafts, research organization.</a:t>
            </a:r>
            <a:endParaRPr lang="en-US" sz="1050" dirty="0"/>
          </a:p>
        </p:txBody>
      </p:sp>
      <p:sp>
        <p:nvSpPr>
          <p:cNvPr id="20" name="Shape 18"/>
          <p:cNvSpPr/>
          <p:nvPr/>
        </p:nvSpPr>
        <p:spPr>
          <a:xfrm>
            <a:off x="640080"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1" name="Text 19"/>
          <p:cNvSpPr/>
          <p:nvPr/>
        </p:nvSpPr>
        <p:spPr>
          <a:xfrm>
            <a:off x="868680"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4. Use the Decision Guide</a:t>
            </a:r>
            <a:endParaRPr lang="en-US" sz="1500" dirty="0"/>
          </a:p>
        </p:txBody>
      </p:sp>
      <p:sp>
        <p:nvSpPr>
          <p:cNvPr id="22" name="Text 20"/>
          <p:cNvSpPr/>
          <p:nvPr/>
        </p:nvSpPr>
        <p:spPr>
          <a:xfrm>
            <a:off x="868680" y="5934456"/>
            <a:ext cx="3060192" cy="155448"/>
          </a:xfrm>
          <a:prstGeom prst="rect">
            <a:avLst/>
          </a:prstGeom>
          <a:noFill/>
          <a:ln/>
        </p:spPr>
        <p:txBody>
          <a:bodyPr wrap="square" lIns="0" tIns="0" rIns="0" bIns="0" rtlCol="0" anchor="ctr">
            <a:normAutofit lnSpcReduction="10000"/>
          </a:bodyPr>
          <a:lstStyle/>
          <a:p>
            <a:pPr marL="0" indent="0">
              <a:buNone/>
            </a:pPr>
            <a:r>
              <a:rPr lang="en-US" sz="1050" dirty="0">
                <a:solidFill>
                  <a:srgbClr val="CBBFA8"/>
                </a:solidFill>
              </a:rPr>
              <a:t>Evaluate each new idea before building.</a:t>
            </a:r>
            <a:endParaRPr lang="en-US" sz="1050" dirty="0"/>
          </a:p>
        </p:txBody>
      </p:sp>
      <p:sp>
        <p:nvSpPr>
          <p:cNvPr id="23" name="Shape 21"/>
          <p:cNvSpPr/>
          <p:nvPr/>
        </p:nvSpPr>
        <p:spPr>
          <a:xfrm>
            <a:off x="4322064"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4" name="Text 22"/>
          <p:cNvSpPr/>
          <p:nvPr/>
        </p:nvSpPr>
        <p:spPr>
          <a:xfrm>
            <a:off x="4550664"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5. Name owners</a:t>
            </a:r>
            <a:endParaRPr lang="en-US" sz="1500" dirty="0"/>
          </a:p>
        </p:txBody>
      </p:sp>
      <p:sp>
        <p:nvSpPr>
          <p:cNvPr id="25" name="Text 23"/>
          <p:cNvSpPr/>
          <p:nvPr/>
        </p:nvSpPr>
        <p:spPr>
          <a:xfrm>
            <a:off x="4550664" y="5934456"/>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Leadership sponsor, IT/security contact, department champions, possible tool builder.</a:t>
            </a:r>
            <a:endParaRPr lang="en-US" sz="1050" dirty="0"/>
          </a:p>
        </p:txBody>
      </p:sp>
      <p:sp>
        <p:nvSpPr>
          <p:cNvPr id="26" name="Shape 24"/>
          <p:cNvSpPr/>
          <p:nvPr/>
        </p:nvSpPr>
        <p:spPr>
          <a:xfrm>
            <a:off x="8004048"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7" name="Text 25"/>
          <p:cNvSpPr/>
          <p:nvPr/>
        </p:nvSpPr>
        <p:spPr>
          <a:xfrm>
            <a:off x="8232648"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6. Review and update</a:t>
            </a:r>
            <a:endParaRPr lang="en-US" sz="1500" dirty="0"/>
          </a:p>
        </p:txBody>
      </p:sp>
      <p:sp>
        <p:nvSpPr>
          <p:cNvPr id="28" name="Text 26"/>
          <p:cNvSpPr/>
          <p:nvPr/>
        </p:nvSpPr>
        <p:spPr>
          <a:xfrm>
            <a:off x="8232648" y="5934456"/>
            <a:ext cx="3060192" cy="155448"/>
          </a:xfrm>
          <a:prstGeom prst="rect">
            <a:avLst/>
          </a:prstGeom>
          <a:noFill/>
          <a:ln/>
        </p:spPr>
        <p:txBody>
          <a:bodyPr wrap="square" lIns="0" tIns="0" rIns="0" bIns="0" rtlCol="0" anchor="ctr">
            <a:normAutofit fontScale="77500" lnSpcReduction="20000"/>
          </a:bodyPr>
          <a:lstStyle/>
          <a:p>
            <a:pPr marL="0" indent="0">
              <a:buNone/>
            </a:pPr>
            <a:r>
              <a:rPr lang="en-US" sz="1050" dirty="0">
                <a:solidFill>
                  <a:srgbClr val="CBBFA8"/>
                </a:solidFill>
              </a:rPr>
              <a:t>Tools and policies should change as needs and technology change.</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94360"/>
            <a:ext cx="914400" cy="457200"/>
          </a:xfrm>
          <a:prstGeom prst="rect">
            <a:avLst/>
          </a:prstGeom>
          <a:noFill/>
          <a:ln/>
        </p:spPr>
        <p:txBody>
          <a:bodyPr wrap="square" lIns="0" tIns="0" rIns="0" bIns="0" rtlCol="0" anchor="ctr"/>
          <a:lstStyle/>
          <a:p>
            <a:pPr marL="0" indent="0">
              <a:buNone/>
            </a:pPr>
            <a:r>
              <a:rPr lang="en-US" sz="2000" b="1" dirty="0">
                <a:solidFill>
                  <a:srgbClr val="F0D49A"/>
                </a:solidFill>
              </a:rPr>
              <a:t>07</a:t>
            </a:r>
            <a:endParaRPr lang="en-US" sz="2000" dirty="0"/>
          </a:p>
        </p:txBody>
      </p:sp>
      <p:sp>
        <p:nvSpPr>
          <p:cNvPr id="9" name="Shape 7"/>
          <p:cNvSpPr/>
          <p:nvPr/>
        </p:nvSpPr>
        <p:spPr>
          <a:xfrm>
            <a:off x="594360" y="1078992"/>
            <a:ext cx="10698480" cy="0"/>
          </a:xfrm>
          <a:prstGeom prst="line">
            <a:avLst/>
          </a:prstGeom>
          <a:noFill/>
          <a:ln w="12700">
            <a:solidFill>
              <a:srgbClr val="D49A3D">
                <a:alpha val="82000"/>
              </a:srgbClr>
            </a:solidFill>
            <a:prstDash val="solid"/>
          </a:ln>
        </p:spPr>
        <p:txBody>
          <a:bodyPr/>
          <a:lstStyle/>
          <a:p>
            <a:endParaRPr/>
          </a:p>
        </p:txBody>
      </p:sp>
      <p:sp>
        <p:nvSpPr>
          <p:cNvPr id="10" name="Text 8"/>
          <p:cNvSpPr/>
          <p:nvPr/>
        </p:nvSpPr>
        <p:spPr>
          <a:xfrm>
            <a:off x="594360" y="1645920"/>
            <a:ext cx="8778240" cy="1463040"/>
          </a:xfrm>
          <a:prstGeom prst="rect">
            <a:avLst/>
          </a:prstGeom>
          <a:noFill/>
          <a:ln/>
        </p:spPr>
        <p:txBody>
          <a:bodyPr wrap="square" lIns="0" tIns="0" rIns="0" bIns="0" rtlCol="0" anchor="ctr">
            <a:normAutofit/>
          </a:bodyPr>
          <a:lstStyle/>
          <a:p>
            <a:pPr marL="0" indent="0">
              <a:buNone/>
            </a:pPr>
            <a:r>
              <a:rPr lang="en-US" sz="4300" b="1" dirty="0">
                <a:solidFill>
                  <a:srgbClr val="FFF7E8"/>
                </a:solidFill>
              </a:rPr>
              <a:t>Closing</a:t>
            </a:r>
            <a:endParaRPr lang="en-US" sz="4300" dirty="0"/>
          </a:p>
        </p:txBody>
      </p:sp>
      <p:sp>
        <p:nvSpPr>
          <p:cNvPr id="11" name="Text 9"/>
          <p:cNvSpPr/>
          <p:nvPr/>
        </p:nvSpPr>
        <p:spPr>
          <a:xfrm>
            <a:off x="621792" y="3246120"/>
            <a:ext cx="7863840" cy="731520"/>
          </a:xfrm>
          <a:prstGeom prst="rect">
            <a:avLst/>
          </a:prstGeom>
          <a:noFill/>
          <a:ln/>
        </p:spPr>
        <p:txBody>
          <a:bodyPr wrap="square" lIns="0" tIns="0" rIns="0" bIns="0" rtlCol="0" anchor="ctr">
            <a:normAutofit/>
          </a:bodyPr>
          <a:lstStyle/>
          <a:p>
            <a:pPr marL="0" indent="0">
              <a:buNone/>
            </a:pPr>
            <a:r>
              <a:rPr lang="en-US" sz="1800" dirty="0">
                <a:solidFill>
                  <a:srgbClr val="CBBFA8"/>
                </a:solidFill>
              </a:rPr>
              <a:t>What leadership should remember.</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594360" y="502920"/>
            <a:ext cx="6217920" cy="292608"/>
          </a:xfrm>
          <a:prstGeom prst="rect">
            <a:avLst/>
          </a:prstGeom>
          <a:noFill/>
          <a:ln/>
        </p:spPr>
        <p:txBody>
          <a:bodyPr wrap="square" lIns="0" tIns="0" rIns="0" bIns="0" rtlCol="0" anchor="ctr"/>
          <a:lstStyle/>
          <a:p>
            <a:pPr marL="0" indent="0">
              <a:buNone/>
            </a:pPr>
            <a:r>
              <a:rPr lang="en-US" sz="1050" b="1" dirty="0">
                <a:solidFill>
                  <a:srgbClr val="F0D49A"/>
                </a:solidFill>
              </a:rPr>
              <a:t>TAKEAWAYS</a:t>
            </a:r>
            <a:endParaRPr lang="en-US" sz="1050" dirty="0"/>
          </a:p>
        </p:txBody>
      </p:sp>
      <p:sp>
        <p:nvSpPr>
          <p:cNvPr id="9" name="Text 7"/>
          <p:cNvSpPr/>
          <p:nvPr/>
        </p:nvSpPr>
        <p:spPr>
          <a:xfrm>
            <a:off x="566928" y="960120"/>
            <a:ext cx="7452360" cy="2103120"/>
          </a:xfrm>
          <a:prstGeom prst="rect">
            <a:avLst/>
          </a:prstGeom>
          <a:noFill/>
          <a:ln/>
        </p:spPr>
        <p:txBody>
          <a:bodyPr wrap="square" lIns="0" tIns="0" rIns="0" bIns="0" rtlCol="0" anchor="ctr">
            <a:normAutofit/>
          </a:bodyPr>
          <a:lstStyle/>
          <a:p>
            <a:pPr marL="0" indent="0">
              <a:buNone/>
            </a:pPr>
            <a:r>
              <a:rPr lang="en-US" sz="4200" b="1" dirty="0">
                <a:solidFill>
                  <a:srgbClr val="FFF7E8"/>
                </a:solidFill>
              </a:rPr>
              <a:t>Four things to walk out with</a:t>
            </a:r>
            <a:endParaRPr lang="en-US" sz="4200" dirty="0"/>
          </a:p>
        </p:txBody>
      </p:sp>
      <p:sp>
        <p:nvSpPr>
          <p:cNvPr id="10" name="Text 8"/>
          <p:cNvSpPr/>
          <p:nvPr/>
        </p:nvSpPr>
        <p:spPr>
          <a:xfrm>
            <a:off x="621792" y="2999232"/>
            <a:ext cx="6675120" cy="914400"/>
          </a:xfrm>
          <a:prstGeom prst="rect">
            <a:avLst/>
          </a:prstGeom>
          <a:noFill/>
          <a:ln/>
        </p:spPr>
        <p:txBody>
          <a:bodyPr wrap="square" lIns="0" tIns="0" rIns="0" bIns="0" rtlCol="0" anchor="ctr">
            <a:normAutofit/>
          </a:bodyPr>
          <a:lstStyle/>
          <a:p>
            <a:pPr marL="0" indent="0">
              <a:buNone/>
            </a:pPr>
            <a:r>
              <a:rPr lang="en-US" sz="1700" dirty="0">
                <a:solidFill>
                  <a:srgbClr val="CBBFA8"/>
                </a:solidFill>
              </a:rPr>
              <a:t>If Kretz remembers these, the session has done its job.</a:t>
            </a:r>
            <a:endParaRPr lang="en-US" sz="1700" dirty="0"/>
          </a:p>
        </p:txBody>
      </p:sp>
      <p:sp>
        <p:nvSpPr>
          <p:cNvPr id="11" name="Shape 9"/>
          <p:cNvSpPr/>
          <p:nvPr/>
        </p:nvSpPr>
        <p:spPr>
          <a:xfrm>
            <a:off x="640080"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2" name="Text 10"/>
          <p:cNvSpPr/>
          <p:nvPr/>
        </p:nvSpPr>
        <p:spPr>
          <a:xfrm>
            <a:off x="868680"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The upside is real</a:t>
            </a:r>
            <a:endParaRPr lang="en-US" sz="1500" dirty="0"/>
          </a:p>
        </p:txBody>
      </p:sp>
      <p:sp>
        <p:nvSpPr>
          <p:cNvPr id="13" name="Text 11"/>
          <p:cNvSpPr/>
          <p:nvPr/>
        </p:nvSpPr>
        <p:spPr>
          <a:xfrm>
            <a:off x="868680" y="4873752"/>
            <a:ext cx="3060192" cy="155448"/>
          </a:xfrm>
          <a:prstGeom prst="rect">
            <a:avLst/>
          </a:prstGeom>
          <a:noFill/>
          <a:ln/>
        </p:spPr>
        <p:txBody>
          <a:bodyPr wrap="square" lIns="0" tIns="0" rIns="0" bIns="0" rtlCol="0" anchor="ctr">
            <a:normAutofit fontScale="70000" lnSpcReduction="20000"/>
          </a:bodyPr>
          <a:lstStyle/>
          <a:p>
            <a:pPr marL="0" indent="0">
              <a:buNone/>
            </a:pPr>
            <a:r>
              <a:rPr lang="en-US" sz="1050" dirty="0">
                <a:solidFill>
                  <a:srgbClr val="CBBFA8"/>
                </a:solidFill>
              </a:rPr>
              <a:t>AI can help a lean team draft, summarize, research, and organize faster.</a:t>
            </a:r>
            <a:endParaRPr lang="en-US" sz="1050" dirty="0"/>
          </a:p>
        </p:txBody>
      </p:sp>
      <p:sp>
        <p:nvSpPr>
          <p:cNvPr id="14" name="Shape 12"/>
          <p:cNvSpPr/>
          <p:nvPr/>
        </p:nvSpPr>
        <p:spPr>
          <a:xfrm>
            <a:off x="4322064"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5" name="Text 13"/>
          <p:cNvSpPr/>
          <p:nvPr/>
        </p:nvSpPr>
        <p:spPr>
          <a:xfrm>
            <a:off x="4550664"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The exposure is real</a:t>
            </a:r>
            <a:endParaRPr lang="en-US" sz="1500" dirty="0"/>
          </a:p>
        </p:txBody>
      </p:sp>
      <p:sp>
        <p:nvSpPr>
          <p:cNvPr id="16" name="Text 14"/>
          <p:cNvSpPr/>
          <p:nvPr/>
        </p:nvSpPr>
        <p:spPr>
          <a:xfrm>
            <a:off x="4550664" y="4873752"/>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Bad facts, leaked data, and unguarded tools can create harm.</a:t>
            </a:r>
            <a:endParaRPr lang="en-US" sz="1050" dirty="0"/>
          </a:p>
        </p:txBody>
      </p:sp>
      <p:sp>
        <p:nvSpPr>
          <p:cNvPr id="17" name="Shape 15"/>
          <p:cNvSpPr/>
          <p:nvPr/>
        </p:nvSpPr>
        <p:spPr>
          <a:xfrm>
            <a:off x="8004048" y="4251960"/>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18" name="Text 16"/>
          <p:cNvSpPr/>
          <p:nvPr/>
        </p:nvSpPr>
        <p:spPr>
          <a:xfrm>
            <a:off x="8232648" y="4471416"/>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Not every problem needs AI</a:t>
            </a:r>
            <a:endParaRPr lang="en-US" sz="1500" dirty="0"/>
          </a:p>
        </p:txBody>
      </p:sp>
      <p:sp>
        <p:nvSpPr>
          <p:cNvPr id="19" name="Text 17"/>
          <p:cNvSpPr/>
          <p:nvPr/>
        </p:nvSpPr>
        <p:spPr>
          <a:xfrm>
            <a:off x="8232648" y="4873752"/>
            <a:ext cx="3060192" cy="155448"/>
          </a:xfrm>
          <a:prstGeom prst="rect">
            <a:avLst/>
          </a:prstGeom>
          <a:noFill/>
          <a:ln/>
        </p:spPr>
        <p:txBody>
          <a:bodyPr wrap="square" lIns="0" tIns="0" rIns="0" bIns="0" rtlCol="0" anchor="ctr">
            <a:normAutofit fontScale="55000" lnSpcReduction="20000"/>
          </a:bodyPr>
          <a:lstStyle/>
          <a:p>
            <a:pPr marL="0" indent="0">
              <a:buNone/>
            </a:pPr>
            <a:r>
              <a:rPr lang="en-US" sz="1050" dirty="0">
                <a:solidFill>
                  <a:srgbClr val="CBBFA8"/>
                </a:solidFill>
              </a:rPr>
              <a:t>Sometimes the answer is Outlook, Teams, CRM, process cleanup, or a vendor system.</a:t>
            </a:r>
            <a:endParaRPr lang="en-US" sz="1050" dirty="0"/>
          </a:p>
        </p:txBody>
      </p:sp>
      <p:sp>
        <p:nvSpPr>
          <p:cNvPr id="20" name="Shape 18"/>
          <p:cNvSpPr/>
          <p:nvPr/>
        </p:nvSpPr>
        <p:spPr>
          <a:xfrm>
            <a:off x="640080" y="5312664"/>
            <a:ext cx="3517392" cy="932688"/>
          </a:xfrm>
          <a:prstGeom prst="roundRect">
            <a:avLst>
              <a:gd name="adj" fmla="val 12745"/>
            </a:avLst>
          </a:prstGeom>
          <a:solidFill>
            <a:srgbClr val="1B2116"/>
          </a:solidFill>
          <a:ln w="12700">
            <a:solidFill>
              <a:srgbClr val="384231"/>
            </a:solidFill>
            <a:prstDash val="solid"/>
          </a:ln>
        </p:spPr>
        <p:txBody>
          <a:bodyPr/>
          <a:lstStyle/>
          <a:p>
            <a:endParaRPr/>
          </a:p>
        </p:txBody>
      </p:sp>
      <p:sp>
        <p:nvSpPr>
          <p:cNvPr id="21" name="Text 19"/>
          <p:cNvSpPr/>
          <p:nvPr/>
        </p:nvSpPr>
        <p:spPr>
          <a:xfrm>
            <a:off x="868680" y="5532120"/>
            <a:ext cx="3060192" cy="292608"/>
          </a:xfrm>
          <a:prstGeom prst="rect">
            <a:avLst/>
          </a:prstGeom>
          <a:noFill/>
          <a:ln/>
        </p:spPr>
        <p:txBody>
          <a:bodyPr wrap="square" lIns="0" tIns="0" rIns="0" bIns="0" rtlCol="0" anchor="ctr">
            <a:normAutofit/>
          </a:bodyPr>
          <a:lstStyle/>
          <a:p>
            <a:pPr marL="0" indent="0">
              <a:buNone/>
            </a:pPr>
            <a:r>
              <a:rPr lang="en-US" sz="1500" b="1" dirty="0">
                <a:solidFill>
                  <a:srgbClr val="FFF7E8"/>
                </a:solidFill>
              </a:rPr>
              <a:t>Kretz people stay in charge</a:t>
            </a:r>
            <a:endParaRPr lang="en-US" sz="1500" dirty="0"/>
          </a:p>
        </p:txBody>
      </p:sp>
      <p:sp>
        <p:nvSpPr>
          <p:cNvPr id="22" name="Text 20"/>
          <p:cNvSpPr/>
          <p:nvPr/>
        </p:nvSpPr>
        <p:spPr>
          <a:xfrm>
            <a:off x="868680" y="5934456"/>
            <a:ext cx="3060192" cy="155448"/>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CBBFA8"/>
                </a:solidFill>
              </a:rPr>
              <a:t>People review, verify, approve, and own anything that matters.</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502920"/>
            <a:ext cx="4206240" cy="274320"/>
          </a:xfrm>
          <a:prstGeom prst="rect">
            <a:avLst/>
          </a:prstGeom>
          <a:noFill/>
          <a:ln/>
        </p:spPr>
        <p:txBody>
          <a:bodyPr wrap="square" lIns="0" tIns="0" rIns="0" bIns="0" rtlCol="0" anchor="ctr"/>
          <a:lstStyle/>
          <a:p>
            <a:pPr marL="0" indent="0">
              <a:buNone/>
            </a:pPr>
            <a:r>
              <a:rPr lang="en-US" sz="1050" b="1" dirty="0">
                <a:solidFill>
                  <a:srgbClr val="F0D49A"/>
                </a:solidFill>
              </a:rPr>
              <a:t>SOURCES AND LIVE LINKS</a:t>
            </a:r>
            <a:endParaRPr lang="en-US" sz="1050" dirty="0"/>
          </a:p>
        </p:txBody>
      </p:sp>
      <p:sp>
        <p:nvSpPr>
          <p:cNvPr id="9" name="Text 7"/>
          <p:cNvSpPr/>
          <p:nvPr/>
        </p:nvSpPr>
        <p:spPr>
          <a:xfrm>
            <a:off x="594360" y="914400"/>
            <a:ext cx="6858000" cy="594360"/>
          </a:xfrm>
          <a:prstGeom prst="rect">
            <a:avLst/>
          </a:prstGeom>
          <a:noFill/>
          <a:ln/>
        </p:spPr>
        <p:txBody>
          <a:bodyPr wrap="square" lIns="0" tIns="0" rIns="0" bIns="0" rtlCol="0" anchor="ctr"/>
          <a:lstStyle/>
          <a:p>
            <a:pPr marL="0" indent="0">
              <a:buNone/>
            </a:pPr>
            <a:r>
              <a:rPr lang="en-US" sz="3200" b="1" dirty="0">
                <a:solidFill>
                  <a:srgbClr val="FFF7E8"/>
                </a:solidFill>
              </a:rPr>
              <a:t>Click-through source list</a:t>
            </a:r>
            <a:endParaRPr lang="en-US" sz="3200" dirty="0"/>
          </a:p>
        </p:txBody>
      </p:sp>
      <p:sp>
        <p:nvSpPr>
          <p:cNvPr id="10" name="Text 8">
            <a:hlinkClick r:id="rId3"/>
          </p:cNvPr>
          <p:cNvSpPr/>
          <p:nvPr/>
        </p:nvSpPr>
        <p:spPr>
          <a:xfrm>
            <a:off x="685800" y="1755648"/>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3">
                  <a:extLst>
                    <a:ext uri="{A12FA001-AC4F-418D-AE19-62706E023703}">
                      <ahyp:hlinkClr xmlns:ahyp="http://schemas.microsoft.com/office/drawing/2018/hyperlinkcolor" val="tx"/>
                    </a:ext>
                  </a:extLst>
                </a:hlinkClick>
              </a:rPr>
              <a:t>Air Canada chatbot</a:t>
            </a:r>
            <a:endParaRPr lang="en-US" sz="1020" dirty="0"/>
          </a:p>
        </p:txBody>
      </p:sp>
      <p:sp>
        <p:nvSpPr>
          <p:cNvPr id="11" name="Text 9"/>
          <p:cNvSpPr/>
          <p:nvPr/>
        </p:nvSpPr>
        <p:spPr>
          <a:xfrm>
            <a:off x="3200400" y="1773936"/>
            <a:ext cx="2743200" cy="182880"/>
          </a:xfrm>
          <a:prstGeom prst="rect">
            <a:avLst/>
          </a:prstGeom>
          <a:noFill/>
          <a:ln/>
        </p:spPr>
        <p:txBody>
          <a:bodyPr wrap="square" lIns="0" tIns="0" rIns="0" bIns="0" rtlCol="0" anchor="ctr">
            <a:normAutofit fontScale="70000" lnSpcReduction="20000"/>
          </a:bodyPr>
          <a:lstStyle/>
          <a:p>
            <a:pPr marL="0" indent="0">
              <a:buNone/>
            </a:pPr>
            <a:r>
              <a:rPr lang="en-US" sz="740" dirty="0">
                <a:solidFill>
                  <a:srgbClr val="CBBFA8"/>
                </a:solidFill>
              </a:rPr>
              <a:t>www.americanbar.org/groups/business_law/resources/business-law-today/2024-february/bc-tribunal-confirms-companies-remain-liable-information-provided-ai-chatbot/</a:t>
            </a:r>
            <a:endParaRPr lang="en-US" sz="740" dirty="0"/>
          </a:p>
        </p:txBody>
      </p:sp>
      <p:sp>
        <p:nvSpPr>
          <p:cNvPr id="12" name="Text 10">
            <a:hlinkClick r:id="rId4"/>
          </p:cNvPr>
          <p:cNvSpPr/>
          <p:nvPr/>
        </p:nvSpPr>
        <p:spPr>
          <a:xfrm>
            <a:off x="685800" y="2432304"/>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4">
                  <a:extLst>
                    <a:ext uri="{A12FA001-AC4F-418D-AE19-62706E023703}">
                      <ahyp:hlinkClr xmlns:ahyp="http://schemas.microsoft.com/office/drawing/2018/hyperlinkcolor" val="tx"/>
                    </a:ext>
                  </a:extLst>
                </a:hlinkClick>
              </a:rPr>
              <a:t>Mata v. Avianca sanctions</a:t>
            </a:r>
            <a:endParaRPr lang="en-US" sz="1020" dirty="0"/>
          </a:p>
        </p:txBody>
      </p:sp>
      <p:sp>
        <p:nvSpPr>
          <p:cNvPr id="13" name="Text 11"/>
          <p:cNvSpPr/>
          <p:nvPr/>
        </p:nvSpPr>
        <p:spPr>
          <a:xfrm>
            <a:off x="3200400" y="2450592"/>
            <a:ext cx="2743200" cy="182880"/>
          </a:xfrm>
          <a:prstGeom prst="rect">
            <a:avLst/>
          </a:prstGeom>
          <a:noFill/>
          <a:ln/>
        </p:spPr>
        <p:txBody>
          <a:bodyPr wrap="square" lIns="0" tIns="0" rIns="0" bIns="0" rtlCol="0" anchor="ctr">
            <a:normAutofit fontScale="92500" lnSpcReduction="20000"/>
          </a:bodyPr>
          <a:lstStyle/>
          <a:p>
            <a:pPr marL="0" indent="0">
              <a:buNone/>
            </a:pPr>
            <a:r>
              <a:rPr lang="en-US" sz="740" dirty="0">
                <a:solidFill>
                  <a:srgbClr val="CBBFA8"/>
                </a:solidFill>
              </a:rPr>
              <a:t>law.justia.com/cases/federal/district-courts/new-york/nysdce/1%3A2022cv01461/575368/54/</a:t>
            </a:r>
            <a:endParaRPr lang="en-US" sz="740" dirty="0"/>
          </a:p>
        </p:txBody>
      </p:sp>
      <p:sp>
        <p:nvSpPr>
          <p:cNvPr id="14" name="Text 12">
            <a:hlinkClick r:id="rId5"/>
          </p:cNvPr>
          <p:cNvSpPr/>
          <p:nvPr/>
        </p:nvSpPr>
        <p:spPr>
          <a:xfrm>
            <a:off x="685800" y="3108960"/>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5">
                  <a:extLst>
                    <a:ext uri="{A12FA001-AC4F-418D-AE19-62706E023703}">
                      <ahyp:hlinkClr xmlns:ahyp="http://schemas.microsoft.com/office/drawing/2018/hyperlinkcolor" val="tx"/>
                    </a:ext>
                  </a:extLst>
                </a:hlinkClick>
              </a:rPr>
              <a:t>Samsung data leak</a:t>
            </a:r>
            <a:endParaRPr lang="en-US" sz="1020" dirty="0"/>
          </a:p>
        </p:txBody>
      </p:sp>
      <p:sp>
        <p:nvSpPr>
          <p:cNvPr id="15" name="Text 13"/>
          <p:cNvSpPr/>
          <p:nvPr/>
        </p:nvSpPr>
        <p:spPr>
          <a:xfrm>
            <a:off x="3200400" y="3127248"/>
            <a:ext cx="2743200" cy="182880"/>
          </a:xfrm>
          <a:prstGeom prst="rect">
            <a:avLst/>
          </a:prstGeom>
          <a:noFill/>
          <a:ln/>
        </p:spPr>
        <p:txBody>
          <a:bodyPr wrap="square" lIns="0" tIns="0" rIns="0" bIns="0" rtlCol="0" anchor="ctr">
            <a:normAutofit fontScale="92500" lnSpcReduction="20000"/>
          </a:bodyPr>
          <a:lstStyle/>
          <a:p>
            <a:pPr marL="0" indent="0">
              <a:buNone/>
            </a:pPr>
            <a:r>
              <a:rPr lang="en-US" sz="740" dirty="0">
                <a:solidFill>
                  <a:srgbClr val="CBBFA8"/>
                </a:solidFill>
              </a:rPr>
              <a:t>techcrunch.com/2023/05/02/samsung-bans-use-of-generative-ai-tools-like-chatgpt-after-april-internal-data-leak/</a:t>
            </a:r>
            <a:endParaRPr lang="en-US" sz="740" dirty="0"/>
          </a:p>
        </p:txBody>
      </p:sp>
      <p:sp>
        <p:nvSpPr>
          <p:cNvPr id="16" name="Text 14">
            <a:hlinkClick r:id="rId6"/>
          </p:cNvPr>
          <p:cNvSpPr/>
          <p:nvPr/>
        </p:nvSpPr>
        <p:spPr>
          <a:xfrm>
            <a:off x="685800" y="3785616"/>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6">
                  <a:extLst>
                    <a:ext uri="{A12FA001-AC4F-418D-AE19-62706E023703}">
                      <ahyp:hlinkClr xmlns:ahyp="http://schemas.microsoft.com/office/drawing/2018/hyperlinkcolor" val="tx"/>
                    </a:ext>
                  </a:extLst>
                </a:hlinkClick>
              </a:rPr>
              <a:t>DPD chatbot</a:t>
            </a:r>
            <a:endParaRPr lang="en-US" sz="1020" dirty="0"/>
          </a:p>
        </p:txBody>
      </p:sp>
      <p:sp>
        <p:nvSpPr>
          <p:cNvPr id="17" name="Text 15"/>
          <p:cNvSpPr/>
          <p:nvPr/>
        </p:nvSpPr>
        <p:spPr>
          <a:xfrm>
            <a:off x="3200400" y="3803904"/>
            <a:ext cx="2743200" cy="182880"/>
          </a:xfrm>
          <a:prstGeom prst="rect">
            <a:avLst/>
          </a:prstGeom>
          <a:noFill/>
          <a:ln/>
        </p:spPr>
        <p:txBody>
          <a:bodyPr wrap="square" lIns="0" tIns="0" rIns="0" bIns="0" rtlCol="0" anchor="ctr">
            <a:normAutofit fontScale="92500" lnSpcReduction="20000"/>
          </a:bodyPr>
          <a:lstStyle/>
          <a:p>
            <a:pPr marL="0" indent="0">
              <a:buNone/>
            </a:pPr>
            <a:r>
              <a:rPr lang="en-US" sz="740" dirty="0">
                <a:solidFill>
                  <a:srgbClr val="CBBFA8"/>
                </a:solidFill>
              </a:rPr>
              <a:t>www.theguardian.com/technology/2024/jan/20/dpd-ai-chatbot-swears-calls-itself-useless-and-criticises-firm</a:t>
            </a:r>
            <a:endParaRPr lang="en-US" sz="740" dirty="0"/>
          </a:p>
        </p:txBody>
      </p:sp>
      <p:sp>
        <p:nvSpPr>
          <p:cNvPr id="18" name="Text 16">
            <a:hlinkClick r:id="rId7"/>
          </p:cNvPr>
          <p:cNvSpPr/>
          <p:nvPr/>
        </p:nvSpPr>
        <p:spPr>
          <a:xfrm>
            <a:off x="685800" y="4462272"/>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7">
                  <a:extLst>
                    <a:ext uri="{A12FA001-AC4F-418D-AE19-62706E023703}">
                      <ahyp:hlinkClr xmlns:ahyp="http://schemas.microsoft.com/office/drawing/2018/hyperlinkcolor" val="tx"/>
                    </a:ext>
                  </a:extLst>
                </a:hlinkClick>
              </a:rPr>
              <a:t>CNET AI articles</a:t>
            </a:r>
            <a:endParaRPr lang="en-US" sz="1020" dirty="0"/>
          </a:p>
        </p:txBody>
      </p:sp>
      <p:sp>
        <p:nvSpPr>
          <p:cNvPr id="19" name="Text 17"/>
          <p:cNvSpPr/>
          <p:nvPr/>
        </p:nvSpPr>
        <p:spPr>
          <a:xfrm>
            <a:off x="3200400" y="4480560"/>
            <a:ext cx="2743200" cy="182880"/>
          </a:xfrm>
          <a:prstGeom prst="rect">
            <a:avLst/>
          </a:prstGeom>
          <a:noFill/>
          <a:ln/>
        </p:spPr>
        <p:txBody>
          <a:bodyPr wrap="square" lIns="0" tIns="0" rIns="0" bIns="0" rtlCol="0" anchor="ctr">
            <a:normAutofit fontScale="92500" lnSpcReduction="20000"/>
          </a:bodyPr>
          <a:lstStyle/>
          <a:p>
            <a:pPr marL="0" indent="0">
              <a:buNone/>
            </a:pPr>
            <a:r>
              <a:rPr lang="en-US" sz="740" dirty="0">
                <a:solidFill>
                  <a:srgbClr val="CBBFA8"/>
                </a:solidFill>
              </a:rPr>
              <a:t>www.wired.com/story/cnet-published-ai-generated-stories-then-its-staff-pushed-back/</a:t>
            </a:r>
            <a:endParaRPr lang="en-US" sz="740" dirty="0"/>
          </a:p>
        </p:txBody>
      </p:sp>
      <p:sp>
        <p:nvSpPr>
          <p:cNvPr id="20" name="Text 18">
            <a:hlinkClick r:id="rId8"/>
          </p:cNvPr>
          <p:cNvSpPr/>
          <p:nvPr/>
        </p:nvSpPr>
        <p:spPr>
          <a:xfrm>
            <a:off x="6263640" y="1755648"/>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8">
                  <a:extLst>
                    <a:ext uri="{A12FA001-AC4F-418D-AE19-62706E023703}">
                      <ahyp:hlinkClr xmlns:ahyp="http://schemas.microsoft.com/office/drawing/2018/hyperlinkcolor" val="tx"/>
                    </a:ext>
                  </a:extLst>
                </a:hlinkClick>
              </a:rPr>
              <a:t>iTutorGroup EEOC settlement</a:t>
            </a:r>
            <a:endParaRPr lang="en-US" sz="1020" dirty="0"/>
          </a:p>
        </p:txBody>
      </p:sp>
      <p:sp>
        <p:nvSpPr>
          <p:cNvPr id="21" name="Text 19"/>
          <p:cNvSpPr/>
          <p:nvPr/>
        </p:nvSpPr>
        <p:spPr>
          <a:xfrm>
            <a:off x="8778240" y="1773936"/>
            <a:ext cx="2743200" cy="182880"/>
          </a:xfrm>
          <a:prstGeom prst="rect">
            <a:avLst/>
          </a:prstGeom>
          <a:noFill/>
          <a:ln/>
        </p:spPr>
        <p:txBody>
          <a:bodyPr wrap="square" lIns="0" tIns="0" rIns="0" bIns="0" rtlCol="0" anchor="ctr">
            <a:normAutofit fontScale="92500" lnSpcReduction="20000"/>
          </a:bodyPr>
          <a:lstStyle/>
          <a:p>
            <a:pPr marL="0" indent="0">
              <a:buNone/>
            </a:pPr>
            <a:r>
              <a:rPr lang="en-US" sz="740" dirty="0">
                <a:solidFill>
                  <a:srgbClr val="CBBFA8"/>
                </a:solidFill>
              </a:rPr>
              <a:t>www.eeoc.gov/newsroom/itutorgroup-pay-365000-settle-eeoc-discriminatory-hiring-suit</a:t>
            </a:r>
            <a:endParaRPr lang="en-US" sz="740" dirty="0"/>
          </a:p>
        </p:txBody>
      </p:sp>
      <p:sp>
        <p:nvSpPr>
          <p:cNvPr id="22" name="Text 20">
            <a:hlinkClick r:id="rId9"/>
          </p:cNvPr>
          <p:cNvSpPr/>
          <p:nvPr/>
        </p:nvSpPr>
        <p:spPr>
          <a:xfrm>
            <a:off x="6263640" y="2432304"/>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9">
                  <a:extLst>
                    <a:ext uri="{A12FA001-AC4F-418D-AE19-62706E023703}">
                      <ahyp:hlinkClr xmlns:ahyp="http://schemas.microsoft.com/office/drawing/2018/hyperlinkcolor" val="tx"/>
                    </a:ext>
                  </a:extLst>
                </a:hlinkClick>
              </a:rPr>
              <a:t>Zillow Offers shutdown</a:t>
            </a:r>
            <a:endParaRPr lang="en-US" sz="1020" dirty="0"/>
          </a:p>
        </p:txBody>
      </p:sp>
      <p:sp>
        <p:nvSpPr>
          <p:cNvPr id="23" name="Text 21"/>
          <p:cNvSpPr/>
          <p:nvPr/>
        </p:nvSpPr>
        <p:spPr>
          <a:xfrm>
            <a:off x="8778240" y="2450592"/>
            <a:ext cx="2743200" cy="182880"/>
          </a:xfrm>
          <a:prstGeom prst="rect">
            <a:avLst/>
          </a:prstGeom>
          <a:noFill/>
          <a:ln/>
        </p:spPr>
        <p:txBody>
          <a:bodyPr wrap="square" lIns="0" tIns="0" rIns="0" bIns="0" rtlCol="0" anchor="ctr">
            <a:normAutofit fontScale="92500" lnSpcReduction="20000"/>
          </a:bodyPr>
          <a:lstStyle/>
          <a:p>
            <a:pPr marL="0" indent="0">
              <a:buNone/>
            </a:pPr>
            <a:r>
              <a:rPr lang="en-US" sz="740" dirty="0">
                <a:solidFill>
                  <a:srgbClr val="CBBFA8"/>
                </a:solidFill>
              </a:rPr>
              <a:t>www.wsj.com/economy/housing/zillow-quits-home-flipping-business-cites-inability-to-forecast-prices-11635883500</a:t>
            </a:r>
            <a:endParaRPr lang="en-US" sz="740" dirty="0"/>
          </a:p>
        </p:txBody>
      </p:sp>
      <p:sp>
        <p:nvSpPr>
          <p:cNvPr id="24" name="Text 22">
            <a:hlinkClick r:id="rId10"/>
          </p:cNvPr>
          <p:cNvSpPr/>
          <p:nvPr/>
        </p:nvSpPr>
        <p:spPr>
          <a:xfrm>
            <a:off x="6263640" y="3108960"/>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10">
                  <a:extLst>
                    <a:ext uri="{A12FA001-AC4F-418D-AE19-62706E023703}">
                      <ahyp:hlinkClr xmlns:ahyp="http://schemas.microsoft.com/office/drawing/2018/hyperlinkcolor" val="tx"/>
                    </a:ext>
                  </a:extLst>
                </a:hlinkClick>
              </a:rPr>
              <a:t>McDonald's AI drive-thru</a:t>
            </a:r>
            <a:endParaRPr lang="en-US" sz="1020" dirty="0"/>
          </a:p>
        </p:txBody>
      </p:sp>
      <p:sp>
        <p:nvSpPr>
          <p:cNvPr id="25" name="Text 23"/>
          <p:cNvSpPr/>
          <p:nvPr/>
        </p:nvSpPr>
        <p:spPr>
          <a:xfrm>
            <a:off x="8778240" y="3127248"/>
            <a:ext cx="2743200" cy="182880"/>
          </a:xfrm>
          <a:prstGeom prst="rect">
            <a:avLst/>
          </a:prstGeom>
          <a:noFill/>
          <a:ln/>
        </p:spPr>
        <p:txBody>
          <a:bodyPr wrap="square" lIns="0" tIns="0" rIns="0" bIns="0" rtlCol="0" anchor="ctr">
            <a:normAutofit/>
          </a:bodyPr>
          <a:lstStyle/>
          <a:p>
            <a:pPr marL="0" indent="0">
              <a:buNone/>
            </a:pPr>
            <a:r>
              <a:rPr lang="en-US" sz="740" dirty="0">
                <a:solidFill>
                  <a:srgbClr val="CBBFA8"/>
                </a:solidFill>
              </a:rPr>
              <a:t>apnews.com/article/bebc898363f2d550e1a0cd3c682fa234</a:t>
            </a:r>
            <a:endParaRPr lang="en-US" sz="740" dirty="0"/>
          </a:p>
        </p:txBody>
      </p:sp>
      <p:sp>
        <p:nvSpPr>
          <p:cNvPr id="26" name="Text 24">
            <a:hlinkClick r:id="rId11"/>
          </p:cNvPr>
          <p:cNvSpPr/>
          <p:nvPr/>
        </p:nvSpPr>
        <p:spPr>
          <a:xfrm>
            <a:off x="6263640" y="3785616"/>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11">
                  <a:extLst>
                    <a:ext uri="{A12FA001-AC4F-418D-AE19-62706E023703}">
                      <ahyp:hlinkClr xmlns:ahyp="http://schemas.microsoft.com/office/drawing/2018/hyperlinkcolor" val="tx"/>
                    </a:ext>
                  </a:extLst>
                </a:hlinkClick>
              </a:rPr>
              <a:t>OpenAI GPTs FAQ</a:t>
            </a:r>
            <a:endParaRPr lang="en-US" sz="1020" dirty="0"/>
          </a:p>
        </p:txBody>
      </p:sp>
      <p:sp>
        <p:nvSpPr>
          <p:cNvPr id="27" name="Text 25"/>
          <p:cNvSpPr/>
          <p:nvPr/>
        </p:nvSpPr>
        <p:spPr>
          <a:xfrm>
            <a:off x="8778240" y="3803904"/>
            <a:ext cx="2743200" cy="182880"/>
          </a:xfrm>
          <a:prstGeom prst="rect">
            <a:avLst/>
          </a:prstGeom>
          <a:noFill/>
          <a:ln/>
        </p:spPr>
        <p:txBody>
          <a:bodyPr wrap="square" lIns="0" tIns="0" rIns="0" bIns="0" rtlCol="0" anchor="ctr">
            <a:normAutofit/>
          </a:bodyPr>
          <a:lstStyle/>
          <a:p>
            <a:pPr marL="0" indent="0">
              <a:buNone/>
            </a:pPr>
            <a:r>
              <a:rPr lang="en-US" sz="740" dirty="0">
                <a:solidFill>
                  <a:srgbClr val="CBBFA8"/>
                </a:solidFill>
              </a:rPr>
              <a:t>help.openai.com/en/articles/8554407-gpts-faq</a:t>
            </a:r>
            <a:endParaRPr lang="en-US" sz="740" dirty="0"/>
          </a:p>
        </p:txBody>
      </p:sp>
      <p:sp>
        <p:nvSpPr>
          <p:cNvPr id="28" name="Text 26">
            <a:hlinkClick r:id="rId12"/>
          </p:cNvPr>
          <p:cNvSpPr/>
          <p:nvPr/>
        </p:nvSpPr>
        <p:spPr>
          <a:xfrm>
            <a:off x="6263640" y="4462272"/>
            <a:ext cx="2423160" cy="219456"/>
          </a:xfrm>
          <a:prstGeom prst="rect">
            <a:avLst/>
          </a:prstGeom>
          <a:noFill/>
          <a:ln/>
        </p:spPr>
        <p:txBody>
          <a:bodyPr wrap="square" lIns="0" tIns="0" rIns="0" bIns="0" rtlCol="0" anchor="ctr"/>
          <a:lstStyle/>
          <a:p>
            <a:pPr marL="0" indent="0">
              <a:buNone/>
            </a:pPr>
            <a:r>
              <a:rPr lang="en-US" sz="1020" b="1" u="sng" dirty="0">
                <a:solidFill>
                  <a:srgbClr val="FFF7E8"/>
                </a:solidFill>
                <a:hlinkClick r:id="rId12"/>
              </a:rPr>
              <a:t>OpenAI creating/editing GPTs</a:t>
            </a:r>
            <a:endParaRPr lang="en-US" sz="1020" dirty="0"/>
          </a:p>
        </p:txBody>
      </p:sp>
      <p:sp>
        <p:nvSpPr>
          <p:cNvPr id="29" name="Text 27"/>
          <p:cNvSpPr/>
          <p:nvPr/>
        </p:nvSpPr>
        <p:spPr>
          <a:xfrm>
            <a:off x="8778240" y="4480560"/>
            <a:ext cx="2743200" cy="182880"/>
          </a:xfrm>
          <a:prstGeom prst="rect">
            <a:avLst/>
          </a:prstGeom>
          <a:noFill/>
          <a:ln/>
        </p:spPr>
        <p:txBody>
          <a:bodyPr wrap="square" lIns="0" tIns="0" rIns="0" bIns="0" rtlCol="0" anchor="ctr">
            <a:normAutofit/>
          </a:bodyPr>
          <a:lstStyle/>
          <a:p>
            <a:pPr marL="0" indent="0">
              <a:buNone/>
            </a:pPr>
            <a:r>
              <a:rPr lang="en-US" sz="740" dirty="0">
                <a:solidFill>
                  <a:srgbClr val="CBBFA8"/>
                </a:solidFill>
              </a:rPr>
              <a:t>help.openai.com/en/articles/8554397-creating-a-custom-gpt</a:t>
            </a:r>
            <a:endParaRPr lang="en-US" sz="74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D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D08"/>
          </a:solidFill>
          <a:ln w="12700">
            <a:solidFill>
              <a:srgbClr val="0B0D08"/>
            </a:solidFill>
            <a:prstDash val="solid"/>
          </a:ln>
        </p:spPr>
        <p:txBody>
          <a:bodyPr/>
          <a:lstStyle/>
          <a:p>
            <a:endParaRPr/>
          </a:p>
        </p:txBody>
      </p:sp>
      <p:sp>
        <p:nvSpPr>
          <p:cNvPr id="3" name="Shape 1"/>
          <p:cNvSpPr/>
          <p:nvPr/>
        </p:nvSpPr>
        <p:spPr>
          <a:xfrm>
            <a:off x="-1005840" y="-1097280"/>
            <a:ext cx="3657600" cy="3657600"/>
          </a:xfrm>
          <a:prstGeom prst="arc">
            <a:avLst/>
          </a:prstGeom>
          <a:noFill/>
          <a:ln w="12700">
            <a:solidFill>
              <a:srgbClr val="D49A3D">
                <a:alpha val="15000"/>
              </a:srgbClr>
            </a:solidFill>
            <a:prstDash val="solid"/>
          </a:ln>
        </p:spPr>
        <p:txBody>
          <a:bodyPr/>
          <a:lstStyle/>
          <a:p>
            <a:endParaRPr/>
          </a:p>
        </p:txBody>
      </p:sp>
      <p:sp>
        <p:nvSpPr>
          <p:cNvPr id="4" name="Shape 2"/>
          <p:cNvSpPr/>
          <p:nvPr/>
        </p:nvSpPr>
        <p:spPr>
          <a:xfrm>
            <a:off x="9692640" y="-914400"/>
            <a:ext cx="3108960" cy="3108960"/>
          </a:xfrm>
          <a:prstGeom prst="arc">
            <a:avLst/>
          </a:prstGeom>
          <a:noFill/>
          <a:ln w="12700">
            <a:solidFill>
              <a:srgbClr val="789D58">
                <a:alpha val="12000"/>
              </a:srgbClr>
            </a:solidFill>
            <a:prstDash val="solid"/>
          </a:ln>
        </p:spPr>
        <p:txBody>
          <a:bodyPr/>
          <a:lstStyle/>
          <a:p>
            <a:endParaRPr/>
          </a:p>
        </p:txBody>
      </p:sp>
      <p:sp>
        <p:nvSpPr>
          <p:cNvPr id="5" name="Shape 3"/>
          <p:cNvSpPr/>
          <p:nvPr/>
        </p:nvSpPr>
        <p:spPr>
          <a:xfrm>
            <a:off x="0" y="0"/>
            <a:ext cx="12191695" cy="73152"/>
          </a:xfrm>
          <a:prstGeom prst="rect">
            <a:avLst/>
          </a:prstGeom>
          <a:solidFill>
            <a:srgbClr val="D49A3D"/>
          </a:solidFill>
          <a:ln w="12700">
            <a:solidFill>
              <a:srgbClr val="D49A3D"/>
            </a:solidFill>
            <a:prstDash val="solid"/>
          </a:ln>
        </p:spPr>
        <p:txBody>
          <a:bodyPr/>
          <a:lstStyle/>
          <a:p>
            <a:endParaRPr/>
          </a:p>
        </p:txBody>
      </p:sp>
      <p:sp>
        <p:nvSpPr>
          <p:cNvPr id="6" name="Text 4"/>
          <p:cNvSpPr/>
          <p:nvPr/>
        </p:nvSpPr>
        <p:spPr>
          <a:xfrm>
            <a:off x="384048" y="6473952"/>
            <a:ext cx="5029200" cy="164592"/>
          </a:xfrm>
          <a:prstGeom prst="rect">
            <a:avLst/>
          </a:prstGeom>
          <a:noFill/>
          <a:ln/>
        </p:spPr>
        <p:txBody>
          <a:bodyPr wrap="square" lIns="0" tIns="0" rIns="0" bIns="0" rtlCol="0" anchor="ctr"/>
          <a:lstStyle/>
          <a:p>
            <a:pPr marL="0" indent="0">
              <a:buNone/>
            </a:pPr>
            <a:r>
              <a:rPr lang="en-US" sz="770" dirty="0">
                <a:solidFill>
                  <a:srgbClr val="CBBFA8"/>
                </a:solidFill>
              </a:rPr>
              <a:t>Kretz AI Leadership and Governance</a:t>
            </a:r>
            <a:endParaRPr lang="en-US" sz="770" dirty="0"/>
          </a:p>
        </p:txBody>
      </p:sp>
      <p:sp>
        <p:nvSpPr>
          <p:cNvPr id="7" name="Text 5"/>
          <p:cNvSpPr/>
          <p:nvPr/>
        </p:nvSpPr>
        <p:spPr>
          <a:xfrm>
            <a:off x="8412480" y="6473952"/>
            <a:ext cx="3383280" cy="164592"/>
          </a:xfrm>
          <a:prstGeom prst="rect">
            <a:avLst/>
          </a:prstGeom>
          <a:noFill/>
          <a:ln/>
        </p:spPr>
        <p:txBody>
          <a:bodyPr wrap="square" lIns="0" tIns="0" rIns="0" bIns="0" rtlCol="0" anchor="ctr"/>
          <a:lstStyle/>
          <a:p>
            <a:pPr marL="0" indent="0" algn="r">
              <a:buNone/>
            </a:pPr>
            <a:r>
              <a:rPr lang="en-US" sz="770" dirty="0">
                <a:solidFill>
                  <a:srgbClr val="CBBFA8"/>
                </a:solidFill>
              </a:rPr>
              <a:t>Josh Stutting | Northcentral Technical College</a:t>
            </a:r>
            <a:endParaRPr lang="en-US" sz="770" dirty="0"/>
          </a:p>
        </p:txBody>
      </p:sp>
      <p:sp>
        <p:nvSpPr>
          <p:cNvPr id="8" name="Text 6"/>
          <p:cNvSpPr/>
          <p:nvPr/>
        </p:nvSpPr>
        <p:spPr>
          <a:xfrm>
            <a:off x="621792" y="640080"/>
            <a:ext cx="2377440" cy="320040"/>
          </a:xfrm>
          <a:prstGeom prst="rect">
            <a:avLst/>
          </a:prstGeom>
          <a:noFill/>
          <a:ln/>
        </p:spPr>
        <p:txBody>
          <a:bodyPr wrap="square" lIns="0" tIns="0" rIns="0" bIns="0" rtlCol="0" anchor="ctr"/>
          <a:lstStyle/>
          <a:p>
            <a:pPr marL="0" indent="0">
              <a:buNone/>
            </a:pPr>
            <a:r>
              <a:rPr lang="en-US" sz="1200" b="1" dirty="0">
                <a:solidFill>
                  <a:srgbClr val="F0D49A"/>
                </a:solidFill>
              </a:rPr>
              <a:t>THANK YOU</a:t>
            </a:r>
            <a:endParaRPr lang="en-US" sz="1200" dirty="0"/>
          </a:p>
        </p:txBody>
      </p:sp>
      <p:sp>
        <p:nvSpPr>
          <p:cNvPr id="9" name="Text 7"/>
          <p:cNvSpPr/>
          <p:nvPr/>
        </p:nvSpPr>
        <p:spPr>
          <a:xfrm>
            <a:off x="594360" y="1325880"/>
            <a:ext cx="8686800" cy="731520"/>
          </a:xfrm>
          <a:prstGeom prst="rect">
            <a:avLst/>
          </a:prstGeom>
          <a:noFill/>
          <a:ln/>
        </p:spPr>
        <p:txBody>
          <a:bodyPr wrap="square" lIns="0" tIns="0" rIns="0" bIns="0" rtlCol="0" anchor="ctr">
            <a:normAutofit/>
          </a:bodyPr>
          <a:lstStyle/>
          <a:p>
            <a:pPr marL="0" indent="0">
              <a:buNone/>
            </a:pPr>
            <a:r>
              <a:rPr lang="en-US" sz="3700" b="1" dirty="0">
                <a:solidFill>
                  <a:srgbClr val="FFF7E8"/>
                </a:solidFill>
              </a:rPr>
              <a:t>Questions, discussion, and next steps</a:t>
            </a:r>
            <a:endParaRPr lang="en-US" sz="3700" dirty="0"/>
          </a:p>
        </p:txBody>
      </p:sp>
      <p:sp>
        <p:nvSpPr>
          <p:cNvPr id="10" name="Text 8"/>
          <p:cNvSpPr/>
          <p:nvPr/>
        </p:nvSpPr>
        <p:spPr>
          <a:xfrm>
            <a:off x="621792" y="2971800"/>
            <a:ext cx="7132320" cy="914400"/>
          </a:xfrm>
          <a:prstGeom prst="rect">
            <a:avLst/>
          </a:prstGeom>
          <a:noFill/>
          <a:ln/>
        </p:spPr>
        <p:txBody>
          <a:bodyPr wrap="square" lIns="0" tIns="0" rIns="0" bIns="0" rtlCol="0" anchor="ctr"/>
          <a:lstStyle/>
          <a:p>
            <a:pPr marL="0" indent="0">
              <a:buNone/>
            </a:pPr>
            <a:r>
              <a:rPr lang="en-US" sz="1550" dirty="0">
                <a:solidFill>
                  <a:srgbClr val="CBBFA8"/>
                </a:solidFill>
              </a:rPr>
              <a:t>Josh Stutting</a:t>
            </a:r>
            <a:endParaRPr lang="en-US" sz="1550" dirty="0"/>
          </a:p>
          <a:p>
            <a:pPr marL="0" indent="0">
              <a:buNone/>
            </a:pPr>
            <a:r>
              <a:rPr lang="en-US" sz="1550" dirty="0">
                <a:solidFill>
                  <a:srgbClr val="CBBFA8"/>
                </a:solidFill>
              </a:rPr>
              <a:t>IT Faculty - Northcentral Technical College</a:t>
            </a:r>
            <a:endParaRPr lang="en-US" sz="1550" dirty="0"/>
          </a:p>
          <a:p>
            <a:pPr marL="0" indent="0">
              <a:buNone/>
            </a:pPr>
            <a:r>
              <a:rPr lang="en-US" sz="1550" dirty="0">
                <a:solidFill>
                  <a:srgbClr val="CBBFA8"/>
                </a:solidFill>
              </a:rPr>
              <a:t>stutting@ntc.edu  |  715.803.1510  |  www.ntc.edu</a:t>
            </a:r>
            <a:endParaRPr lang="en-US" sz="1550" dirty="0"/>
          </a:p>
        </p:txBody>
      </p:sp>
      <p:sp>
        <p:nvSpPr>
          <p:cNvPr id="11" name="Shape 9"/>
          <p:cNvSpPr/>
          <p:nvPr/>
        </p:nvSpPr>
        <p:spPr>
          <a:xfrm>
            <a:off x="640080" y="4572000"/>
            <a:ext cx="4937760" cy="1005840"/>
          </a:xfrm>
          <a:prstGeom prst="roundRect">
            <a:avLst>
              <a:gd name="adj" fmla="val 11818"/>
            </a:avLst>
          </a:prstGeom>
          <a:solidFill>
            <a:srgbClr val="1B2116"/>
          </a:solidFill>
          <a:ln w="12700">
            <a:solidFill>
              <a:srgbClr val="D49A3D"/>
            </a:solidFill>
            <a:prstDash val="solid"/>
          </a:ln>
        </p:spPr>
        <p:txBody>
          <a:bodyPr/>
          <a:lstStyle/>
          <a:p>
            <a:endParaRPr/>
          </a:p>
        </p:txBody>
      </p:sp>
      <p:sp>
        <p:nvSpPr>
          <p:cNvPr id="12" name="Text 10"/>
          <p:cNvSpPr/>
          <p:nvPr/>
        </p:nvSpPr>
        <p:spPr>
          <a:xfrm>
            <a:off x="868680" y="4791456"/>
            <a:ext cx="4480560" cy="292608"/>
          </a:xfrm>
          <a:prstGeom prst="rect">
            <a:avLst/>
          </a:prstGeom>
          <a:noFill/>
          <a:ln/>
        </p:spPr>
        <p:txBody>
          <a:bodyPr wrap="square" lIns="0" tIns="0" rIns="0" bIns="0" rtlCol="0" anchor="ctr">
            <a:normAutofit/>
          </a:bodyPr>
          <a:lstStyle/>
          <a:p>
            <a:pPr marL="0" indent="0">
              <a:buNone/>
            </a:pPr>
            <a:r>
              <a:rPr lang="en-US" sz="1500" b="1" dirty="0">
                <a:solidFill>
                  <a:srgbClr val="F0D49A"/>
                </a:solidFill>
              </a:rPr>
              <a:t>Final prompt to the room</a:t>
            </a:r>
            <a:endParaRPr lang="en-US" sz="1500" dirty="0"/>
          </a:p>
        </p:txBody>
      </p:sp>
      <p:sp>
        <p:nvSpPr>
          <p:cNvPr id="13" name="Text 11"/>
          <p:cNvSpPr/>
          <p:nvPr/>
        </p:nvSpPr>
        <p:spPr>
          <a:xfrm>
            <a:off x="868680" y="5193792"/>
            <a:ext cx="4480560" cy="228600"/>
          </a:xfrm>
          <a:prstGeom prst="rect">
            <a:avLst/>
          </a:prstGeom>
          <a:noFill/>
          <a:ln/>
        </p:spPr>
        <p:txBody>
          <a:bodyPr wrap="square" lIns="0" tIns="0" rIns="0" bIns="0" rtlCol="0" anchor="ctr">
            <a:normAutofit fontScale="85000" lnSpcReduction="20000"/>
          </a:bodyPr>
          <a:lstStyle/>
          <a:p>
            <a:pPr marL="0" indent="0">
              <a:buNone/>
            </a:pPr>
            <a:r>
              <a:rPr lang="en-US" sz="1050" dirty="0">
                <a:solidFill>
                  <a:srgbClr val="FFF7E8"/>
                </a:solidFill>
              </a:rPr>
              <a:t>Name one Kretz opportunity and one governance rule that should come before broader AI use.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5666</Words>
  <Application>Microsoft Office PowerPoint</Application>
  <PresentationFormat>Widescreen</PresentationFormat>
  <Paragraphs>685</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Northcentral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Kretz Lumber AI Leadership and Governance Training V3</dc:title>
  <dc:subject>Kretz Lumber AI Leadership and Governance Training</dc:subject>
  <dc:creator>Josh Stutting / Northcentral Technical College</dc:creator>
  <cp:lastModifiedBy>Josh Stutting</cp:lastModifiedBy>
  <cp:revision>2</cp:revision>
  <dcterms:created xsi:type="dcterms:W3CDTF">2026-06-29T15:13:37Z</dcterms:created>
  <dcterms:modified xsi:type="dcterms:W3CDTF">2026-06-30T12:25:27Z</dcterms:modified>
</cp:coreProperties>
</file>