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participants. Set the expectation that this session is practice, not lecture. The room should be signed in and ready to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preview the arc. Do not teach the details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ninety-second callback, not a repeat of Session 1.
[Sources]
- https://www.americanbar.org/groups/business_law/resources/business-law-today/2024-february/bc-tribunal-confirms-companies-remain-liable-information-provided-ai-chatbot/
- https://law.justia.com/cases/federal/district-courts/new-york/nysdce/1%3A2022cv01461/575368/54/
- https://techcrunch.com/2023/05/02/samsung-bans-use-of-generative-ai-tools-like-chatgpt-after-april-internal-data-leak/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Activity 1. Ask participants what the model has to decide when the user provides almost no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everyone generate the image at the same time. Walk the room and look for repeated fruit, bowls, lighting, backgrounds, and camera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homogenization point. Do not imply all model outputs will be identical; the point is that they cluster around familiar averages when the user leaves the decisions blank.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generic version first. Then have participants fill the structured template for their own house or a fictional house. Remind them not to include identifying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participants build the house prompt from the handout slots. Encourage concrete nouns and constraints rather than vague quality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often rewrite the entire prompt after one bad detail. Stop that pattern early. Iteration preserves progress and makes the effect of each change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what changed even though the object stayed the same. Bridge to written work: “summarize this meeting” versus “summarize it into five bullets the yard crew can use at the start of shift.”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highest-leverage template in the session. Encourage participants to use “for” and “because”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Participants upload the synthetic haul-cost file. Have them ask for the workbook plan before showing the reference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absolute employee rule. Explain the nuance verbally: tools may run calculations, but the employee still has to verify method, assumptions, rows, formulas, and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raw CSV problems first. The 11-hour workbook value is a training screening flag for driving time, not a complete HOS compliance determination.
[Sources]
- https://www.fmcsa.dot.gov/regulations/hours-service/summary-hours-service-regulations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actual workbook after this slide. Emphasize that the answer key is a model of transparent assumptions and review—not a production cost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Claude Parcel Finder and the refined Landowner Prospecting Tool side by side if they are available. The lesson is prompt-to-process evolution, not that the prototype is an approved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someone open the current portal while the answer is still on screen. The current training reference is V12, but current county or municipal records remain the authority.
[Sources]
- https://www.sco.wisc.edu/parcels/data/
- https://www.sco.wisc.edu/parcels/data-county/
- https://dnr.wisconsin.gov/topic/forestlandowners/mfl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turn this into legal advice. The training boundary is operational: verify the record and follow approved practices before contact.
[Sources]
- https://www.sco.wisc.edu/parcels/data/
- https://www.sco.wisc.edu/parcels/data-county/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the fictional CSV. The file intentionally contains duplicates, missing fields, and questionable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Kretz AI Decision Guide if available. If every task comes back as AI, the classification was too loose.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diagnosis. A good prompt can help classify the problem, but the organization still decides what to fund, approve, and maintain.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activity is the first cut if time slips. Protect the final tool-building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absolute employee rule. The nuance is that a validated forecasting system is different from asking a general chatbot for a number.
[Sources]
- https://investors.zillowgroup.com/news-and-events/news/news-details/2021/Zillow-Group-Reports-Third-Quarter-2021-Financial-Results--Shares-Plan-to-Wind-Down-Zillow-Offers-Operations/default.aspx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explicitly that the relationship is planted in synthetic data. Do not imply it is a verified real-world hardwood-market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Participants may choose their own problem or follow the Timber Sale Tracker example. Keep the build narrow enough to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handout worksheet. If the problem takes three sentences to describe, it may be more than one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kretz_prompt_to_tool_builder_example.html. Explain the known limitation: it does not persist between sessions. That is a feature for the lesson because it reveals the difference between a prototype and a production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room read the final line together: A person signs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spoken recap. Ask each participant which habit they are most likely to use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time. Point participants to the portal resources and ask them to use one template on a real low-risk task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ETZ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0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KRETZ AI PROMPTING LAB · SESSION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2011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FC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Northcentral Technical College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8890">
            <a:solidFill>
              <a:srgbClr val="3C544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9A3D"/>
                </a:solidFill>
              </a:rPr>
              <a:t>SESSION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6583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7E8"/>
                </a:solidFill>
              </a:rPr>
              <a:t>Prompting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7E8"/>
                </a:solidFill>
              </a:rPr>
              <a:t>in Practice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1792" y="30906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C5B8"/>
                </a:solidFill>
              </a:rPr>
              <a:t>Two hours. Hands on the keyboard.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3794760"/>
            <a:ext cx="5852160" cy="1078992"/>
          </a:xfrm>
          <a:prstGeom prst="roundRect">
            <a:avLst>
              <a:gd name="adj" fmla="val 6780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4096512"/>
            <a:ext cx="5358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8"/>
                </a:solidFill>
              </a:rPr>
              <a:t>The software is the same for everyone. The asking is not.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57150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5B8"/>
                </a:solidFill>
              </a:rPr>
              <a:t>Kretz Lumber · Antigo, Wisconsin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What we are practicing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5B8"/>
                </a:solidFill>
              </a:rPr>
              <a:t>The same prompting skill moves from images to spreadsheets, research, decisions, monitoring, and a working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5230368" cy="128016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27940" dist="15240" dir="27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9077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980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52728" y="288950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Generic → specific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346704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Remove wrong answers with the details that matter.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743200"/>
            <a:ext cx="5230368" cy="128016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354838000" dist="193548000" dir="162000000000">
              <a:srgbClr val="000000">
                <a:alpha val="28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91072" y="29077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2980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84848" y="288950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Object → intention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346704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Say who it is for and what happens next.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251960"/>
            <a:ext cx="5230368" cy="128016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4506442600000" dist="2458059600000" dir="9720000000000000">
              <a:srgbClr val="000000">
                <a:alpha val="28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441655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4897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52728" y="439826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Data → verification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855464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Ask for formulas, sources, assumptions, and warnings.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251960"/>
            <a:ext cx="5230368" cy="128016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57231821020000000" dist="31217356920000000" dir="583200000000000000000">
              <a:srgbClr val="000000">
                <a:alpha val="280000000000000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91072" y="441655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44897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439826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Problem → tool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4855464"/>
            <a:ext cx="4864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Describe a narrow workflow and refine without restarting.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CARRIED FROM SESSION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Four rules still apply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5B8"/>
                </a:solidFill>
              </a:rPr>
              <a:t>Prompting skill does not replace governance. It makes governance worth having.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2578608" cy="2011680"/>
          </a:xfrm>
          <a:prstGeom prst="roundRect">
            <a:avLst>
              <a:gd name="adj" fmla="val 3636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726844126954000000000" dist="396460432884000000000" dir="3.4992e+25">
              <a:srgbClr val="000000">
                <a:alpha val="2.8e+2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9077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980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52728" y="28895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You own what it says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346704"/>
            <a:ext cx="22128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Anything leaving the building carries Kretz’s name.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2578608" cy="2011680"/>
          </a:xfrm>
          <a:prstGeom prst="roundRect">
            <a:avLst>
              <a:gd name="adj" fmla="val 3636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9.2309204123158e+24" dist="5.0350474976268e+24" dir="2.09952e+30">
              <a:srgbClr val="000000">
                <a:alpha val="2.8000000000000003e+2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9077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980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41648" y="28895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Confident is not correct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346704"/>
            <a:ext cx="22128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Check every name, number, formula, source, and citation.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2743200"/>
            <a:ext cx="2578608" cy="2011680"/>
          </a:xfrm>
          <a:prstGeom prst="roundRect">
            <a:avLst>
              <a:gd name="adj" fmla="val 3636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1723268923641065e+29" dist="6.3945103219860365e+28" dir="1.259712e+35">
              <a:srgbClr val="000000">
                <a:alpha val="2.8000000000000005e+3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36792" y="29077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2980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30568" y="28895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Where data goes matters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346704"/>
            <a:ext cx="22128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Practice uses synthetic or non-sensitive information.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0" y="2743200"/>
            <a:ext cx="2578608" cy="2011680"/>
          </a:xfrm>
          <a:prstGeom prst="roundRect">
            <a:avLst>
              <a:gd name="adj" fmla="val 3636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4888551533024154e+33" dist="8.121028108922266e+32" dir="7.558272e+39">
              <a:srgbClr val="000000">
                <a:alpha val="2.8000000000000006e+3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25712" y="2907792"/>
            <a:ext cx="384048" cy="384048"/>
          </a:xfrm>
          <a:prstGeom prst="ellipse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2980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19488" y="28895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A person signs off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3346704"/>
            <a:ext cx="221284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External, safety, legal, pricing, and landowner work gets human review.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THE CORE LESSON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AI fills in what you leave blank.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5B8"/>
                </a:solidFill>
              </a:rPr>
              <a:t>When the prompt is vague, the model chooses the statistical middle.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49A3D"/>
                </a:solidFill>
              </a:rPr>
              <a:t>GENERIC 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93008" y="3154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89D58"/>
                </a:solidFill>
              </a:rPr>
              <a:t>→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950208" y="2907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49A3D"/>
                </a:solidFill>
              </a:rPr>
              <a:t>GENERIC 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95160" y="3154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89D58"/>
                </a:solidFill>
              </a:rPr>
              <a:t>→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24928" y="29077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49A3D"/>
                </a:solidFill>
              </a:rPr>
              <a:t>GENERIC BRAND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310128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  <a:effectLst>
            <a:outerShdw sx="100000" sy="100000" kx="0" ky="0" algn="bl" rotWithShape="0" blurRad="1.8908460446940676e+37" dist="1.0313705698331278e+37" dir="4.5349632000000006e+44">
              <a:srgbClr val="000000">
                <a:alpha val="2.8000000000000005e+4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50208" y="3310128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  <a:effectLst>
            <a:outerShdw sx="100000" sy="100000" kx="0" ky="0" algn="bl" rotWithShape="0" blurRad="2.4013744767614657e+41" dist="1.3098406236880722e+41" dir="2.72097792e+49">
              <a:srgbClr val="000000">
                <a:alpha val="2.8000000000000003e+4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88352" y="3310128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3B2924"/>
          </a:solidFill>
          <a:ln w="12700">
            <a:solidFill>
              <a:srgbClr val="C4564B"/>
            </a:solidFill>
            <a:prstDash val="solid"/>
          </a:ln>
          <a:effectLst>
            <a:outerShdw sx="100000" sy="100000" kx="0" ky="0" algn="bl" rotWithShape="0" blurRad="3.0497455854870615e+45" dist="1.6634975920838518e+45" dir="1.6325867520000003e+54">
              <a:srgbClr val="000000">
                <a:alpha val="2.8e+5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512064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8"/>
                </a:solidFill>
              </a:rPr>
              <a:t>The same average is available to everyone—including competitors.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9A3D"/>
                </a:solidFill>
              </a:rPr>
              <a:t>01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2103120" y="10241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7E8"/>
                </a:solidFill>
              </a:rPr>
              <a:t>Bowl of fruit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21408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5B8"/>
                </a:solidFill>
              </a:rPr>
              <a:t>Ten minutes · Run the same prompt together.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25880" y="2880360"/>
            <a:ext cx="9509760" cy="1143000"/>
          </a:xfrm>
          <a:prstGeom prst="roundRect">
            <a:avLst>
              <a:gd name="adj" fmla="val 6400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3.873176893568568e+49" dist="2.1126419419464918e+49" dir="9.795520512000002e+58">
              <a:srgbClr val="000000">
                <a:alpha val="2.8000000000000002e+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90472" y="2990088"/>
            <a:ext cx="9180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RUN IT TOGETHER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90472" y="3236976"/>
            <a:ext cx="918057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an image of a bowl of fruit.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6908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A3D"/>
                </a:solidFill>
              </a:rPr>
              <a:t>Do not add details yet.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ACTIVITY 1 DEBRIEF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What did the tool decide for you?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5B8"/>
                </a:solidFill>
              </a:rPr>
              <a:t>Similar output is not a failure of the image tool. It is the expected result of missing direction.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743200"/>
            <a:ext cx="523036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4.918934654832081e+53" dist="2.6830552662720448e+53" dir="5.877312307200001e+63">
              <a:srgbClr val="000000">
                <a:alpha val="2.8e+6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9077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980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52728" y="288950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Which fruits appeared most often?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346704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Write down one repeated detail you saw across the room.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743200"/>
            <a:ext cx="523036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6.247047011636743e+57" dist="3.407480188165497e+57" dir="3.526387384320001e+68">
              <a:srgbClr val="000000">
                <a:alpha val="2.8000000000000002e+6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91072" y="29077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2980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84848" y="288950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What material was the bowl?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346704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Write down one repeated detail you saw across the room.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160520"/>
            <a:ext cx="523036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7.933749704778664e+61" dist="4.327499838970181e+61" dir="2.1158324305920003e+73">
              <a:srgbClr val="000000">
                <a:alpha val="2.8e+7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432511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982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52728" y="430682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What light and camera angle?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764024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Write down one repeated detail you saw across the room.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160520"/>
            <a:ext cx="523036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0075862125068903e+66" dist="5.49592479549213e+65" dir="1.2694994583552002e+78">
              <a:srgbClr val="000000">
                <a:alpha val="2.8e+7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91072" y="432511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43982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430682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Whose style or values did it reflect?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4764024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Write down one repeated detail you saw across the room.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011680" y="562356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7E9E2"/>
          </a:solidFill>
          <a:ln w="13970">
            <a:solidFill>
              <a:srgbClr val="C456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5623560"/>
            <a:ext cx="73152" cy="658368"/>
          </a:xfrm>
          <a:prstGeom prst="rect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31136" y="575157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2E27"/>
                </a:solidFill>
              </a:rPr>
              <a:t>Generic work is easy to spot.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231136" y="6062472"/>
            <a:ext cx="7754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3B34"/>
                </a:solidFill>
              </a:rPr>
              <a:t>It looks competent, polished, and interchangeable.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9A3D"/>
                </a:solidFill>
              </a:rPr>
              <a:t>02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2103120" y="10241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7E8"/>
                </a:solidFill>
              </a:rPr>
              <a:t>House in Wisconsin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21408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5B8"/>
                </a:solidFill>
              </a:rPr>
              <a:t>Eighteen minutes · Generic first, then structured.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78892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1.2796344898837507e+70" dist="6.979824490275004e+69" dir="7.616996750131201e+82">
              <a:srgbClr val="000000">
                <a:alpha val="2.8000000000000002e+8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898648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GENERIC VERSION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8992" y="3145536"/>
            <a:ext cx="45628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an image of a house in Wisconsin.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7889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1.6251358021523632e+74" dist="8.864377102649255e+73" dir="4.57019805007872e+87">
              <a:srgbClr val="000000">
                <a:alpha val="2.8000000000000004e+8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36792" y="2898648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STRUCTURED VERSION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36792" y="3145536"/>
            <a:ext cx="4745736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a realistic image of a house in Wisconsin using: house style, exterior color, roof, setting, season, time of day, yard details, and purpose. Do not include address, license plates, mailbox numbers, or identifying personal details.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SPECIFICITY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Each useful detail removes wrong answers.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5B8"/>
                </a:solidFill>
              </a:rPr>
              <a:t>Longer is not automatically better. Choose the details that actually change the result.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95351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7E8"/>
                </a:solidFill>
              </a:rPr>
              <a:t>What it 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2697480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295351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7E8"/>
                </a:solidFill>
              </a:rPr>
              <a:t>Style / era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697480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295351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7E8"/>
                </a:solidFill>
              </a:rPr>
              <a:t>Materials / colors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2697480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70848" y="295351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7E8"/>
                </a:solidFill>
              </a:rPr>
              <a:t>Features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3931920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21372C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41879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7E8"/>
                </a:solidFill>
              </a:rPr>
              <a:t>Surroundings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83280" y="3931920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21372C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41879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7E8"/>
                </a:solidFill>
              </a:rPr>
              <a:t>Location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21372C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41879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7E8"/>
                </a:solidFill>
              </a:rPr>
              <a:t>Season / time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61120" y="3931920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21372C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0848" y="418795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7E8"/>
                </a:solidFill>
              </a:rPr>
              <a:t>Vantage / format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4406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49A3D"/>
                </a:solidFill>
              </a:rPr>
              <a:t>Color, material, season, vantage point, and purpose usually do more work than a paragraph of adjectives.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DO NOT RESTART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Use a correction loop.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5B8"/>
                </a:solidFill>
              </a:rPr>
              <a:t>Preserve the parts that worked and change only what is wrong.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10012680" cy="1600200"/>
          </a:xfrm>
          <a:prstGeom prst="roundRect">
            <a:avLst>
              <a:gd name="adj" fmla="val 4571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2.0639224687335015e+78" dist="1.1257758920364555e+78" dir="2.742118830047232e+92">
              <a:srgbClr val="000000">
                <a:alpha val="2.8000000000000004e+9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61872" y="2852928"/>
            <a:ext cx="9683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TARGETED CORRECTION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261872" y="3099816"/>
            <a:ext cx="9683496" cy="1124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Keep everything exactly as it is, but change the siding from white to tan, remove the porch swing, and move the garage to the left side of the house.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43000" y="4800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2.6211815352915468e+82" dist="1.4297353828862985e+82" dir="1.6452712980283393e+97">
              <a:srgbClr val="000000">
                <a:alpha val="2.8000000000000003e+9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07592" y="496519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5038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01368" y="4946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KEEP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5404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Everything already correct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4800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3.3289005498202646e+86" dist="1.815763936265599e+86" dir="9.871627788170037e+101">
              <a:srgbClr val="000000">
                <a:alpha val="2.8000000000000003e+10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49651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5038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0368" y="4946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CHANGE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5404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Two or three named details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48006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4.227703698271736e+90" dist="2.3060201990573107e+90" dir="5.9229766729020215e+106">
              <a:srgbClr val="000000">
                <a:alpha val="2.8e+10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65592" y="496519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5592" y="5038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59368" y="4946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REVIEW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83880" y="5404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What moved unexpectedly?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9A3D"/>
                </a:solidFill>
              </a:rPr>
              <a:t>03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2103120" y="10241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7E8"/>
                </a:solidFill>
              </a:rPr>
              <a:t>Intention changes output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21408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5B8"/>
                </a:solidFill>
              </a:rPr>
              <a:t>Ten minutes · Same object, different reason.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4892040" cy="1188720"/>
          </a:xfrm>
          <a:prstGeom prst="roundRect">
            <a:avLst>
              <a:gd name="adj" fmla="val 6154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5.369183696805105e+94" dist="2.928645652802785e+94" dir="3.553786003741213e+111">
              <a:srgbClr val="000000">
                <a:alpha val="2.8e+11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2852928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FOR A CHILD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78992" y="3099816"/>
            <a:ext cx="45628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Transform the same house into a black-and-white coloring page for a child.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74320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6.818863294942483e+98" dist="3.7193799790595366e+98" dir="2.1322716022447277e+116">
              <a:srgbClr val="000000">
                <a:alpha val="2.8e+11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36792" y="2852928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FOR A REMODEL CONVERSATION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36792" y="3099816"/>
            <a:ext cx="474573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Transform the same house into an architectural concept image for a remodel conversation.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7E8"/>
                </a:solidFill>
              </a:rPr>
              <a:t>Same object. Different user. Different next step. Different output.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THE INTENTION TEMPLATE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Tell it who this is for and what happens next.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651760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8.659956384576954e+102" dist="4.723612573405612e+102" dir="1.2793629613468366e+121">
              <a:srgbClr val="000000">
                <a:alpha val="2.8e+1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78992" y="2761488"/>
            <a:ext cx="10003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TEMPLATE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8992" y="3008376"/>
            <a:ext cx="1000353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[Do this thing] for [who will use it], because [what happens next]. Keep it [length and format]. Leave out [anything unsafe or unnecessary].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45720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099814460841273e+107" dist="5.998987968225127e+106" dir="7.67617776808102e+125">
              <a:srgbClr val="000000">
                <a:alpha val="2.8e+12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473659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48097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44168" y="47183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MEETING NOTES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51755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Five bullets for the yard crew before shift.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45720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3967643652684168e+111" dist="7.618714719645911e+110" dir="4.605706660848612e+130">
              <a:srgbClr val="000000">
                <a:alpha val="2.8e+13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473659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48097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38928" y="47183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CUSTOMER MESSAGE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51755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Plain language for a landowner who has not discussed price.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75320" y="45720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7738907438908893e+115" dist="9.675767693950307e+114" dir="2.763423996509167e+135">
              <a:srgbClr val="000000">
                <a:alpha val="2.8e+13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9912" y="473659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48097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33688" y="47183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CHECKLIST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58200" y="51755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Steps a new employee can follow without guessing.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9A3D"/>
                </a:solidFill>
              </a:rPr>
              <a:t>04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2103120" y="10241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7E8"/>
                </a:solidFill>
              </a:rPr>
              <a:t>Spreadsheets by prompt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21408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5B8"/>
                </a:solidFill>
              </a:rPr>
              <a:t>Seventeen minutes · Structure, formulas, assumptions, warnings.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4871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9A3D"/>
                </a:solidFill>
              </a:rPr>
              <a:t>Use: spreadsheet_builder_haul_costs_synthetic.csv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332720" cy="1325880"/>
          </a:xfrm>
          <a:prstGeom prst="roundRect">
            <a:avLst>
              <a:gd name="adj" fmla="val 5517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2.2528412447414294e+119" dist="1.2288224971316889e+119" dir="1.6580543979055002e+140">
              <a:srgbClr val="000000">
                <a:alpha val="2.7999999999999997e+144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3081528"/>
            <a:ext cx="10003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BUILD THE PLAN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8992" y="3328416"/>
            <a:ext cx="10003536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a spreadsheet plan for tracking haul costs. Include columns, sample rows, formulas, cost per mile, cost per MBF, assumptions, and review warnings.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ASK FOR THE LOGIC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Formulas, not a pile of unexplained answers.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5603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2.8611083808216155e+123" dist="1.5606045713572448e+123" dir="9.948326387433002e+144">
              <a:srgbClr val="000000">
                <a:alpha val="2.8e+14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67004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THE ONE THAT MATTERS MOST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" y="2916936"/>
            <a:ext cx="5111496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Now give me the actual Excel formulas in the cells — do not give me the calculated numbers. Flag anything you had to assume.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25603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3.633607643643452e+127" dist="1.9819678056237007e+127" dir="5.968995832459801e+149">
              <a:srgbClr val="000000">
                <a:alpha val="2.8e+15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9672" y="2670048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THE COLLAPSE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19672" y="2916936"/>
            <a:ext cx="4745736" cy="1124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Looking back at everything we just built together, how could I have gotten all of this from a single prompt? Write me that prompt, then explain which parts of it were doing the work.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325880" y="4892040"/>
            <a:ext cx="9555480" cy="960120"/>
          </a:xfrm>
          <a:prstGeom prst="roundRect">
            <a:avLst>
              <a:gd name="adj" fmla="val 5714"/>
            </a:avLst>
          </a:prstGeom>
          <a:solidFill>
            <a:srgbClr val="F7E9E2"/>
          </a:solidFill>
          <a:ln w="13970">
            <a:solidFill>
              <a:srgbClr val="C456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4892040"/>
            <a:ext cx="73152" cy="960120"/>
          </a:xfrm>
          <a:prstGeom prst="rect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45336" y="5020056"/>
            <a:ext cx="9171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2E27"/>
                </a:solidFill>
              </a:rPr>
              <a:t>AI is not a calculator.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45336" y="5330952"/>
            <a:ext cx="9171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3B34"/>
                </a:solidFill>
              </a:rPr>
              <a:t>Use it to propose structure, formulas, and analysis methods. Make it show its work, let Excel perform the arithmetic, and verify the result.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FOUR PLANTED PROBLEMS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A tidy workbook can still hide bad inputs.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523036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4.614681707427184e+131" dist="2.5170991131421e+131" dir="3.581397499475881e+154">
              <a:srgbClr val="000000">
                <a:alpha val="2.8e+1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81635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89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52728" y="279806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HL-1007 · 0 board feet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55264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Cost/MBF divides by zero.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651760"/>
            <a:ext cx="523036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5.860645768432523e+135" dist="3.1967158736904665e+135" dir="2.1488384996855287e+159">
              <a:srgbClr val="000000">
                <a:alpha val="2.8e+16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281635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2889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84848" y="279806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HL-1014 · Blank fuel gallons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3255264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Fuel cost can disappear.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523036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7.443020125909304e+139" dist="4.0598291595868927e+139" dir="1.2893030998113172e+164">
              <a:srgbClr val="000000">
                <a:alpha val="2.8e+16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423367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43068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52728" y="421538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HL-1020 · 3 miles to Stevens Point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672584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Mileage and destination conflict.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23036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9.452635559904817e+143" dist="5.1559830326753536e+143" dir="7.735818598867904e+168">
              <a:srgbClr val="000000">
                <a:alpha val="2.8000000000000004e+17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4233672"/>
            <a:ext cx="384048" cy="384048"/>
          </a:xfrm>
          <a:prstGeom prst="ellipse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43068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84848" y="421538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HL-1023 · 26.5 driving hours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4672584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Review before any compliance conclusion.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7E8"/>
                </a:solidFill>
              </a:rPr>
              <a:t>Ask the room: Did the model catch them before producing polished totals?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REFERENCE WORKBOOK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Show this after participants build theirs.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5B8"/>
                </a:solidFill>
              </a:rPr>
              <a:t>The answer key labels assumptions, uses formulas, summarizes by species and grade, and keeps warnings visible.</a:t>
            </a:r>
            <a:endParaRPr lang="en-US" sz="1500" dirty="0"/>
          </a:p>
        </p:txBody>
      </p:sp>
      <p:pic>
        <p:nvPicPr>
          <p:cNvPr id="5" name="Image 0" descr="/mnt/data/kretz_session2_final_fixed/_qa/workbook2/render/pag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58" y="2606040"/>
            <a:ext cx="4654324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26517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2004847161079118e+148" dist="6.548098451497699e+147" dir="4.6414911593207425e+173">
              <a:srgbClr val="000000">
                <a:alpha val="2.8000000000000006e+179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65592" y="281635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65592" y="2889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59368" y="27980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Inputs are labeled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255264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Yellow cells are assumptions—not truth.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3730752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524615589457048e+152" dist="8.316085033402077e+151" dir="2.7848946955924455e+178">
              <a:srgbClr val="000000">
                <a:alpha val="2.8000000000000007e+18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65592" y="3895344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396849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59368" y="38770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Formulas stay visible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83880" y="4334256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Excel performs the arithmetic.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01000" y="4809744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936261798610451e+156" dist="1.0561427992420638e+156" dir="1.6709368173554673e+183">
              <a:srgbClr val="000000">
                <a:alpha val="2.8000000000000006e+189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65592" y="4974336"/>
            <a:ext cx="384048" cy="384048"/>
          </a:xfrm>
          <a:prstGeom prst="ellipse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65592" y="50474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659368" y="49560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Warnings stay separate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83880" y="5413248"/>
            <a:ext cx="3154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Questionable rows do not disappear inside totals.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9A3D"/>
                </a:solidFill>
              </a:rPr>
              <a:t>05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2103120" y="10241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7E8"/>
                </a:solidFill>
              </a:rPr>
              <a:t>Landowner research boundaries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21408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5B8"/>
                </a:solidFill>
              </a:rPr>
              <a:t>Fifteen minutes · Research first, synthetic practice second.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2.4590524842352726e+160" dist="1.341301355037421e+160" dir="1.0025620904132804e+188">
              <a:srgbClr val="000000">
                <a:alpha val="2.8000000000000004e+19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9923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0723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29809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Find the source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38144"/>
            <a:ext cx="23042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Who publishes it? How current is it?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93008" y="283464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3.122996654978796e+164" dist="1.7034527208975248e+164" dir="6.015372542479682e+192">
              <a:srgbClr val="000000">
                <a:alpha val="2.8000000000000005e+19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99923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0723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51376" y="29809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Narrow carefully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75888" y="3438144"/>
            <a:ext cx="23042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Which fields and class codes matter?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45936" y="283464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3.966205751823071e+168" dist="2.1633849555398564e+168" dir="3.6092235254878095e+197">
              <a:srgbClr val="000000">
                <a:alpha val="2.800000000000001e+20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0528" y="299923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30723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04304" y="29809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Add the forestry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8816" y="3438144"/>
            <a:ext cx="23042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What is public and how can it be joined?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98864" y="2834640"/>
            <a:ext cx="2670048" cy="1828800"/>
          </a:xfrm>
          <a:prstGeom prst="roundRect">
            <a:avLst>
              <a:gd name="adj" fmla="val 400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5.0370813048153005e+172" dist="2.7474988935356176e+172" dir="2.1655341152926858e+202">
              <a:srgbClr val="000000">
                <a:alpha val="2.800000000000001e+20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63456" y="299923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30723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57232" y="298094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Practice safely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81744" y="3438144"/>
            <a:ext cx="23042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Use the synthetic CSV for outreach drafting.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THREE RESEARCH SHOTS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Ask the model where to look—then verify every named source.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25146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6.397093257115431e+176" dist="3.489323594790234e+176" dir="1.2993204691756116e+207">
              <a:srgbClr val="000000">
                <a:alpha val="2.8000000000000007e+21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624328"/>
            <a:ext cx="10552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SHOT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2871216"/>
            <a:ext cx="10552176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How can I find landowners in one Wisconsin county using free public data? Who publishes it, what format, what cost, how current?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3721608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8.1243084365365975e+180" dist="4.431440965383597e+180" dir="7.795922815053669e+211">
              <a:srgbClr val="000000">
                <a:alpha val="2.8000000000000008e+21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831336"/>
            <a:ext cx="10552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SHOT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4078224"/>
            <a:ext cx="10552176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Which parcel field identifies forest land, what are the class codes, and what acreage threshold makes sense?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492861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1.031787171440148e+185" dist="5.627930026037168e+184" dir="4.677553689032201e+216">
              <a:srgbClr val="000000">
                <a:alpha val="2.800000000000001e+22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038344"/>
            <a:ext cx="10552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SHOT 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5285232"/>
            <a:ext cx="10552176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Where is Wisconsin MFL spatial data, what layer and join field, and what is or is not public?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PUBLIC DOES NOT MEAN ANYTHING GOES.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Availability is not the same thing as appropriate use.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514600"/>
            <a:ext cx="5230368" cy="1188720"/>
          </a:xfrm>
          <a:prstGeom prst="roundRect">
            <a:avLst>
              <a:gd name="adj" fmla="val 6154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310369707728988e+189" dist="7.147471133067203e+188" dir="2.806532213419321e+221">
              <a:srgbClr val="000000">
                <a:alpha val="2.800000000000001e+22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6791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752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52728" y="266090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SNAPSHOT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18104"/>
            <a:ext cx="4864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V12 uses county data collected in the first half of 2026; most tax-roll records are from 2025.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514600"/>
            <a:ext cx="5230368" cy="1188720"/>
          </a:xfrm>
          <a:prstGeom prst="roundRect">
            <a:avLst>
              <a:gd name="adj" fmla="val 6154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6641695288158148e+193" dist="9.077288338995348e+192" dir="1.6839193280515925e+226">
              <a:srgbClr val="000000">
                <a:alpha val="2.800000000000001e+23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26791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2752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84848" y="266090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AUTHORITY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3118104"/>
            <a:ext cx="4864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County and municipal records remain the current source.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931920"/>
            <a:ext cx="5230368" cy="1188720"/>
          </a:xfrm>
          <a:prstGeom prst="roundRect">
            <a:avLst>
              <a:gd name="adj" fmla="val 6154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2.1134953015960848e+197" dist="1.1528156190524093e+197" dir="1.0103515968309554e+231">
              <a:srgbClr val="000000">
                <a:alpha val="2.800000000000001e+23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409651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41696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52728" y="407822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BOUNDARIES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535424"/>
            <a:ext cx="4864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The statewide map is not a legal survey.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931920"/>
            <a:ext cx="5230368" cy="1188720"/>
          </a:xfrm>
          <a:prstGeom prst="roundRect">
            <a:avLst>
              <a:gd name="adj" fmla="val 6154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2.6841390330270276e+201" dist="1.4640758361965598e+201" dir="6.062109580985733e+235">
              <a:srgbClr val="000000">
                <a:alpha val="2.800000000000001e+24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4096512"/>
            <a:ext cx="384048" cy="384048"/>
          </a:xfrm>
          <a:prstGeom prst="ellipse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41696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84848" y="407822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OUTREACH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4535424"/>
            <a:ext cx="4864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Avoid protected records, follow approved practices, allow respectful opt-out, and require human review.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SYNTHETIC 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Draft carefully without pretending the public record is verified.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68680" y="2606040"/>
            <a:ext cx="10469880" cy="1508760"/>
          </a:xfrm>
          <a:prstGeom prst="roundRect">
            <a:avLst>
              <a:gd name="adj" fmla="val 4848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3.408856571944325e+205" dist="1.859376311969631e+205" dir="3.63726574859144e+240">
              <a:srgbClr val="000000">
                <a:alpha val="2.800000000000001e+24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33272" y="2715768"/>
            <a:ext cx="10140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USE THE SYNTHETIC CSV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33272" y="2962656"/>
            <a:ext cx="10140696" cy="1033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Using the synthetic landowner research CSV, create a verification checklist and a careful outreach draft. Do not estimate timber value, imply Kretz inspected the property, or treat public data as verified.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88720" y="4526280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7E8"/>
                </a:solidFill>
              </a:rPr>
              <a:t>□ Owner and address verified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482803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7E8"/>
                </a:solidFill>
              </a:rPr>
              <a:t>□ Acreage/class checked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5129784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7E8"/>
                </a:solidFill>
              </a:rPr>
              <a:t>□ MFL/FCL status verified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5431536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7E8"/>
                </a:solidFill>
              </a:rPr>
              <a:t>□ No inspection/value/harvest claim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573328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3D"/>
                </a:solidFill>
              </a:rPr>
              <a:t>□ Qualified person reviews and signs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9A3D"/>
                </a:solidFill>
              </a:rPr>
              <a:t>06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2103120" y="10241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7E8"/>
                </a:solidFill>
              </a:rPr>
              <a:t>Operational efficiency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21408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5B8"/>
                </a:solidFill>
              </a:rPr>
              <a:t>Ten minutes · Decide what kind of solution the problem needs.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561320" cy="1325880"/>
          </a:xfrm>
          <a:prstGeom prst="roundRect">
            <a:avLst>
              <a:gd name="adj" fmla="val 5517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4.329247846369293e+209" dist="2.3614079162014313e+209" dir="2.182359449154864e+245">
              <a:srgbClr val="000000">
                <a:alpha val="2.800000000000001e+25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2852928"/>
            <a:ext cx="10232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CLASSIFY FIRST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87552" y="3099816"/>
            <a:ext cx="10232136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Using the operational efficiency CSV, classify each task as existing software first, narrow Custom GPT, automation, process cleanup, vendor system, or do not use AI yet.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389120"/>
            <a:ext cx="10561320" cy="1417320"/>
          </a:xfrm>
          <a:prstGeom prst="roundRect">
            <a:avLst>
              <a:gd name="adj" fmla="val 5161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5.498144764889002e+213" dist="2.998988053575818e+213" dir="1.3094156694929184e+250">
              <a:srgbClr val="000000">
                <a:alpha val="2.8000000000000008e+25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4498848"/>
            <a:ext cx="10232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THEN ADD CONSTRAINTS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7552" y="4745736"/>
            <a:ext cx="10232136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Now redo the top three with my actual constraints: who is on shift, what equipment is down, and what has a hard deadline this week. If a constraint makes your recommendation wrong, say so instead of working around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SIX POSSIBLE ANSWERS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“Use AI” is only one category.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51460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6.982643851409032e+217" dist="3.808714828041289e+217" dir="7.85649401695751e+254">
              <a:srgbClr val="000000">
                <a:alpha val="2.800000000000001e+26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67919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752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52728" y="266090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Existing software first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1810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Use what already exists.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51460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8.867957691289472e+221" dist="4.8370678316124365e+221" dir="4.713896410174506e+259">
              <a:srgbClr val="000000">
                <a:alpha val="2.800000000000001e+26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9704" y="26791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2752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66090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Narrow Custom GPT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311810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Repeated language task.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251460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1262306267937629e+226" dist="6.143076146147795e+225" dir="2.8283378461047036e+264">
              <a:srgbClr val="000000">
                <a:alpha val="2.800000000000001e+27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0456" y="26791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0456" y="2752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14232" y="266090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Automation / 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38744" y="311810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Move data or trigger steps.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93192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4303128960280789e+230" dist="7.8017067056077e+229" dir="1.6970027076628222e+269">
              <a:srgbClr val="000000">
                <a:alpha val="2.8000000000000007e+27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409651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1696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52728" y="40782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Process cleanup first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53542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Fix ownership and process.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93192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8164973779556602e+234" dist="9.908167516121778e+233" dir="1.0182016245976934e+274">
              <a:srgbClr val="000000">
                <a:alpha val="2.8000000000000006e+28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9704" y="409651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41696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0782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Vendor / enterprise system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7992" y="453542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Needs scale/support/integration.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55864" y="393192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2.3069516700036886e+238" dist="1.2583372745474658e+238" dir="6.10920974758616e+278">
              <a:srgbClr val="000000">
                <a:alpha val="2.8000000000000008e+28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0456" y="4096512"/>
            <a:ext cx="384048" cy="384048"/>
          </a:xfrm>
          <a:prstGeom prst="ellipse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0456" y="41696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14232" y="40782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Do not use AI yet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38744" y="453542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Risk or readiness is wrong.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9A3D"/>
                </a:solidFill>
              </a:rPr>
              <a:t>07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2103120" y="10241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7E8"/>
                </a:solidFill>
              </a:rPr>
              <a:t>Price movement scenarios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21408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5B8"/>
                </a:solidFill>
              </a:rPr>
              <a:t>Eight minutes · Pattern finding, not prophecy.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561320" cy="1371600"/>
          </a:xfrm>
          <a:prstGeom prst="roundRect">
            <a:avLst>
              <a:gd name="adj" fmla="val 5333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2.9298286209046847e+242" dist="1.5980883386752816e+242" dir="3.6655258485516963e+283">
              <a:srgbClr val="000000">
                <a:alpha val="2.800000000000001e+29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2852928"/>
            <a:ext cx="10232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ANALYZE THE SUPPLIED DATA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87552" y="3099816"/>
            <a:ext cx="10232136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Using the synthetic lumber price movement data, identify patterns and possible leading indicators. Do not make a prediction as fact. Give scenarios, assumptions, confidence, and source-verification needs.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THE BEHAVIOR RULE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AI cannot forecast lumber prices.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5B8"/>
                </a:solidFill>
              </a:rPr>
              <a:t>Use it to organize supplied evidence and build a monitoring process—not to invent the next price.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34440" y="2788920"/>
            <a:ext cx="9738360" cy="1051560"/>
          </a:xfrm>
          <a:prstGeom prst="roundRect">
            <a:avLst>
              <a:gd name="adj" fmla="val 5217"/>
            </a:avLst>
          </a:prstGeom>
          <a:solidFill>
            <a:srgbClr val="F7E9E2"/>
          </a:solidFill>
          <a:ln w="13970">
            <a:solidFill>
              <a:srgbClr val="C456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788920"/>
            <a:ext cx="73152" cy="1051560"/>
          </a:xfrm>
          <a:prstGeom prst="rect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3896" y="2916936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2E27"/>
                </a:solidFill>
              </a:rPr>
              <a:t>Market intelligence, not prophecy.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53896" y="3227832"/>
            <a:ext cx="93543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3B34"/>
                </a:solidFill>
              </a:rPr>
              <a:t>Any market number must trace back to a source someone supplied and verified.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44348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7E8"/>
                </a:solidFill>
              </a:rPr>
              <a:t>Zillow had far more data and a purpose-built system. It still shut down Zillow Offers after home-price forecasting proved more unpredictable than anticipated.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THE PLANTED DATASET LESSON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A plausible explanation can still be invented.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3.72088234854895e+246" dist="2.0295721901176076e+246" dir="2.1993155091310177e+288">
              <a:srgbClr val="000000">
                <a:alpha val="2.800000000000001e+29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63347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7066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35608" y="2615184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Planted signal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072384"/>
            <a:ext cx="10287000" cy="-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Housing starts lead the synthetic price index by three months.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4.7255205826571666e+250" dist="2.5775566814493618e+250" dir="1.3195893054786106e+293">
              <a:srgbClr val="000000">
                <a:alpha val="2.8000000000000006e+30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41832" y="345643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52958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35608" y="3438144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Weaker signal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895344"/>
            <a:ext cx="10287000" cy="-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The same-month relationship exists but fits less well.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11480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6.001411139974601e+254" dist="3.2734969854406895e+254" dir="7.917535832871664e+297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42793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3525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35608" y="4261104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Red herrings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4718304"/>
            <a:ext cx="10287000" cy="-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Diesel, exports, and log supply correlations round to 0.00.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93776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7.621792147767744e+258" dist="4.1573411715096754e+258" dir="4.750521499722998e+302">
              <a:srgbClr val="000000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1832" y="5102352"/>
            <a:ext cx="384048" cy="384048"/>
          </a:xfrm>
          <a:prstGeom prst="ellipse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5175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35608" y="5084064"/>
            <a:ext cx="9829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The test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5541264"/>
            <a:ext cx="10287000" cy="-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Will the model find the lag—or tell a convincing story about noise?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0120" y="5806440"/>
            <a:ext cx="10287000" cy="530352"/>
          </a:xfrm>
          <a:prstGeom prst="roundRect">
            <a:avLst>
              <a:gd name="adj" fmla="val 13793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9.679676027665035e+262" dist="5.279823287817288e+262" dir="2.850312899833799e+307">
              <a:srgbClr val="000000">
                <a:alpha val="Infinity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24712" y="5916168"/>
            <a:ext cx="9957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DELIVERABLE WORTH KEEPING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4712" y="6163056"/>
            <a:ext cx="9957816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Turn the analysis into a one-page monitoring template: driver, source, check frequency, meaningful-change threshold, assumptions, and verification needs.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9A3D"/>
                </a:solidFill>
              </a:rPr>
              <a:t>08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2103120" y="10241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7E8"/>
                </a:solidFill>
              </a:rPr>
              <a:t>Build a tiny HTML tool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21408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5B8"/>
                </a:solidFill>
              </a:rPr>
              <a:t>Fifteen minutes · One problem, one file, two refinements.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10652760" cy="1463040"/>
          </a:xfrm>
          <a:prstGeom prst="roundRect">
            <a:avLst>
              <a:gd name="adj" fmla="val 5000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1.2293188555134595e+267" dist="6.705375575527955e+266" dir="Infinity">
              <a:srgbClr val="000000">
                <a:alpha val="Infinity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2852928"/>
            <a:ext cx="10323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BUILD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41832" y="3099816"/>
            <a:ext cx="10323576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Build a single-file HTML tool to help with this problem: [describe problem]. It should have inputs, output, review warning, no external dependencies, and a print button. Ask up to five questions before coding if needed.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617720"/>
            <a:ext cx="10652760" cy="1051560"/>
          </a:xfrm>
          <a:prstGeom prst="roundRect">
            <a:avLst>
              <a:gd name="adj" fmla="val 6957"/>
            </a:avLst>
          </a:prstGeom>
          <a:solidFill>
            <a:srgbClr val="11170E"/>
          </a:solidFill>
          <a:ln w="13970">
            <a:solidFill>
              <a:srgbClr val="D49A3D"/>
            </a:solidFill>
            <a:prstDash val="solid"/>
          </a:ln>
          <a:effectLst>
            <a:outerShdw sx="100000" sy="100000" kx="0" ky="0" algn="bl" rotWithShape="0" blurRad="1.5612349465020935e+271" dist="8.515826980920504e+270" dir="Infinity">
              <a:srgbClr val="000000">
                <a:alpha val="Infinity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4727448"/>
            <a:ext cx="10323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49A3D"/>
                </a:solidFill>
              </a:rPr>
              <a:t>REFINE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41832" y="4974336"/>
            <a:ext cx="1032357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7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Two changes only. [First change.] [Second change.] Leave everything else exactly as it is.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A TOOL REQUEST NEEDS SIX THINGS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If the request is vague, the code will be vague too.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51460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9827683820576586e+275" dist="1.081510026576904e+275" dir="Infinity">
              <a:srgbClr val="000000">
                <a:alpha val="Infinity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6791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752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52728" y="266090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1810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One sentence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51460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2.5181158452132265e+279" dist="1.373517733752668e+279" dir="Infinity">
              <a:srgbClr val="000000">
                <a:alpha val="Infinity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9704" y="26791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2752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66090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User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311810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Who actually operates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251460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3.1980071234207976e+283" dist="1.7443675218658885e+283" dir="Infinity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0456" y="267919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0456" y="2752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14232" y="266090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Input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38744" y="311810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What data goes 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93192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4.061469046744413e+287" dist="2.2153467527696782e+287" dir="Infinity">
              <a:srgbClr val="000000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" y="409651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1696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52728" y="40782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Output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53542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What must come out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93192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5.158065689365404e+291" dist="2.8134903760174914e+291" dir="Infinity">
              <a:srgbClr val="000000">
                <a:alpha val="Infinity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9704" y="409651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41696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0782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Constraints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7992" y="453542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Single file, offline, no login, etc.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55864" y="3931920"/>
            <a:ext cx="3493008" cy="1170432"/>
          </a:xfrm>
          <a:prstGeom prst="roundRect">
            <a:avLst>
              <a:gd name="adj" fmla="val 6250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6.550743425494063e+295" dist="3.573132777542214e+295" dir="Infinity">
              <a:srgbClr val="000000">
                <a:alpha val="Infinity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0456" y="4096512"/>
            <a:ext cx="384048" cy="384048"/>
          </a:xfrm>
          <a:prstGeom prst="ellipse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0456" y="41696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14232" y="407822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Review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38744" y="4535424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What a human must check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FOLLOW-ALONG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Timber Sale Tracker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5B8"/>
                </a:solidFill>
              </a:rPr>
              <a:t>A narrow one-file prototype: add prospects, filter by stage or forester, flag overdue follow-up, export CSV, and print.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6949440" cy="3429000"/>
          </a:xfrm>
          <a:prstGeom prst="roundRect">
            <a:avLst>
              <a:gd name="adj" fmla="val 2133"/>
            </a:avLst>
          </a:prstGeom>
          <a:solidFill>
            <a:srgbClr val="F7F7F3"/>
          </a:solidFill>
          <a:ln w="15240">
            <a:solidFill>
              <a:srgbClr val="D49A3D"/>
            </a:solidFill>
            <a:prstDash val="solid"/>
          </a:ln>
          <a:effectLst>
            <a:outerShdw sx="100000" sy="100000" kx="0" ky="0" algn="bl" rotWithShape="0" blurRad="8.31944415037746e+299" dist="4.537878627478612e+299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514600"/>
            <a:ext cx="6949440" cy="384048"/>
          </a:xfrm>
          <a:prstGeom prst="rect">
            <a:avLst/>
          </a:prstGeom>
          <a:solidFill>
            <a:srgbClr val="16352A"/>
          </a:solidFill>
          <a:ln w="12700">
            <a:solidFill>
              <a:srgbClr val="163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3347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7E8"/>
                </a:solidFill>
              </a:rPr>
              <a:t>TIMBER SALE TRACKER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3E"/>
                </a:solidFill>
              </a:rPr>
              <a:t>Landowner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3154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3E"/>
                </a:solidFill>
              </a:rPr>
              <a:t>Town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3154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3E"/>
                </a:solidFill>
              </a:rPr>
              <a:t>Acres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31546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3E"/>
                </a:solidFill>
              </a:rPr>
              <a:t>Stage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1546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3E"/>
                </a:solidFill>
              </a:rPr>
              <a:t>Due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" y="3419856"/>
            <a:ext cx="6355080" cy="0"/>
          </a:xfrm>
          <a:prstGeom prst="line">
            <a:avLst/>
          </a:prstGeom>
          <a:noFill/>
          <a:ln w="6350">
            <a:solidFill>
              <a:srgbClr val="D7D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930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D. Bergstrom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34930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Neva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0" y="34930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88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74920" y="34930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Walked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34930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564B"/>
                </a:solidFill>
              </a:rPr>
              <a:t>Late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" y="3877056"/>
            <a:ext cx="6355080" cy="0"/>
          </a:xfrm>
          <a:prstGeom prst="line">
            <a:avLst/>
          </a:prstGeom>
          <a:noFill/>
          <a:ln w="6350">
            <a:solidFill>
              <a:srgbClr val="D7DD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50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M. Kowalczyk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834640" y="3950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Elcho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23360" y="3950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41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39502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Contacted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39502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2 days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6112" y="4334256"/>
            <a:ext cx="6355080" cy="0"/>
          </a:xfrm>
          <a:prstGeom prst="line">
            <a:avLst/>
          </a:prstGeom>
          <a:noFill/>
          <a:ln w="6350">
            <a:solidFill>
              <a:srgbClr val="D7DD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074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G. Thibodeau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4407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Polar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0" y="4407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127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74920" y="4407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Contract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4407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9 days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96112" y="4791456"/>
            <a:ext cx="6355080" cy="0"/>
          </a:xfrm>
          <a:prstGeom prst="line">
            <a:avLst/>
          </a:prstGeom>
          <a:noFill/>
          <a:ln w="6350">
            <a:solidFill>
              <a:srgbClr val="D7DD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8646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L. Vanderhoof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834640" y="48646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Summit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2336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22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48646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24"/>
                </a:solidFill>
              </a:rPr>
              <a:t>Bid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0" y="4864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564B"/>
                </a:solidFill>
              </a:rPr>
              <a:t>Late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909560" y="265176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0565694070979374e+304" dist="5.763105856897837e+303" dir="Infinity">
              <a:srgbClr val="000000">
                <a:alpha val="Infinity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74152" y="281635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74152" y="28895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67928" y="27980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What it proves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092440" y="325526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A good description can become a working prototype quickly.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09560" y="384048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1.3418431470143805e+308" dist="7.319144438260253e+307" dir="Infinity">
              <a:srgbClr val="000000">
                <a:alpha val="Infinity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074152" y="4005072"/>
            <a:ext cx="384048" cy="384048"/>
          </a:xfrm>
          <a:prstGeom prst="ellipse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74152" y="40782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67928" y="398678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What it does not prove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092440" y="444398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That the tool is secure, durable, approved, or maintainable.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909560" y="50292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074152" y="519379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74152" y="52669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67928" y="51755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Next requirement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92440" y="563270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Decide ownership, persistence, testing, access, and support.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BEFORE ANYTHING LEAVES YOUR SCREEN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The prompt never owns the outcome.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97280" y="2331720"/>
            <a:ext cx="9966960" cy="502920"/>
          </a:xfrm>
          <a:prstGeom prst="roundRect">
            <a:avLst>
              <a:gd name="adj" fmla="val 7273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2487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789D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7632" y="2450592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7E8"/>
                </a:solidFill>
              </a:rPr>
              <a:t>Audience and purpose are clear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990088"/>
            <a:ext cx="9966960" cy="502920"/>
          </a:xfrm>
          <a:prstGeom prst="roundRect">
            <a:avLst>
              <a:gd name="adj" fmla="val 7273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8448" y="314553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789D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27632" y="3108960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7E8"/>
                </a:solidFill>
              </a:rPr>
              <a:t>Names, dates, numbers, formulas, sources, and commitments are checked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648456"/>
            <a:ext cx="9966960" cy="502920"/>
          </a:xfrm>
          <a:prstGeom prst="roundRect">
            <a:avLst>
              <a:gd name="adj" fmla="val 7273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8448" y="3803904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789D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3767328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7E8"/>
                </a:solidFill>
              </a:rPr>
              <a:t>Unsupported claims are removed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4306824"/>
            <a:ext cx="9966960" cy="502920"/>
          </a:xfrm>
          <a:prstGeom prst="roundRect">
            <a:avLst>
              <a:gd name="adj" fmla="val 7273"/>
            </a:avLst>
          </a:prstGeom>
          <a:solidFill>
            <a:srgbClr val="223A2E"/>
          </a:solidFill>
          <a:ln w="12700">
            <a:solidFill>
              <a:srgbClr val="3C54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8448" y="446227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789D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4425696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7E8"/>
                </a:solidFill>
              </a:rPr>
              <a:t>Approved tools and approved data only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965192"/>
            <a:ext cx="9966960" cy="502920"/>
          </a:xfrm>
          <a:prstGeom prst="roundRect">
            <a:avLst>
              <a:gd name="adj" fmla="val 7273"/>
            </a:avLst>
          </a:prstGeom>
          <a:solidFill>
            <a:srgbClr val="3D3020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8448" y="512064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D49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27632" y="5084064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A3D"/>
                </a:solidFill>
              </a:rPr>
              <a:t>A person signs off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D49A3D"/>
                </a:solidFill>
              </a:rPr>
              <a:t>FIVE HABITS TO TAKE BACK TO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7E8"/>
                </a:solidFill>
              </a:rPr>
              <a:t>The software will change. These habits will not.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423160"/>
            <a:ext cx="3493008" cy="1234440"/>
          </a:xfrm>
          <a:prstGeom prst="roundRect">
            <a:avLst>
              <a:gd name="adj" fmla="val 5926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58775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6609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52728" y="256946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Be specific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02666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Choose the details that remove wrong answers.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423160"/>
            <a:ext cx="3493008" cy="1234440"/>
          </a:xfrm>
          <a:prstGeom prst="roundRect">
            <a:avLst>
              <a:gd name="adj" fmla="val 5926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9704" y="258775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26609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56946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State the intention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302666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Say who it is for and what happens next.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2423160"/>
            <a:ext cx="3493008" cy="1234440"/>
          </a:xfrm>
          <a:prstGeom prst="roundRect">
            <a:avLst>
              <a:gd name="adj" fmla="val 5926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0456" y="2587752"/>
            <a:ext cx="384048" cy="384048"/>
          </a:xfrm>
          <a:prstGeom prst="ellipse">
            <a:avLst/>
          </a:prstGeom>
          <a:solidFill>
            <a:srgbClr val="D49A3D"/>
          </a:solidFill>
          <a:ln w="12700">
            <a:solidFill>
              <a:srgbClr val="D49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0456" y="266090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14232" y="256946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Ask for the logic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38744" y="302666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Formulas, sources, assumptions, and warnings.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0120" y="406908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24712" y="4233672"/>
            <a:ext cx="384048" cy="384048"/>
          </a:xfrm>
          <a:prstGeom prst="ellipse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43068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18488" y="42153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Verify the evidence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67258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Click the source. Check the row. Recalculate the number.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06908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223A2E"/>
          </a:solidFill>
          <a:ln w="10160">
            <a:solidFill>
              <a:srgbClr val="3C5445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6792" y="4233672"/>
            <a:ext cx="384048" cy="384048"/>
          </a:xfrm>
          <a:prstGeom prst="ellipse">
            <a:avLst/>
          </a:prstGeom>
          <a:solidFill>
            <a:srgbClr val="789D58"/>
          </a:solidFill>
          <a:ln w="12700">
            <a:solidFill>
              <a:srgbClr val="789D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430682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41C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30568" y="42153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7E8"/>
                </a:solidFill>
              </a:rPr>
              <a:t>Refine, do not restart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467258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5B8"/>
                </a:solidFill>
              </a:rPr>
              <a:t>Change two things and preserve everything else.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326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D49A3D"/>
                </a:solidFill>
              </a:rPr>
              <a:t>PROMPTING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7E8"/>
                </a:solidFill>
              </a:rPr>
              <a:t>Specificity beats volume.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233172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9C5B8"/>
                </a:solidFill>
              </a:rPr>
              <a:t>Say who it is for. Ask for formulas, not magic answers. Verify every number and source. Refine instead of restarting.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3977640"/>
            <a:ext cx="8549640" cy="960120"/>
          </a:xfrm>
          <a:prstGeom prst="roundRect">
            <a:avLst>
              <a:gd name="adj" fmla="val 5714"/>
            </a:avLst>
          </a:prstGeom>
          <a:solidFill>
            <a:srgbClr val="F7E9E2"/>
          </a:solidFill>
          <a:ln w="13970">
            <a:solidFill>
              <a:srgbClr val="C456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3977640"/>
            <a:ext cx="73152" cy="960120"/>
          </a:xfrm>
          <a:prstGeom prst="rect">
            <a:avLst/>
          </a:prstGeom>
          <a:solidFill>
            <a:srgbClr val="C4564B"/>
          </a:solidFill>
          <a:ln w="12700">
            <a:solidFill>
              <a:srgbClr val="C456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48256" y="4105656"/>
            <a:ext cx="8165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2E27"/>
                </a:solidFill>
              </a:rPr>
              <a:t>The final rule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48256" y="4416552"/>
            <a:ext cx="8165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3B34"/>
                </a:solidFill>
              </a:rPr>
              <a:t>A person signs off.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9A3D"/>
                </a:solidFill>
              </a:rPr>
              <a:t>Open the participant page, practice files, prompt pack, and example tool from the Kretz training portal.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FC0A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Kretz Lumber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Kretz AI Prompting Lab — Session 2</dc:title>
  <dc:subject>Session 2: Prompting in Practice</dc:subject>
  <dc:creator>Northcentral Technical College</dc:creator>
  <cp:lastModifiedBy>Northcentral Technical College</cp:lastModifiedBy>
  <cp:revision>1</cp:revision>
  <dcterms:created xsi:type="dcterms:W3CDTF">2026-07-23T17:31:54Z</dcterms:created>
  <dcterms:modified xsi:type="dcterms:W3CDTF">2026-07-23T17:31:54Z</dcterms:modified>
</cp:coreProperties>
</file>